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37"/>
  </p:notesMasterIdLst>
  <p:sldIdLst>
    <p:sldId id="256" r:id="rId2"/>
    <p:sldId id="272" r:id="rId3"/>
    <p:sldId id="257" r:id="rId4"/>
    <p:sldId id="269" r:id="rId5"/>
    <p:sldId id="260" r:id="rId6"/>
    <p:sldId id="287" r:id="rId7"/>
    <p:sldId id="283" r:id="rId8"/>
    <p:sldId id="262" r:id="rId9"/>
    <p:sldId id="284" r:id="rId10"/>
    <p:sldId id="285" r:id="rId11"/>
    <p:sldId id="274" r:id="rId12"/>
    <p:sldId id="278" r:id="rId13"/>
    <p:sldId id="279" r:id="rId14"/>
    <p:sldId id="273" r:id="rId15"/>
    <p:sldId id="275" r:id="rId16"/>
    <p:sldId id="276" r:id="rId17"/>
    <p:sldId id="277" r:id="rId18"/>
    <p:sldId id="280" r:id="rId19"/>
    <p:sldId id="281" r:id="rId20"/>
    <p:sldId id="298" r:id="rId21"/>
    <p:sldId id="288" r:id="rId22"/>
    <p:sldId id="289" r:id="rId23"/>
    <p:sldId id="291" r:id="rId24"/>
    <p:sldId id="292" r:id="rId25"/>
    <p:sldId id="293" r:id="rId26"/>
    <p:sldId id="294" r:id="rId27"/>
    <p:sldId id="305" r:id="rId28"/>
    <p:sldId id="307" r:id="rId29"/>
    <p:sldId id="263" r:id="rId30"/>
    <p:sldId id="299" r:id="rId31"/>
    <p:sldId id="300" r:id="rId32"/>
    <p:sldId id="301" r:id="rId33"/>
    <p:sldId id="302" r:id="rId34"/>
    <p:sldId id="303" r:id="rId35"/>
    <p:sldId id="304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>
      <p:cViewPr varScale="1">
        <p:scale>
          <a:sx n="65" d="100"/>
          <a:sy n="65" d="100"/>
        </p:scale>
        <p:origin x="858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Eurico" userId="a6bff425fcd38eba" providerId="LiveId" clId="{BA38D433-13ED-44BD-A217-A731BD0827A7}"/>
    <pc:docChg chg="custSel modSld">
      <pc:chgData name="David Eurico" userId="a6bff425fcd38eba" providerId="LiveId" clId="{BA38D433-13ED-44BD-A217-A731BD0827A7}" dt="2020-10-24T03:14:08.909" v="55" actId="20577"/>
      <pc:docMkLst>
        <pc:docMk/>
      </pc:docMkLst>
      <pc:sldChg chg="addSp delSp modSp mod">
        <pc:chgData name="David Eurico" userId="a6bff425fcd38eba" providerId="LiveId" clId="{BA38D433-13ED-44BD-A217-A731BD0827A7}" dt="2020-10-23T23:14:29.326" v="49" actId="20577"/>
        <pc:sldMkLst>
          <pc:docMk/>
          <pc:sldMk cId="4100745977" sldId="293"/>
        </pc:sldMkLst>
        <pc:spChg chg="add mod">
          <ac:chgData name="David Eurico" userId="a6bff425fcd38eba" providerId="LiveId" clId="{BA38D433-13ED-44BD-A217-A731BD0827A7}" dt="2020-10-23T23:14:29.326" v="49" actId="20577"/>
          <ac:spMkLst>
            <pc:docMk/>
            <pc:sldMk cId="4100745977" sldId="293"/>
            <ac:spMk id="3" creationId="{0B70106B-4E21-4078-BB2C-B4E048B5457E}"/>
          </ac:spMkLst>
        </pc:spChg>
        <pc:spChg chg="add del">
          <ac:chgData name="David Eurico" userId="a6bff425fcd38eba" providerId="LiveId" clId="{BA38D433-13ED-44BD-A217-A731BD0827A7}" dt="2020-10-23T23:13:52.248" v="46" actId="478"/>
          <ac:spMkLst>
            <pc:docMk/>
            <pc:sldMk cId="4100745977" sldId="293"/>
            <ac:spMk id="6" creationId="{81516DB2-A957-4584-9EE5-2526F2034664}"/>
          </ac:spMkLst>
        </pc:spChg>
        <pc:spChg chg="mod">
          <ac:chgData name="David Eurico" userId="a6bff425fcd38eba" providerId="LiveId" clId="{BA38D433-13ED-44BD-A217-A731BD0827A7}" dt="2020-10-23T23:13:30.029" v="44" actId="14100"/>
          <ac:spMkLst>
            <pc:docMk/>
            <pc:sldMk cId="4100745977" sldId="293"/>
            <ac:spMk id="7" creationId="{00000000-0000-0000-0000-000000000000}"/>
          </ac:spMkLst>
        </pc:spChg>
      </pc:sldChg>
      <pc:sldChg chg="addSp modSp mod">
        <pc:chgData name="David Eurico" userId="a6bff425fcd38eba" providerId="LiveId" clId="{BA38D433-13ED-44BD-A217-A731BD0827A7}" dt="2020-10-24T03:14:08.909" v="55" actId="20577"/>
        <pc:sldMkLst>
          <pc:docMk/>
          <pc:sldMk cId="196377700" sldId="294"/>
        </pc:sldMkLst>
        <pc:spChg chg="add mod">
          <ac:chgData name="David Eurico" userId="a6bff425fcd38eba" providerId="LiveId" clId="{BA38D433-13ED-44BD-A217-A731BD0827A7}" dt="2020-10-24T03:14:08.909" v="55" actId="20577"/>
          <ac:spMkLst>
            <pc:docMk/>
            <pc:sldMk cId="196377700" sldId="294"/>
            <ac:spMk id="3" creationId="{CE22CEAA-99F5-4DCC-8C6B-2D7833C87D93}"/>
          </ac:spMkLst>
        </pc:spChg>
        <pc:spChg chg="mod">
          <ac:chgData name="David Eurico" userId="a6bff425fcd38eba" providerId="LiveId" clId="{BA38D433-13ED-44BD-A217-A731BD0827A7}" dt="2020-10-24T03:13:32.185" v="51" actId="14100"/>
          <ac:spMkLst>
            <pc:docMk/>
            <pc:sldMk cId="196377700" sldId="294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9661FF-B7DF-4519-8DB8-F2AB586269C7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03F3FC-8FFF-497E-AD5B-CC3474D48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230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The use of p </a:t>
            </a:r>
            <a:r>
              <a:rPr lang="en-US" dirty="0" err="1"/>
              <a:t>univariate</a:t>
            </a:r>
            <a:r>
              <a:rPr lang="en-US" dirty="0"/>
              <a:t> tests inflates the Type I error rate, α, whereas the</a:t>
            </a:r>
          </a:p>
          <a:p>
            <a:r>
              <a:rPr lang="en-US" dirty="0"/>
              <a:t>multivariate test preserves the exact α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03F3FC-8FFF-497E-AD5B-CC3474D48A2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951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D1212-6769-6EC3-4790-C5D84E52C5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F73E52-006F-5D2E-BB7F-9A9C24F50B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0D16B-C2E2-B47F-A368-ACFC6915D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29670-0DA7-4967-9609-2698A984542F}" type="datetimeFigureOut">
              <a:rPr lang="id-ID" smtClean="0"/>
              <a:t>21/10/2024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FAD90E-572A-07B9-0FCB-30594568D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985FB-11E6-1CF8-C999-AF65B09C5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C3245-CACD-430E-9544-E87C81CE39E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68881043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2DE57-BFBF-2702-0C11-7BF131DC2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415FE-04D0-89F9-7F22-97C253461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808C9-6FCB-FD5C-F9F4-508F25C56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29670-0DA7-4967-9609-2698A984542F}" type="datetimeFigureOut">
              <a:rPr lang="id-ID" smtClean="0"/>
              <a:t>21/10/2024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F9942-09A2-CFDD-6406-1F3EE3CD4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93FC3-B9E7-7F3D-DC77-D1C75F5CA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C3245-CACD-430E-9544-E87C81CE39E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15619122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755D1-1FCE-D43C-9EC7-46CF5E4C3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E0ABD-97B5-2C2E-E104-2742760CF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2629B-DB9C-D020-07B6-50A9BE605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29670-0DA7-4967-9609-2698A984542F}" type="datetimeFigureOut">
              <a:rPr lang="id-ID" smtClean="0"/>
              <a:t>21/10/2024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CD506-55C9-6419-4B41-CDC379CFE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2977CC-AA78-8245-0BB8-E9DCC2D63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C3245-CACD-430E-9544-E87C81CE39E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35045225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EEFB0-B2B1-EFE8-BF58-C2AA267E9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229CD-148D-9414-C81D-1DA5C256AF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64D07D-331F-3503-4352-8A3CAA42F5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FA5811-AC23-CE4E-0986-CEDBF1571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29670-0DA7-4967-9609-2698A984542F}" type="datetimeFigureOut">
              <a:rPr lang="id-ID" smtClean="0"/>
              <a:t>21/10/2024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813820-4A86-49AA-8B5C-B9DDB475E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4C0390-CFE2-8062-2CC2-9168C448E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C3245-CACD-430E-9544-E87C81CE39E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285447589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3C2E6-0D68-64C1-B2BC-BB8CB241C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3C2DA-FB09-5967-DC86-51A68725A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2B6542-C7AE-CC84-544E-E3FC35B22F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644B4A-C496-F350-CC34-623981E75C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758611-7A99-FE15-4CD6-A55E3DCC71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44CA88-4C01-2282-4C76-923B3346E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29670-0DA7-4967-9609-2698A984542F}" type="datetimeFigureOut">
              <a:rPr lang="id-ID" smtClean="0"/>
              <a:t>21/10/2024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BBFBC3-6900-AB9B-A0E2-D388565AE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4FBB2D-9FCE-F393-2545-312353D3E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C3245-CACD-430E-9544-E87C81CE39E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6655864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B716C-283F-04D1-09B4-476DE6135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045AC7-3374-32AB-30FC-063CB7F53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29670-0DA7-4967-9609-2698A984542F}" type="datetimeFigureOut">
              <a:rPr lang="id-ID" smtClean="0"/>
              <a:t>21/10/2024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ED8A6C-4BE1-C6D5-91C4-DFD787EEB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D667F0-1EF7-0253-0B2D-96CC73F00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C3245-CACD-430E-9544-E87C81CE39E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99892827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350FD1-0B36-AEF6-0ACD-3E5F5DF2D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29670-0DA7-4967-9609-2698A984542F}" type="datetimeFigureOut">
              <a:rPr lang="id-ID" smtClean="0"/>
              <a:t>21/10/2024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5A0F2E-3679-7BBD-C43C-BE10089B8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6CA285-7E12-059F-0057-E0A09C418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C3245-CACD-430E-9544-E87C81CE39E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74119379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23532-54F6-7A66-57C7-50B13C63B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118FE-7975-1130-20A7-55FD1E7F2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9CDBFC-DCDA-0964-42B9-436F2572B7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7EF00-E31F-F02A-E7FB-9D709FB79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29670-0DA7-4967-9609-2698A984542F}" type="datetimeFigureOut">
              <a:rPr lang="id-ID" smtClean="0"/>
              <a:t>21/10/2024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8709B5-56C0-5C46-BF5F-7FC82BD03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EAB72A-889C-CA95-AAD2-D11ADB79A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C3245-CACD-430E-9544-E87C81CE39E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39973056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88E5E-A3E1-B1DC-B829-360DA2549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2EE6B1-8E30-B80F-4194-E4098E4B74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4888EB-7E77-9EE0-2FA3-5B8DCAA09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5F3429-9D0A-5FE7-1E50-3FDBC232C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29670-0DA7-4967-9609-2698A984542F}" type="datetimeFigureOut">
              <a:rPr lang="id-ID" smtClean="0"/>
              <a:t>21/10/2024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04B542-F693-136D-AA3D-2E8A9E4F6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0A20B3-865F-5FF1-118D-D5765E3E3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C3245-CACD-430E-9544-E87C81CE39E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27151919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4F8E2-412B-3257-6A57-F09B8428B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6F6185-9A25-D779-D41B-0E945D71E2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CDC6C-EEC1-6CC5-D37A-E8C83A010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29670-0DA7-4967-9609-2698A984542F}" type="datetimeFigureOut">
              <a:rPr lang="id-ID" smtClean="0"/>
              <a:t>21/10/2024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2AF3AD-B111-6564-D78B-E0C3A78AB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6BB3F-F85E-123F-3156-25120A548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C3245-CACD-430E-9544-E87C81CE39E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05313254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35C1E7-0F31-DB77-5958-E46828DD62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341B84-1076-4B40-EAE4-B8931E79DE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4EB0D-D511-C7C5-4C50-6B4B751E6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29670-0DA7-4967-9609-2698A984542F}" type="datetimeFigureOut">
              <a:rPr lang="id-ID" smtClean="0"/>
              <a:t>21/10/2024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DA4B0-0A14-6E64-3A00-22E60D48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C6C61-6985-360F-AF35-5E1BCCEF0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C3245-CACD-430E-9544-E87C81CE39E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15455967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073164-BF8C-09C8-F254-817C417F2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5B5B85-9A0B-7AC0-800C-4155EDC2E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86331-F844-783B-C5A5-9CCE03198E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829670-0DA7-4967-9609-2698A984542F}" type="datetimeFigureOut">
              <a:rPr lang="id-ID" smtClean="0"/>
              <a:t>21/10/2024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D3306-B2D2-E170-D504-A9138DC711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AFFED-0744-03C4-806D-0A4BA372E4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CC3245-CACD-430E-9544-E87C81CE39E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27257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0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7" Type="http://schemas.openxmlformats.org/officeDocument/2006/relationships/image" Target="../media/image18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15" Type="http://schemas.openxmlformats.org/officeDocument/2006/relationships/image" Target="../media/image118.png"/></Relationships>
</file>

<file path=ppt/slides/_rels/slide10.xml.rels><?xml version="1.0" encoding="UTF-8" standalone="yes"?>
<Relationships xmlns="http://schemas.openxmlformats.org/package/2006/relationships"><Relationship Id="rId17" Type="http://schemas.openxmlformats.org/officeDocument/2006/relationships/image" Target="../media/image74.png"/><Relationship Id="rId2" Type="http://schemas.openxmlformats.org/officeDocument/2006/relationships/image" Target="../media/image20.png"/><Relationship Id="rId20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19" Type="http://schemas.openxmlformats.org/officeDocument/2006/relationships/image" Target="../media/image11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62.png"/><Relationship Id="rId7" Type="http://schemas.openxmlformats.org/officeDocument/2006/relationships/image" Target="../media/image220.PNG"/><Relationship Id="rId1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11" Type="http://schemas.openxmlformats.org/officeDocument/2006/relationships/image" Target="../media/image47.png"/><Relationship Id="rId10" Type="http://schemas.openxmlformats.org/officeDocument/2006/relationships/image" Target="../media/image44.png"/><Relationship Id="rId4" Type="http://schemas.openxmlformats.org/officeDocument/2006/relationships/image" Target="../media/image63.png"/><Relationship Id="rId9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0.png"/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1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29.xml.rels><?xml version="1.0" encoding="UTF-8" standalone="yes"?>
<Relationships xmlns="http://schemas.openxmlformats.org/package/2006/relationships"><Relationship Id="rId21" Type="http://schemas.openxmlformats.org/officeDocument/2006/relationships/image" Target="../media/image114.png"/><Relationship Id="rId20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19" Type="http://schemas.openxmlformats.org/officeDocument/2006/relationships/image" Target="../media/image92.png"/><Relationship Id="rId4" Type="http://schemas.openxmlformats.org/officeDocument/2006/relationships/image" Target="../media/image77.png"/><Relationship Id="rId22" Type="http://schemas.openxmlformats.org/officeDocument/2006/relationships/image" Target="../media/image115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4.png"/><Relationship Id="rId7" Type="http://schemas.openxmlformats.org/officeDocument/2006/relationships/image" Target="../media/image98.png"/><Relationship Id="rId1" Type="http://schemas.openxmlformats.org/officeDocument/2006/relationships/slideLayout" Target="../slideLayouts/slideLayout6.xml"/><Relationship Id="rId11" Type="http://schemas.openxmlformats.org/officeDocument/2006/relationships/image" Target="../media/image102.png"/><Relationship Id="rId10" Type="http://schemas.openxmlformats.org/officeDocument/2006/relationships/image" Target="../media/image101.png"/><Relationship Id="rId9" Type="http://schemas.openxmlformats.org/officeDocument/2006/relationships/image" Target="../media/image10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7" Type="http://schemas.openxmlformats.org/officeDocument/2006/relationships/image" Target="../media/image108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10" Type="http://schemas.openxmlformats.org/officeDocument/2006/relationships/image" Target="../media/image111.png"/><Relationship Id="rId4" Type="http://schemas.openxmlformats.org/officeDocument/2006/relationships/image" Target="../media/image10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7" Type="http://schemas.openxmlformats.org/officeDocument/2006/relationships/image" Target="../media/image133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7.png"/><Relationship Id="rId4" Type="http://schemas.openxmlformats.org/officeDocument/2006/relationships/image" Target="../media/image1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9112" y="1556792"/>
            <a:ext cx="10363200" cy="147002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err="1"/>
              <a:t>Uji</a:t>
            </a:r>
            <a:r>
              <a:rPr lang="en-US" b="1" dirty="0"/>
              <a:t> Rata-rata </a:t>
            </a:r>
            <a:r>
              <a:rPr lang="en-US" b="1" dirty="0" err="1"/>
              <a:t>dan</a:t>
            </a:r>
            <a:r>
              <a:rPr lang="en-US" b="1" dirty="0"/>
              <a:t> </a:t>
            </a:r>
            <a:r>
              <a:rPr lang="en-US" b="1" dirty="0" err="1"/>
              <a:t>Uji</a:t>
            </a:r>
            <a:r>
              <a:rPr lang="en-US" b="1" dirty="0"/>
              <a:t> </a:t>
            </a:r>
            <a:r>
              <a:rPr lang="en-US" b="1" dirty="0" err="1"/>
              <a:t>Variansi</a:t>
            </a:r>
            <a:r>
              <a:rPr lang="en-US" b="1" dirty="0"/>
              <a:t> </a:t>
            </a:r>
            <a:br>
              <a:rPr lang="en-US" b="1" dirty="0"/>
            </a:br>
            <a:r>
              <a:rPr lang="en-US" b="1" dirty="0"/>
              <a:t>1 </a:t>
            </a:r>
            <a:r>
              <a:rPr lang="en-US" b="1" dirty="0" err="1"/>
              <a:t>Populasi</a:t>
            </a:r>
            <a:endParaRPr lang="id-ID" b="1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F7F55C4-2AC5-70F2-3D46-23B0588CC2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40726218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1903" y="629566"/>
            <a:ext cx="2557711" cy="67042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FISH BONE</a:t>
            </a:r>
          </a:p>
        </p:txBody>
      </p:sp>
      <p:grpSp>
        <p:nvGrpSpPr>
          <p:cNvPr id="49" name="Group 48"/>
          <p:cNvGrpSpPr/>
          <p:nvPr/>
        </p:nvGrpSpPr>
        <p:grpSpPr>
          <a:xfrm>
            <a:off x="1055440" y="1326793"/>
            <a:ext cx="10238778" cy="4693714"/>
            <a:chOff x="911424" y="1471590"/>
            <a:chExt cx="10238778" cy="4693714"/>
          </a:xfrm>
        </p:grpSpPr>
        <p:sp>
          <p:nvSpPr>
            <p:cNvPr id="4" name="Rounded Rectangle 3"/>
            <p:cNvSpPr/>
            <p:nvPr/>
          </p:nvSpPr>
          <p:spPr>
            <a:xfrm>
              <a:off x="5438412" y="1471590"/>
              <a:ext cx="2088232" cy="64321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DATA 1 POPULASI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3350180" y="2695726"/>
              <a:ext cx="1512168" cy="57606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UJI RATAAN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8354736" y="2693295"/>
              <a:ext cx="1584176" cy="57606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UJI VARIANSI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675993" y="3625146"/>
              <a:ext cx="1539365" cy="66234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UNIVARIAT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058899" y="3627205"/>
              <a:ext cx="1670766" cy="66795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MULTIVARIAT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7451305" y="3625146"/>
              <a:ext cx="1538021" cy="66795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UNIVARIAT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9472049" y="3625146"/>
              <a:ext cx="1678153" cy="61217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MULTIVARIAT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911424" y="4761040"/>
              <a:ext cx="1404156" cy="61217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l-GR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σ</a:t>
              </a:r>
              <a:r>
                <a:rPr lang="en-US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6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diketahui</a:t>
              </a:r>
              <a:endParaRPr 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2648102" y="4761040"/>
              <a:ext cx="1404156" cy="61217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l-GR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σ</a:t>
              </a:r>
              <a:r>
                <a:rPr lang="en-US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6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tak</a:t>
              </a:r>
              <a:r>
                <a:rPr lang="en-US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6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diketahui</a:t>
              </a:r>
              <a:endParaRPr 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4392386" y="4761040"/>
              <a:ext cx="1404156" cy="61217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l-GR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Σ</a:t>
              </a:r>
              <a:r>
                <a:rPr lang="en-US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6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diketahui</a:t>
              </a:r>
              <a:endParaRPr 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266504" y="4761040"/>
              <a:ext cx="1404156" cy="61217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l-GR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Σ</a:t>
              </a:r>
              <a:r>
                <a:rPr lang="en-US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6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tak</a:t>
              </a:r>
              <a:r>
                <a:rPr lang="en-US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6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diketahui</a:t>
              </a:r>
              <a:endParaRPr 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0" name="Straight Connector 19"/>
            <p:cNvCxnSpPr>
              <a:stCxn id="4" idx="2"/>
              <a:endCxn id="5" idx="0"/>
            </p:cNvCxnSpPr>
            <p:nvPr/>
          </p:nvCxnSpPr>
          <p:spPr>
            <a:xfrm flipH="1">
              <a:off x="4106264" y="2114800"/>
              <a:ext cx="2376264" cy="5809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5" idx="2"/>
              <a:endCxn id="7" idx="0"/>
            </p:cNvCxnSpPr>
            <p:nvPr/>
          </p:nvCxnSpPr>
          <p:spPr>
            <a:xfrm flipH="1">
              <a:off x="2445676" y="3271790"/>
              <a:ext cx="1660588" cy="3533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>
              <a:endCxn id="11" idx="0"/>
            </p:cNvCxnSpPr>
            <p:nvPr/>
          </p:nvCxnSpPr>
          <p:spPr>
            <a:xfrm flipH="1">
              <a:off x="1613502" y="4287491"/>
              <a:ext cx="735015" cy="4735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>
              <a:endCxn id="14" idx="0"/>
            </p:cNvCxnSpPr>
            <p:nvPr/>
          </p:nvCxnSpPr>
          <p:spPr>
            <a:xfrm flipH="1">
              <a:off x="5094464" y="4287491"/>
              <a:ext cx="693313" cy="4735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>
              <a:endCxn id="9" idx="0"/>
            </p:cNvCxnSpPr>
            <p:nvPr/>
          </p:nvCxnSpPr>
          <p:spPr>
            <a:xfrm flipH="1">
              <a:off x="8220316" y="3272841"/>
              <a:ext cx="997046" cy="35230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>
              <a:stCxn id="4" idx="2"/>
              <a:endCxn id="6" idx="0"/>
            </p:cNvCxnSpPr>
            <p:nvPr/>
          </p:nvCxnSpPr>
          <p:spPr>
            <a:xfrm>
              <a:off x="6482528" y="2114800"/>
              <a:ext cx="2664296" cy="5784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>
              <a:endCxn id="8" idx="0"/>
            </p:cNvCxnSpPr>
            <p:nvPr/>
          </p:nvCxnSpPr>
          <p:spPr>
            <a:xfrm>
              <a:off x="4095598" y="3288630"/>
              <a:ext cx="1798684" cy="3385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endCxn id="13" idx="0"/>
            </p:cNvCxnSpPr>
            <p:nvPr/>
          </p:nvCxnSpPr>
          <p:spPr>
            <a:xfrm>
              <a:off x="2379154" y="4295155"/>
              <a:ext cx="971026" cy="4658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>
              <a:stCxn id="8" idx="2"/>
              <a:endCxn id="15" idx="0"/>
            </p:cNvCxnSpPr>
            <p:nvPr/>
          </p:nvCxnSpPr>
          <p:spPr>
            <a:xfrm>
              <a:off x="5894282" y="4295155"/>
              <a:ext cx="1074300" cy="4658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>
              <a:endCxn id="10" idx="0"/>
            </p:cNvCxnSpPr>
            <p:nvPr/>
          </p:nvCxnSpPr>
          <p:spPr>
            <a:xfrm>
              <a:off x="9179093" y="3269359"/>
              <a:ext cx="1132033" cy="3557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ounded Rectangle 24"/>
                <p:cNvSpPr/>
                <p:nvPr/>
              </p:nvSpPr>
              <p:spPr>
                <a:xfrm>
                  <a:off x="1292220" y="5661248"/>
                  <a:ext cx="669141" cy="504056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oMath>
                    </m:oMathPara>
                  </a14:m>
                  <a:endParaRPr lang="en-US" sz="16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5" name="Rounded Rectangle 2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2220" y="5661248"/>
                  <a:ext cx="669141" cy="504056"/>
                </a:xfrm>
                <a:prstGeom prst="roundRect">
                  <a:avLst/>
                </a:prstGeom>
                <a:blipFill rotWithShape="0"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Rounded Rectangle 26"/>
            <p:cNvSpPr/>
            <p:nvPr/>
          </p:nvSpPr>
          <p:spPr>
            <a:xfrm>
              <a:off x="3080150" y="5661248"/>
              <a:ext cx="669141" cy="50405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i="1" dirty="0">
                  <a:latin typeface="Calibri" panose="020F0502020204030204" pitchFamily="34" charset="0"/>
                  <a:cs typeface="Calibri" panose="020F0502020204030204" pitchFamily="34" charset="0"/>
                </a:rPr>
                <a:t>t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ounded Rectangle 28"/>
                <p:cNvSpPr/>
                <p:nvPr/>
              </p:nvSpPr>
              <p:spPr>
                <a:xfrm>
                  <a:off x="4724328" y="5661248"/>
                  <a:ext cx="669141" cy="504056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sz="1600" i="1" smtClean="0">
                                <a:latin typeface="Cambria Math" panose="02040503050406030204" pitchFamily="18" charset="0"/>
                              </a:rPr>
                              <m:t>χ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sz="16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9" name="Rounded Rectangle 2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4328" y="5661248"/>
                  <a:ext cx="669141" cy="504056"/>
                </a:xfrm>
                <a:prstGeom prst="round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ounded Rectangle 29"/>
                <p:cNvSpPr/>
                <p:nvPr/>
              </p:nvSpPr>
              <p:spPr>
                <a:xfrm>
                  <a:off x="6689717" y="5661248"/>
                  <a:ext cx="669141" cy="504056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sz="16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30" name="Rounded Rectangle 2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89717" y="5661248"/>
                  <a:ext cx="669141" cy="504056"/>
                </a:xfrm>
                <a:prstGeom prst="round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ounded Rectangle 32"/>
                <p:cNvSpPr/>
                <p:nvPr/>
              </p:nvSpPr>
              <p:spPr>
                <a:xfrm>
                  <a:off x="7818813" y="4524265"/>
                  <a:ext cx="669141" cy="504056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sz="1600" i="1" smtClean="0">
                                <a:latin typeface="Cambria Math" panose="02040503050406030204" pitchFamily="18" charset="0"/>
                              </a:rPr>
                              <m:t>χ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sz="16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33" name="Rounded Rectangle 3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8813" y="4524265"/>
                  <a:ext cx="669141" cy="504056"/>
                </a:xfrm>
                <a:prstGeom prst="round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ounded Rectangle 34"/>
                <p:cNvSpPr/>
                <p:nvPr/>
              </p:nvSpPr>
              <p:spPr>
                <a:xfrm>
                  <a:off x="10107379" y="4524265"/>
                  <a:ext cx="669141" cy="504056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sz="1600" i="1" smtClean="0">
                                <a:latin typeface="Cambria Math" panose="02040503050406030204" pitchFamily="18" charset="0"/>
                              </a:rPr>
                              <m:t>χ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sz="16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35" name="Rounded Rectangle 3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07379" y="4524265"/>
                  <a:ext cx="669141" cy="504056"/>
                </a:xfrm>
                <a:prstGeom prst="round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Straight Connector 39"/>
            <p:cNvCxnSpPr>
              <a:stCxn id="11" idx="2"/>
              <a:endCxn id="25" idx="0"/>
            </p:cNvCxnSpPr>
            <p:nvPr/>
          </p:nvCxnSpPr>
          <p:spPr>
            <a:xfrm>
              <a:off x="1613502" y="5373216"/>
              <a:ext cx="13289" cy="2880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3383182" y="5373216"/>
              <a:ext cx="13289" cy="2880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5070929" y="5373216"/>
              <a:ext cx="13289" cy="2880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7001612" y="5373216"/>
              <a:ext cx="13289" cy="2880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8120532" y="4266592"/>
              <a:ext cx="13289" cy="2880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>
              <a:off x="10393483" y="4236233"/>
              <a:ext cx="13289" cy="2880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1583444"/>
      </p:ext>
    </p:extLst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1631504" y="620688"/>
                <a:ext cx="8911687" cy="640445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3200" b="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Uji</a:t>
                </a:r>
                <a:r>
                  <a:rPr lang="en-US" sz="32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3200" b="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Hipotesis</a:t>
                </a:r>
                <a:r>
                  <a:rPr lang="en-US" sz="32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Rata-rata Data </a:t>
                </a:r>
                <a:r>
                  <a:rPr lang="en-US" sz="3200" b="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Univariat</a:t>
                </a:r>
                <a:r>
                  <a:rPr lang="en-US" sz="32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l-GR" sz="32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𝛔</m:t>
                    </m:r>
                  </m:oMath>
                </a14:m>
                <a:r>
                  <a:rPr lang="en-US" sz="32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3200" b="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diketahui</a:t>
                </a:r>
                <a:r>
                  <a:rPr lang="en-US" sz="32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lang="id-ID" sz="3200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631504" y="620688"/>
                <a:ext cx="8911687" cy="640445"/>
              </a:xfrm>
              <a:blipFill>
                <a:blip r:embed="rId2"/>
                <a:stretch>
                  <a:fillRect l="-2804" b="-3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33128" y="3223517"/>
                <a:ext cx="6491064" cy="363448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d-ID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sz="2400" b="0" i="1" smtClean="0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id-ID" sz="2400" b="0" i="1" smtClean="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id-ID" sz="2400" b="0" i="1" smtClean="0">
                          <a:latin typeface="Cambria Math"/>
                        </a:rPr>
                        <m:t> : </m:t>
                      </m:r>
                      <m:r>
                        <a:rPr lang="id-ID" sz="2400" b="0" i="1" smtClean="0">
                          <a:latin typeface="Cambria Math"/>
                          <a:ea typeface="Cambria Math"/>
                        </a:rPr>
                        <m:t>𝜇</m:t>
                      </m:r>
                      <m:r>
                        <a:rPr lang="id-ID" sz="2400" b="0" i="1" smtClean="0">
                          <a:latin typeface="Cambria Math"/>
                          <a:ea typeface="Cambria Math"/>
                        </a:rPr>
                        <m:t>=</m:t>
                      </m:r>
                      <m:sSub>
                        <m:sSubPr>
                          <m:ctrlPr>
                            <a:rPr lang="id-ID" sz="24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id-ID" sz="2400" b="0" i="1" smtClean="0">
                              <a:latin typeface="Cambria Math"/>
                              <a:ea typeface="Cambria Math"/>
                            </a:rPr>
                            <m:t>𝜇</m:t>
                          </m:r>
                        </m:e>
                        <m:sub>
                          <m:r>
                            <a:rPr lang="id-ID" sz="2400" b="0" i="1" smtClean="0">
                              <a:latin typeface="Cambria Math"/>
                              <a:ea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id-ID" sz="2400" b="0" dirty="0">
                  <a:latin typeface="Calibri" panose="020F0502020204030204" pitchFamily="34" charset="0"/>
                  <a:ea typeface="Cambria Math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d-ID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sz="2400" b="0" i="1" smtClean="0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id-ID" sz="24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id-ID" sz="2400" b="0" i="1" smtClean="0">
                          <a:latin typeface="Cambria Math"/>
                        </a:rPr>
                        <m:t> : </m:t>
                      </m:r>
                      <m:r>
                        <a:rPr lang="id-ID" sz="2400" b="0" i="1" smtClean="0">
                          <a:latin typeface="Cambria Math"/>
                          <a:ea typeface="Cambria Math"/>
                        </a:rPr>
                        <m:t>𝜇</m:t>
                      </m:r>
                      <m:r>
                        <a:rPr lang="id-ID" sz="2400" b="0" i="1" smtClean="0">
                          <a:latin typeface="Cambria Math"/>
                          <a:ea typeface="Cambria Math"/>
                        </a:rPr>
                        <m:t>≠</m:t>
                      </m:r>
                      <m:sSub>
                        <m:sSubPr>
                          <m:ctrlPr>
                            <a:rPr lang="id-ID" sz="24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id-ID" sz="2400" b="0" i="1" smtClean="0">
                              <a:latin typeface="Cambria Math"/>
                              <a:ea typeface="Cambria Math"/>
                            </a:rPr>
                            <m:t>𝜇</m:t>
                          </m:r>
                        </m:e>
                        <m:sub>
                          <m:r>
                            <a:rPr lang="id-ID" sz="2400" b="0" i="1" smtClean="0">
                              <a:latin typeface="Cambria Math"/>
                              <a:ea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id-ID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id-ID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Statistik uji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sz="2400" b="0" i="1" smtClean="0">
                          <a:latin typeface="Cambria Math"/>
                        </a:rPr>
                        <m:t>𝑧</m:t>
                      </m:r>
                      <m:r>
                        <a:rPr lang="id-ID" sz="24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id-ID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d-ID" sz="24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</m:acc>
                          <m:r>
                            <a:rPr lang="id-ID" sz="2400" b="0" i="1" smtClean="0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id-ID" sz="2400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id-ID" sz="2400" b="0" i="1" smtClean="0">
                                  <a:latin typeface="Cambria Math"/>
                                  <a:ea typeface="Cambria Math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id-ID" sz="2400" b="0" i="1" smtClean="0">
                                  <a:latin typeface="Cambria Math"/>
                                  <a:ea typeface="Cambria Math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d-ID" sz="2400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id-ID" sz="2400" b="0" i="1" smtClean="0">
                                  <a:latin typeface="Cambria Math"/>
                                  <a:ea typeface="Cambria Math"/>
                                </a:rPr>
                                <m:t>𝜎</m:t>
                              </m:r>
                            </m:e>
                            <m:sub>
                              <m:acc>
                                <m:accPr>
                                  <m:chr m:val="̅"/>
                                  <m:ctrlPr>
                                    <a:rPr lang="id-ID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id-ID" sz="2400" b="0" i="1" smtClean="0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</m:acc>
                            </m:sub>
                          </m:sSub>
                        </m:den>
                      </m:f>
                      <m:r>
                        <a:rPr lang="id-ID" sz="24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id-ID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d-ID" sz="24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</m:acc>
                          <m:r>
                            <a:rPr lang="id-ID" sz="2400" b="0" i="1" smtClean="0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id-ID" sz="2400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id-ID" sz="2400" b="0" i="1" smtClean="0">
                                  <a:latin typeface="Cambria Math"/>
                                  <a:ea typeface="Cambria Math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id-ID" sz="2400" b="0" i="1" smtClean="0">
                                  <a:latin typeface="Cambria Math"/>
                                  <a:ea typeface="Cambria Math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f>
                            <m:fPr>
                              <m:type m:val="lin"/>
                              <m:ctrlP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d-ID" sz="2400" b="0" i="1" smtClean="0">
                                  <a:latin typeface="Cambria Math"/>
                                  <a:ea typeface="Cambria Math"/>
                                </a:rPr>
                                <m:t>𝜎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id-ID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id-ID" sz="2400" b="0" i="1" smtClean="0">
                                      <a:latin typeface="Cambria Math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den>
                      </m:f>
                    </m:oMath>
                  </m:oMathPara>
                </a14:m>
                <a:endParaRPr lang="id-ID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id-ID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Daerah kritis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sz="2400" b="0" i="1" smtClean="0">
                          <a:latin typeface="Cambria Math"/>
                        </a:rPr>
                        <m:t>𝑧</m:t>
                      </m:r>
                      <m:r>
                        <a:rPr lang="id-ID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id-ID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sz="24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id-ID" sz="2400" b="0" i="1" smtClean="0">
                              <a:latin typeface="Cambria Math"/>
                            </a:rPr>
                            <m:t>𝑧</m:t>
                          </m:r>
                        </m:e>
                        <m:sub>
                          <m:r>
                            <a:rPr lang="id-ID" sz="2400" b="0" i="1" smtClean="0">
                              <a:latin typeface="Cambria Math"/>
                            </a:rPr>
                            <m:t>1−</m:t>
                          </m:r>
                          <m:f>
                            <m:fPr>
                              <m:ctrlP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d-ID" sz="2400" b="0" i="1" smtClean="0">
                                  <a:latin typeface="Cambria Math"/>
                                  <a:ea typeface="Cambria Math"/>
                                </a:rPr>
                                <m:t>𝛼</m:t>
                              </m:r>
                            </m:num>
                            <m:den>
                              <m:r>
                                <a:rPr lang="id-ID" sz="2400" b="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  <m:r>
                        <a:rPr lang="id-ID" sz="2400" b="0" i="0" smtClean="0">
                          <a:latin typeface="Cambria Math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id-ID" sz="2400" b="0" i="0" smtClean="0">
                          <a:latin typeface="Cambria Math"/>
                        </a:rPr>
                        <m:t>dan</m:t>
                      </m:r>
                      <m:r>
                        <a:rPr lang="id-ID" sz="2400" b="0" i="1" smtClean="0">
                          <a:latin typeface="Cambria Math"/>
                        </a:rPr>
                        <m:t>  </m:t>
                      </m:r>
                      <m:r>
                        <a:rPr lang="id-ID" sz="2400" b="0" i="1" smtClean="0">
                          <a:latin typeface="Cambria Math"/>
                        </a:rPr>
                        <m:t>𝑧</m:t>
                      </m:r>
                      <m:r>
                        <a:rPr lang="id-ID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id-ID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sz="2400" b="0" i="1" smtClean="0">
                              <a:latin typeface="Cambria Math"/>
                            </a:rPr>
                            <m:t>𝑧</m:t>
                          </m:r>
                        </m:e>
                        <m:sub>
                          <m:r>
                            <a:rPr lang="id-ID" sz="2400" b="0" i="1" smtClean="0">
                              <a:latin typeface="Cambria Math"/>
                            </a:rPr>
                            <m:t>1−</m:t>
                          </m:r>
                          <m:f>
                            <m:fPr>
                              <m:ctrlP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d-ID" sz="2400" b="0" i="1" smtClean="0">
                                  <a:latin typeface="Cambria Math"/>
                                  <a:ea typeface="Cambria Math"/>
                                </a:rPr>
                                <m:t>𝛼</m:t>
                              </m:r>
                            </m:num>
                            <m:den>
                              <m:r>
                                <a:rPr lang="id-ID" sz="2400" b="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</m:oMath>
                  </m:oMathPara>
                </a14:m>
                <a:endParaRPr lang="id-ID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33128" y="3223517"/>
                <a:ext cx="6491064" cy="3634483"/>
              </a:xfrm>
              <a:blipFill>
                <a:blip r:embed="rId3"/>
                <a:stretch>
                  <a:fillRect l="-1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/>
          <p:cNvGrpSpPr/>
          <p:nvPr/>
        </p:nvGrpSpPr>
        <p:grpSpPr>
          <a:xfrm>
            <a:off x="6456040" y="2204864"/>
            <a:ext cx="5170264" cy="2592288"/>
            <a:chOff x="6012161" y="1052736"/>
            <a:chExt cx="5170264" cy="2592288"/>
          </a:xfrm>
        </p:grpSpPr>
        <p:pic>
          <p:nvPicPr>
            <p:cNvPr id="6" name="Picture 2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154" t="35913" r="19109" b="30556"/>
            <a:stretch/>
          </p:blipFill>
          <p:spPr bwMode="auto">
            <a:xfrm>
              <a:off x="6012161" y="1052736"/>
              <a:ext cx="5170264" cy="24529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/>
                <p:cNvSpPr/>
                <p:nvPr/>
              </p:nvSpPr>
              <p:spPr>
                <a:xfrm>
                  <a:off x="6141864" y="3213532"/>
                  <a:ext cx="5040560" cy="43149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id-ID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id-ID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𝒛</m:t>
                          </m:r>
                        </m:e>
                        <m:sub>
                          <m:r>
                            <a:rPr lang="id-ID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𝟏</m:t>
                          </m:r>
                          <m:r>
                            <a:rPr lang="id-ID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id-ID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d-ID" b="1" i="1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𝜶</m:t>
                              </m:r>
                            </m:num>
                            <m:den>
                              <m:r>
                                <a:rPr lang="id-ID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den>
                          </m:f>
                        </m:sub>
                      </m:sSub>
                    </m:oMath>
                  </a14:m>
                  <a:r>
                    <a:rPr lang="id-ID" b="1" dirty="0">
                      <a:solidFill>
                        <a:schemeClr val="tx1"/>
                      </a:solidFill>
                    </a:rPr>
                    <a:t>	           0		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id-ID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𝒛</m:t>
                          </m:r>
                        </m:e>
                        <m:sub>
                          <m:r>
                            <a:rPr lang="id-ID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𝟏</m:t>
                          </m:r>
                          <m:r>
                            <a:rPr lang="id-ID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id-ID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d-ID" b="1" i="1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𝜶</m:t>
                              </m:r>
                            </m:num>
                            <m:den>
                              <m:r>
                                <a:rPr lang="id-ID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den>
                          </m:f>
                        </m:sub>
                      </m:sSub>
                    </m:oMath>
                  </a14:m>
                  <a:endParaRPr lang="id-ID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Rectangle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1864" y="3213532"/>
                  <a:ext cx="5040560" cy="43149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9859" b="-563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id-ID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Content Placeholder 2"/>
          <p:cNvSpPr txBox="1">
            <a:spLocks/>
          </p:cNvSpPr>
          <p:nvPr/>
        </p:nvSpPr>
        <p:spPr>
          <a:xfrm>
            <a:off x="1405136" y="1340768"/>
            <a:ext cx="4402832" cy="186166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id-ID" sz="2400" dirty="0">
                <a:latin typeface="Calibri" panose="020F0502020204030204" pitchFamily="34" charset="0"/>
                <a:cs typeface="Calibri" panose="020F0502020204030204" pitchFamily="34" charset="0"/>
              </a:rPr>
              <a:t>Asumsi :</a:t>
            </a:r>
          </a:p>
          <a:p>
            <a:pPr marL="0" indent="0">
              <a:buNone/>
            </a:pPr>
            <a:r>
              <a:rPr lang="id-ID" sz="2400" dirty="0">
                <a:latin typeface="Calibri" panose="020F0502020204030204" pitchFamily="34" charset="0"/>
                <a:cs typeface="Calibri" panose="020F0502020204030204" pitchFamily="34" charset="0"/>
              </a:rPr>
              <a:t>Sampel acak berukuran </a:t>
            </a:r>
            <a:r>
              <a:rPr lang="id-ID" sz="2400" i="1" dirty="0">
                <a:latin typeface="Calibri" panose="020F0502020204030204" pitchFamily="34" charset="0"/>
                <a:cs typeface="Calibri" panose="020F0502020204030204" pitchFamily="34" charset="0"/>
              </a:rPr>
              <a:t>n </a:t>
            </a:r>
            <a:r>
              <a:rPr lang="id-ID" sz="2400" dirty="0">
                <a:latin typeface="Calibri" panose="020F0502020204030204" pitchFamily="34" charset="0"/>
                <a:cs typeface="Calibri" panose="020F0502020204030204" pitchFamily="34" charset="0"/>
              </a:rPr>
              <a:t>berdistribusi Normal (variansi diketahui)</a:t>
            </a:r>
          </a:p>
        </p:txBody>
      </p:sp>
    </p:spTree>
    <p:extLst>
      <p:ext uri="{BB962C8B-B14F-4D97-AF65-F5344CB8AC3E}">
        <p14:creationId xmlns:p14="http://schemas.microsoft.com/office/powerpoint/2010/main" val="3146429938"/>
      </p:ext>
    </p:extLst>
  </p:cSld>
  <p:clrMapOvr>
    <a:masterClrMapping/>
  </p:clrMapOvr>
  <p:transition spd="slow">
    <p:push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469933" y="2780928"/>
            <a:ext cx="5242691" cy="2592287"/>
            <a:chOff x="3908228" y="4389187"/>
            <a:chExt cx="5242691" cy="2592287"/>
          </a:xfrm>
        </p:grpSpPr>
        <p:pic>
          <p:nvPicPr>
            <p:cNvPr id="8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219" t="45455" r="7858" b="20833"/>
            <a:stretch/>
          </p:blipFill>
          <p:spPr bwMode="auto">
            <a:xfrm>
              <a:off x="6428508" y="4391891"/>
              <a:ext cx="2722411" cy="24661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9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219" t="45455" r="7858" b="20833"/>
            <a:stretch/>
          </p:blipFill>
          <p:spPr bwMode="auto">
            <a:xfrm flipH="1">
              <a:off x="3908228" y="4389187"/>
              <a:ext cx="2722411" cy="24661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" name="Right Triangle 9"/>
            <p:cNvSpPr/>
            <p:nvPr/>
          </p:nvSpPr>
          <p:spPr>
            <a:xfrm flipH="1">
              <a:off x="4716016" y="6165304"/>
              <a:ext cx="497107" cy="288000"/>
            </a:xfrm>
            <a:prstGeom prst="rtTriangle">
              <a:avLst/>
            </a:prstGeom>
            <a:solidFill>
              <a:srgbClr val="AFDE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11" name="Right Triangle 10"/>
            <p:cNvSpPr/>
            <p:nvPr/>
          </p:nvSpPr>
          <p:spPr>
            <a:xfrm>
              <a:off x="7819309" y="6165304"/>
              <a:ext cx="497107" cy="288000"/>
            </a:xfrm>
            <a:prstGeom prst="rtTriangle">
              <a:avLst/>
            </a:prstGeom>
            <a:solidFill>
              <a:srgbClr val="AFDE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/>
                <p:cNvSpPr/>
                <p:nvPr/>
              </p:nvSpPr>
              <p:spPr>
                <a:xfrm>
                  <a:off x="3908228" y="6525899"/>
                  <a:ext cx="5242691" cy="4555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id-ID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id-ID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𝒕</m:t>
                          </m:r>
                        </m:e>
                        <m:sub>
                          <m:f>
                            <m:fPr>
                              <m:ctrlPr>
                                <a:rPr lang="id-ID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d-ID" b="1" i="1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𝜶</m:t>
                              </m:r>
                            </m:num>
                            <m:den>
                              <m:r>
                                <a:rPr lang="id-ID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den>
                          </m:f>
                        </m:sub>
                      </m:sSub>
                    </m:oMath>
                  </a14:m>
                  <a:r>
                    <a:rPr lang="id-ID" b="1" dirty="0">
                      <a:solidFill>
                        <a:schemeClr val="tx1"/>
                      </a:solidFill>
                    </a:rPr>
                    <a:t>	        0</a:t>
                  </a:r>
                  <a:r>
                    <a:rPr lang="en-US" b="1" dirty="0">
                      <a:solidFill>
                        <a:schemeClr val="tx1"/>
                      </a:solidFill>
                    </a:rPr>
                    <a:t>         </a:t>
                  </a:r>
                  <a:r>
                    <a:rPr lang="id-ID" b="1" dirty="0">
                      <a:solidFill>
                        <a:schemeClr val="tx1"/>
                      </a:solidFill>
                    </a:rPr>
                    <a:t>	</a:t>
                  </a:r>
                  <a:r>
                    <a:rPr lang="en-US" b="1" dirty="0">
                      <a:solidFill>
                        <a:schemeClr val="tx1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id-ID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𝒕</m:t>
                          </m:r>
                        </m:e>
                        <m:sub>
                          <m:f>
                            <m:fPr>
                              <m:ctrlPr>
                                <a:rPr lang="id-ID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d-ID" b="1" i="1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𝜶</m:t>
                              </m:r>
                            </m:num>
                            <m:den>
                              <m:r>
                                <a:rPr lang="id-ID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den>
                          </m:f>
                        </m:sub>
                      </m:sSub>
                    </m:oMath>
                  </a14:m>
                  <a:endParaRPr lang="id-ID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Rectangle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8228" y="6525899"/>
                  <a:ext cx="5242691" cy="455575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t="-10667" b="-266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Title 1"/>
          <p:cNvSpPr txBox="1">
            <a:spLocks/>
          </p:cNvSpPr>
          <p:nvPr/>
        </p:nvSpPr>
        <p:spPr>
          <a:xfrm>
            <a:off x="1618252" y="489924"/>
            <a:ext cx="8438188" cy="91947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id-ID" sz="3200" b="1" dirty="0">
                <a:solidFill>
                  <a:schemeClr val="tx2"/>
                </a:solidFill>
              </a:rPr>
              <a:t>Uji Rata</a:t>
            </a:r>
            <a:r>
              <a:rPr lang="en-US" sz="3200" b="1" dirty="0">
                <a:solidFill>
                  <a:schemeClr val="tx2"/>
                </a:solidFill>
              </a:rPr>
              <a:t>-rata</a:t>
            </a:r>
            <a:r>
              <a:rPr lang="id-ID" sz="3200" b="1" dirty="0">
                <a:solidFill>
                  <a:schemeClr val="tx2"/>
                </a:solidFill>
              </a:rPr>
              <a:t> </a:t>
            </a:r>
            <a:r>
              <a:rPr lang="en-US" sz="3200" b="1" dirty="0">
                <a:solidFill>
                  <a:schemeClr val="tx2"/>
                </a:solidFill>
              </a:rPr>
              <a:t>Data </a:t>
            </a:r>
            <a:r>
              <a:rPr lang="id-ID" sz="3200" b="1" dirty="0">
                <a:solidFill>
                  <a:schemeClr val="tx2"/>
                </a:solidFill>
              </a:rPr>
              <a:t>Univariat (</a:t>
            </a:r>
            <a:r>
              <a:rPr lang="el-GR" sz="3200" b="1" dirty="0">
                <a:solidFill>
                  <a:schemeClr val="tx2"/>
                </a:solidFill>
              </a:rPr>
              <a:t>σ</a:t>
            </a:r>
            <a:r>
              <a:rPr lang="id-ID" sz="3200" b="1" dirty="0">
                <a:solidFill>
                  <a:schemeClr val="tx2"/>
                </a:solidFill>
              </a:rPr>
              <a:t> tidak diketahui)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 txBox="1">
                <a:spLocks/>
              </p:cNvSpPr>
              <p:nvPr/>
            </p:nvSpPr>
            <p:spPr>
              <a:xfrm>
                <a:off x="1559496" y="3140968"/>
                <a:ext cx="5842992" cy="328825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d-ID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sz="2400" i="1" smtClean="0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id-ID" sz="2400" i="1" smtClean="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id-ID" sz="2400" i="1" smtClean="0">
                          <a:latin typeface="Cambria Math"/>
                        </a:rPr>
                        <m:t> : </m:t>
                      </m:r>
                      <m:r>
                        <a:rPr lang="id-ID" sz="2400" i="1" smtClean="0">
                          <a:latin typeface="Cambria Math"/>
                          <a:ea typeface="Cambria Math"/>
                        </a:rPr>
                        <m:t>𝜇</m:t>
                      </m:r>
                      <m:r>
                        <a:rPr lang="id-ID" sz="2400" i="1" smtClean="0">
                          <a:latin typeface="Cambria Math"/>
                          <a:ea typeface="Cambria Math"/>
                        </a:rPr>
                        <m:t>=</m:t>
                      </m:r>
                      <m:sSub>
                        <m:sSubPr>
                          <m:ctrlPr>
                            <a:rPr lang="id-ID" sz="24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id-ID" sz="2400" i="1" smtClean="0">
                              <a:latin typeface="Cambria Math"/>
                              <a:ea typeface="Cambria Math"/>
                            </a:rPr>
                            <m:t>𝜇</m:t>
                          </m:r>
                        </m:e>
                        <m:sub>
                          <m:r>
                            <a:rPr lang="id-ID" sz="2400" i="1" smtClean="0">
                              <a:latin typeface="Cambria Math"/>
                              <a:ea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id-ID" sz="2400" dirty="0">
                  <a:latin typeface="Calibri" panose="020F0502020204030204" pitchFamily="34" charset="0"/>
                  <a:ea typeface="Cambria Math"/>
                  <a:cs typeface="Calibri" panose="020F0502020204030204" pitchFamily="34" charset="0"/>
                </a:endParaRPr>
              </a:p>
              <a:p>
                <a:pPr marL="0" indent="0">
                  <a:buFont typeface="Arial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d-ID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sz="2400" i="1" smtClean="0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id-ID" sz="240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id-ID" sz="2400" i="1" smtClean="0">
                          <a:latin typeface="Cambria Math"/>
                        </a:rPr>
                        <m:t> : </m:t>
                      </m:r>
                      <m:r>
                        <a:rPr lang="id-ID" sz="2400" i="1" smtClean="0">
                          <a:latin typeface="Cambria Math"/>
                          <a:ea typeface="Cambria Math"/>
                        </a:rPr>
                        <m:t>𝜇</m:t>
                      </m:r>
                      <m:r>
                        <a:rPr lang="id-ID" sz="2400" i="1" smtClean="0">
                          <a:latin typeface="Cambria Math"/>
                          <a:ea typeface="Cambria Math"/>
                        </a:rPr>
                        <m:t>≠</m:t>
                      </m:r>
                      <m:sSub>
                        <m:sSubPr>
                          <m:ctrlPr>
                            <a:rPr lang="id-ID" sz="24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id-ID" sz="2400" i="1" smtClean="0">
                              <a:latin typeface="Cambria Math"/>
                              <a:ea typeface="Cambria Math"/>
                            </a:rPr>
                            <m:t>𝜇</m:t>
                          </m:r>
                        </m:e>
                        <m:sub>
                          <m:r>
                            <a:rPr lang="id-ID" sz="2400" i="1" smtClean="0">
                              <a:latin typeface="Cambria Math"/>
                              <a:ea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id-ID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Font typeface="Arial" pitchFamily="34" charset="0"/>
                  <a:buNone/>
                </a:pPr>
                <a:r>
                  <a:rPr lang="id-ID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Statistik uji :</a:t>
                </a:r>
              </a:p>
              <a:p>
                <a:pPr marL="0" indent="0">
                  <a:buFont typeface="Arial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sz="2400" i="1" smtClean="0">
                          <a:latin typeface="Cambria Math"/>
                        </a:rPr>
                        <m:t>𝑡</m:t>
                      </m:r>
                      <m:r>
                        <a:rPr lang="id-ID" sz="240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id-ID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id-ID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d-ID" sz="2400" i="1" smtClean="0">
                                  <a:latin typeface="Cambria Math"/>
                                </a:rPr>
                                <m:t>𝑦</m:t>
                              </m:r>
                            </m:e>
                          </m:acc>
                          <m:r>
                            <a:rPr lang="id-ID" sz="2400" i="1" smtClean="0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id-ID" sz="240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id-ID" sz="2400" i="1" smtClean="0">
                                  <a:latin typeface="Cambria Math"/>
                                  <a:ea typeface="Cambria Math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id-ID" sz="2400" i="1" smtClean="0">
                                  <a:latin typeface="Cambria Math"/>
                                  <a:ea typeface="Cambria Math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f>
                            <m:fPr>
                              <m:type m:val="lin"/>
                              <m:ctrlPr>
                                <a:rPr lang="id-ID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d-ID" sz="2400" i="1" smtClean="0">
                                  <a:latin typeface="Cambria Math"/>
                                </a:rPr>
                                <m:t>𝑠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id-ID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id-ID" sz="2400" i="1" smtClean="0">
                                      <a:latin typeface="Cambria Math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den>
                      </m:f>
                    </m:oMath>
                  </m:oMathPara>
                </a14:m>
                <a:endParaRPr lang="id-ID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Font typeface="Arial" pitchFamily="34" charset="0"/>
                  <a:buNone/>
                </a:pPr>
                <a:r>
                  <a:rPr lang="id-ID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Daerah kritis :</a:t>
                </a:r>
              </a:p>
              <a:p>
                <a:pPr marL="0" indent="0">
                  <a:buFont typeface="Arial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sz="2400" i="1" smtClean="0">
                          <a:latin typeface="Cambria Math"/>
                        </a:rPr>
                        <m:t>𝑡</m:t>
                      </m:r>
                      <m:r>
                        <a:rPr lang="id-ID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id-ID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sz="2400" i="1" smtClean="0">
                              <a:latin typeface="Cambria Math"/>
                            </a:rPr>
                            <m:t>−</m:t>
                          </m:r>
                          <m:r>
                            <a:rPr lang="id-ID" sz="2400" i="1" smtClean="0">
                              <a:latin typeface="Cambria Math"/>
                            </a:rPr>
                            <m:t>𝑡</m:t>
                          </m:r>
                        </m:e>
                        <m:sub>
                          <m:f>
                            <m:fPr>
                              <m:ctrlPr>
                                <a:rPr lang="id-ID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d-ID" sz="2400" i="1" smtClean="0">
                                  <a:latin typeface="Cambria Math"/>
                                  <a:ea typeface="Cambria Math"/>
                                </a:rPr>
                                <m:t>𝛼</m:t>
                              </m:r>
                            </m:num>
                            <m:den>
                              <m:r>
                                <a:rPr lang="id-ID" sz="240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id-ID" sz="2400" b="0" i="1" smtClean="0">
                              <a:latin typeface="Cambria Math"/>
                            </a:rPr>
                            <m:t>, </m:t>
                          </m:r>
                          <m:r>
                            <a:rPr lang="id-ID" sz="2400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id-ID" sz="2400" b="0" i="1" smtClean="0"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id-ID" sz="2400" smtClean="0">
                          <a:latin typeface="Cambria Math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id-ID" sz="2400" smtClean="0">
                          <a:latin typeface="Cambria Math"/>
                        </a:rPr>
                        <m:t>dan</m:t>
                      </m:r>
                      <m:r>
                        <a:rPr lang="id-ID" sz="2400" i="1" smtClean="0">
                          <a:latin typeface="Cambria Math"/>
                        </a:rPr>
                        <m:t>  </m:t>
                      </m:r>
                      <m:r>
                        <a:rPr lang="id-ID" sz="2400" i="1" smtClean="0">
                          <a:latin typeface="Cambria Math"/>
                        </a:rPr>
                        <m:t>𝑡</m:t>
                      </m:r>
                      <m:r>
                        <a:rPr lang="id-ID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id-ID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sz="2400" i="1" smtClean="0">
                              <a:latin typeface="Cambria Math"/>
                            </a:rPr>
                            <m:t>𝑡</m:t>
                          </m:r>
                        </m:e>
                        <m:sub>
                          <m:f>
                            <m:fPr>
                              <m:ctrlPr>
                                <a:rPr lang="id-ID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d-ID" sz="2400" i="1" smtClean="0">
                                  <a:latin typeface="Cambria Math"/>
                                  <a:ea typeface="Cambria Math"/>
                                </a:rPr>
                                <m:t>𝛼</m:t>
                              </m:r>
                            </m:num>
                            <m:den>
                              <m:r>
                                <a:rPr lang="id-ID" sz="240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id-ID" sz="2400" b="0" i="1" smtClean="0">
                              <a:latin typeface="Cambria Math"/>
                            </a:rPr>
                            <m:t>, </m:t>
                          </m:r>
                          <m:r>
                            <a:rPr lang="id-ID" sz="2400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id-ID" sz="2400" b="0" i="1" smtClean="0">
                              <a:latin typeface="Cambria Math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id-ID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9496" y="3140968"/>
                <a:ext cx="5842992" cy="3288253"/>
              </a:xfrm>
              <a:prstGeom prst="rect">
                <a:avLst/>
              </a:prstGeom>
              <a:blipFill>
                <a:blip r:embed="rId4"/>
                <a:stretch>
                  <a:fillRect l="-16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ontent Placeholder 2"/>
          <p:cNvSpPr txBox="1">
            <a:spLocks/>
          </p:cNvSpPr>
          <p:nvPr/>
        </p:nvSpPr>
        <p:spPr>
          <a:xfrm>
            <a:off x="1405136" y="1412776"/>
            <a:ext cx="4402832" cy="158417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id-ID" sz="2400" dirty="0">
                <a:latin typeface="Calibri" panose="020F0502020204030204" pitchFamily="34" charset="0"/>
                <a:cs typeface="Calibri" panose="020F0502020204030204" pitchFamily="34" charset="0"/>
              </a:rPr>
              <a:t>Asumsi :</a:t>
            </a:r>
          </a:p>
          <a:p>
            <a:pPr marL="0" indent="0">
              <a:buNone/>
            </a:pPr>
            <a:r>
              <a:rPr lang="id-ID" sz="2400" dirty="0">
                <a:latin typeface="Calibri" panose="020F0502020204030204" pitchFamily="34" charset="0"/>
                <a:cs typeface="Calibri" panose="020F0502020204030204" pitchFamily="34" charset="0"/>
              </a:rPr>
              <a:t>Sampel acak berukuran </a:t>
            </a:r>
            <a:r>
              <a:rPr lang="id-ID" sz="2400" i="1" dirty="0">
                <a:latin typeface="Calibri" panose="020F0502020204030204" pitchFamily="34" charset="0"/>
                <a:cs typeface="Calibri" panose="020F0502020204030204" pitchFamily="34" charset="0"/>
              </a:rPr>
              <a:t>n </a:t>
            </a:r>
            <a:r>
              <a:rPr lang="id-ID" sz="2400" dirty="0">
                <a:latin typeface="Calibri" panose="020F0502020204030204" pitchFamily="34" charset="0"/>
                <a:cs typeface="Calibri" panose="020F0502020204030204" pitchFamily="34" charset="0"/>
              </a:rPr>
              <a:t>berdistribusi Normal</a:t>
            </a:r>
          </a:p>
        </p:txBody>
      </p:sp>
    </p:spTree>
    <p:extLst>
      <p:ext uri="{BB962C8B-B14F-4D97-AF65-F5344CB8AC3E}">
        <p14:creationId xmlns:p14="http://schemas.microsoft.com/office/powerpoint/2010/main" val="619999665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1504" y="692696"/>
            <a:ext cx="10369152" cy="720080"/>
          </a:xfrm>
        </p:spPr>
        <p:txBody>
          <a:bodyPr>
            <a:noAutofit/>
          </a:bodyPr>
          <a:lstStyle/>
          <a:p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Uji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Hipotesis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Rata-rata Data </a:t>
            </a:r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Multivariat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l-GR" b="1" dirty="0">
                <a:latin typeface="Calibri" panose="020F0502020204030204" pitchFamily="34" charset="0"/>
                <a:cs typeface="Calibri" panose="020F0502020204030204" pitchFamily="34" charset="0"/>
              </a:rPr>
              <a:t>Σ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diketahui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321002" y="1556792"/>
                <a:ext cx="6823670" cy="4680520"/>
              </a:xfrm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 :</m:t>
                    </m:r>
                    <m:acc>
                      <m:accPr>
                        <m:chr m:val="⃗"/>
                        <m:ctrlPr>
                          <a:rPr lang="id-ID" sz="2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d-ID" sz="2400" i="1">
                            <a:latin typeface="Cambria Math"/>
                            <a:ea typeface="Cambria Math"/>
                            <a:cs typeface="Calibri" panose="020F0502020204030204" pitchFamily="34" charset="0"/>
                          </a:rPr>
                          <m:t>𝜇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id-ID" sz="2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d-ID" sz="2400" i="1">
                            <a:latin typeface="Cambria Math"/>
                            <a:ea typeface="Cambria Math"/>
                            <a:cs typeface="Calibri" panose="020F0502020204030204" pitchFamily="34" charset="0"/>
                          </a:rPr>
                          <m:t>𝜇</m:t>
                        </m:r>
                      </m:e>
                    </m:acc>
                    <m:r>
                      <a:rPr lang="en-US" sz="2400" b="0" i="1">
                        <a:latin typeface="Cambria Math" panose="02040503050406030204" pitchFamily="18" charset="0"/>
                      </a:rPr>
                      <m:t>₀</m:t>
                    </m:r>
                  </m:oMath>
                </a14:m>
                <a:endParaRPr 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 :</m:t>
                    </m:r>
                    <m:acc>
                      <m:accPr>
                        <m:chr m:val="⃗"/>
                        <m:ctrlPr>
                          <a:rPr lang="id-ID" sz="2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d-ID" sz="2400" i="1">
                            <a:latin typeface="Cambria Math"/>
                            <a:ea typeface="Cambria Math"/>
                            <a:cs typeface="Calibri" panose="020F0502020204030204" pitchFamily="34" charset="0"/>
                          </a:rPr>
                          <m:t>𝜇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</a:rPr>
                      <m:t>≠</m:t>
                    </m:r>
                    <m:acc>
                      <m:accPr>
                        <m:chr m:val="⃗"/>
                        <m:ctrlPr>
                          <a:rPr lang="id-ID" sz="2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d-ID" sz="2400" i="1">
                            <a:latin typeface="Cambria Math"/>
                            <a:ea typeface="Cambria Math"/>
                            <a:cs typeface="Calibri" panose="020F0502020204030204" pitchFamily="34" charset="0"/>
                          </a:rPr>
                          <m:t>𝜇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</a:rPr>
                      <m:t>₀</m:t>
                    </m:r>
                  </m:oMath>
                </a14:m>
                <a:endParaRPr 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u="sng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Statistik</a:t>
                </a:r>
                <a:r>
                  <a:rPr lang="en-US" sz="2400" u="sng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u="sng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Uji</a:t>
                </a:r>
                <a:endParaRPr lang="en-US" sz="2400" u="sng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⃗"/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id-ID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d-ID" sz="2400" i="1">
                                        <a:latin typeface="Cambria Math"/>
                                        <a:ea typeface="Cambria Math"/>
                                        <a:cs typeface="Calibri" panose="020F0502020204030204" pitchFamily="34" charset="0"/>
                                      </a:rPr>
                                      <m:t>𝜇</m:t>
                                    </m:r>
                                  </m:e>
                                </m:acc>
                              </m:num>
                              <m:den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l-GR" sz="2400" b="1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𝚺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1/2</m:t>
                                    </m:r>
                                  </m:sup>
                                </m:s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/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∼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</a:rPr>
                          <m:t>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id-ID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d-ID" sz="2400" i="1">
                                        <a:latin typeface="Cambria Math"/>
                                        <a:ea typeface="Cambria Math"/>
                                        <a:cs typeface="Calibri" panose="020F0502020204030204" pitchFamily="34" charset="0"/>
                                      </a:rPr>
                                      <m:t>𝜇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l-GR" sz="24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𝚺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⃗"/>
                                <m:ctrlPr>
                                  <a:rPr lang="id-ID" sz="2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d-ID" sz="2400" i="1">
                                    <a:latin typeface="Cambria Math"/>
                                    <a:ea typeface="Cambria Math"/>
                                    <a:cs typeface="Calibri" panose="020F0502020204030204" pitchFamily="34" charset="0"/>
                                  </a:rPr>
                                  <m:t>𝜇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/>
                          </a:rPr>
                          <m:t>𝑡</m:t>
                        </m:r>
                      </m:sup>
                    </m:sSup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sz="2400" b="1" i="0"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id-ID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d-ID" sz="2400" i="1">
                                <a:latin typeface="Cambria Math"/>
                                <a:ea typeface="Cambria Math"/>
                                <a:cs typeface="Calibri" panose="020F0502020204030204" pitchFamily="34" charset="0"/>
                              </a:rPr>
                              <m:t>𝜇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∼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</a:rPr>
                          <m:t>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en-US" sz="2400" u="sng" dirty="0">
                    <a:latin typeface="Calibri" panose="020F0502020204030204" pitchFamily="34" charset="0"/>
                    <a:cs typeface="Calibri" panose="020F0502020204030204" pitchFamily="34" charset="0"/>
                  </a:rPr>
                  <a:t>Daerah </a:t>
                </a:r>
                <a:r>
                  <a:rPr lang="en-US" sz="2400" u="sng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Kritis</a:t>
                </a:r>
                <a:endParaRPr lang="en-US" sz="2400" u="sng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𝑑𝑖𝑡𝑜𝑙𝑎𝑘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𝑗𝑖𝑘𝑎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2400" i="1">
                              <a:latin typeface="Cambria Math" panose="02040503050406030204" pitchFamily="18" charset="0"/>
                            </a:rPr>
                            <m:t>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l-GR" sz="2400" i="1">
                              <a:latin typeface="Cambria Math" panose="02040503050406030204" pitchFamily="18" charset="0"/>
                            </a:rPr>
                            <m:t>α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21002" y="1556792"/>
                <a:ext cx="6823670" cy="4680520"/>
              </a:xfrm>
              <a:blipFill>
                <a:blip r:embed="rId2"/>
                <a:stretch>
                  <a:fillRect l="-1430" t="-1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 txBox="1">
                <a:spLocks/>
              </p:cNvSpPr>
              <p:nvPr/>
            </p:nvSpPr>
            <p:spPr>
              <a:xfrm>
                <a:off x="829072" y="1628800"/>
                <a:ext cx="4402832" cy="158417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Wingdings 3" charset="2"/>
                  <a:buNone/>
                </a:pPr>
                <a:r>
                  <a:rPr lang="id-ID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Asumsi 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d-ID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sz="2400" b="0" i="1" smtClean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id-ID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id-ID" sz="2400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id-ID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sz="2400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id-ID" sz="24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id-ID" sz="2400" b="0" i="1" smtClean="0">
                        <a:latin typeface="Cambria Math"/>
                      </a:rPr>
                      <m:t>, …,</m:t>
                    </m:r>
                    <m:sSub>
                      <m:sSubPr>
                        <m:ctrlPr>
                          <a:rPr lang="id-ID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sz="2400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id-ID" sz="2400" b="0" i="1" smtClean="0">
                            <a:latin typeface="Cambria Math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id-ID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berdistribusi Normal Multivariat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d-ID" sz="2400" b="0" i="0" smtClean="0">
                        <a:latin typeface="Cambria Math"/>
                        <a:cs typeface="Calibri" panose="020F0502020204030204" pitchFamily="34" charset="0"/>
                      </a:rPr>
                      <m:t>N</m:t>
                    </m:r>
                    <m:r>
                      <a:rPr lang="id-ID" sz="2400" b="1" i="1" smtClean="0">
                        <a:latin typeface="Cambria Math"/>
                        <a:cs typeface="Calibri" panose="020F0502020204030204" pitchFamily="34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id-ID" sz="24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d-ID" sz="2400" i="1">
                            <a:latin typeface="Cambria Math"/>
                            <a:ea typeface="Cambria Math"/>
                            <a:cs typeface="Calibri" panose="020F0502020204030204" pitchFamily="34" charset="0"/>
                          </a:rPr>
                          <m:t>𝜇</m:t>
                        </m:r>
                      </m:e>
                    </m:acc>
                    <m:r>
                      <a:rPr lang="id-ID" sz="2400" b="1" i="1" smtClean="0">
                        <a:latin typeface="Cambria Math"/>
                        <a:ea typeface="Cambria Math"/>
                        <a:cs typeface="Calibri" panose="020F0502020204030204" pitchFamily="34" charset="0"/>
                      </a:rPr>
                      <m:t>, </m:t>
                    </m:r>
                    <m:r>
                      <a:rPr lang="el-GR" sz="2400" b="1" i="0" smtClean="0">
                        <a:latin typeface="Cambria Math"/>
                        <a:ea typeface="Cambria Math"/>
                        <a:cs typeface="Calibri" panose="020F0502020204030204" pitchFamily="34" charset="0"/>
                      </a:rPr>
                      <m:t>𝚺</m:t>
                    </m:r>
                    <m:r>
                      <a:rPr lang="id-ID" sz="2400" b="1" i="1" smtClean="0">
                        <a:latin typeface="Cambria Math"/>
                        <a:ea typeface="Cambria Math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endParaRPr lang="id-ID" sz="24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072" y="1628800"/>
                <a:ext cx="4402832" cy="1584176"/>
              </a:xfrm>
              <a:prstGeom prst="rect">
                <a:avLst/>
              </a:prstGeom>
              <a:blipFill rotWithShape="1">
                <a:blip r:embed="rId3"/>
                <a:stretch>
                  <a:fillRect l="-2078" t="-3077" r="-34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4230278"/>
      </p:ext>
    </p:extLst>
  </p:cSld>
  <p:clrMapOvr>
    <a:masterClrMapping/>
  </p:clrMapOvr>
  <p:transition spd="slow">
    <p:push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1504" y="692696"/>
            <a:ext cx="10369152" cy="720080"/>
          </a:xfrm>
        </p:spPr>
        <p:txBody>
          <a:bodyPr>
            <a:noAutofit/>
          </a:bodyPr>
          <a:lstStyle/>
          <a:p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Uji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Hipotesis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Rata-rata Data </a:t>
            </a:r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Multivariat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l-GR" b="1" dirty="0">
                <a:latin typeface="Calibri" panose="020F0502020204030204" pitchFamily="34" charset="0"/>
                <a:cs typeface="Calibri" panose="020F0502020204030204" pitchFamily="34" charset="0"/>
              </a:rPr>
              <a:t>Σ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diketahui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321002" y="1556792"/>
                <a:ext cx="6823670" cy="4680520"/>
              </a:xfrm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 :</m:t>
                    </m:r>
                    <m:acc>
                      <m:accPr>
                        <m:chr m:val="⃗"/>
                        <m:ctrlPr>
                          <a:rPr lang="id-ID" sz="2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d-ID" sz="2400" i="1">
                            <a:latin typeface="Cambria Math"/>
                            <a:ea typeface="Cambria Math"/>
                            <a:cs typeface="Calibri" panose="020F0502020204030204" pitchFamily="34" charset="0"/>
                          </a:rPr>
                          <m:t>𝜇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id-ID" sz="2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d-ID" sz="2400" i="1">
                            <a:latin typeface="Cambria Math"/>
                            <a:ea typeface="Cambria Math"/>
                            <a:cs typeface="Calibri" panose="020F0502020204030204" pitchFamily="34" charset="0"/>
                          </a:rPr>
                          <m:t>𝜇</m:t>
                        </m:r>
                      </m:e>
                    </m:acc>
                    <m:r>
                      <a:rPr lang="en-US" sz="2400" b="0" i="1">
                        <a:latin typeface="Cambria Math" panose="02040503050406030204" pitchFamily="18" charset="0"/>
                      </a:rPr>
                      <m:t>₀</m:t>
                    </m:r>
                  </m:oMath>
                </a14:m>
                <a:endParaRPr 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 :</m:t>
                    </m:r>
                    <m:acc>
                      <m:accPr>
                        <m:chr m:val="⃗"/>
                        <m:ctrlPr>
                          <a:rPr lang="id-ID" sz="2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d-ID" sz="2400" i="1">
                            <a:latin typeface="Cambria Math"/>
                            <a:ea typeface="Cambria Math"/>
                            <a:cs typeface="Calibri" panose="020F0502020204030204" pitchFamily="34" charset="0"/>
                          </a:rPr>
                          <m:t>𝜇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</a:rPr>
                      <m:t>≠</m:t>
                    </m:r>
                    <m:acc>
                      <m:accPr>
                        <m:chr m:val="⃗"/>
                        <m:ctrlPr>
                          <a:rPr lang="id-ID" sz="2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d-ID" sz="2400" i="1">
                            <a:latin typeface="Cambria Math"/>
                            <a:ea typeface="Cambria Math"/>
                            <a:cs typeface="Calibri" panose="020F0502020204030204" pitchFamily="34" charset="0"/>
                          </a:rPr>
                          <m:t>𝜇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</a:rPr>
                      <m:t>₀</m:t>
                    </m:r>
                  </m:oMath>
                </a14:m>
                <a:endParaRPr 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u="sng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Statistik</a:t>
                </a:r>
                <a:r>
                  <a:rPr lang="en-US" sz="2400" u="sng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u="sng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Uji</a:t>
                </a:r>
                <a:endParaRPr lang="en-US" sz="2400" u="sng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/>
                          </a:rPr>
                          <m:t>𝑇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⃗"/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id-ID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d-ID" sz="2400" i="1">
                                        <a:latin typeface="Cambria Math"/>
                                        <a:ea typeface="Cambria Math"/>
                                        <a:cs typeface="Calibri" panose="020F0502020204030204" pitchFamily="34" charset="0"/>
                                      </a:rPr>
                                      <m:t>𝜇</m:t>
                                    </m:r>
                                  </m:e>
                                </m:acc>
                              </m:num>
                              <m:den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1" i="0" smtClean="0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𝐒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1/2</m:t>
                                    </m:r>
                                  </m:sup>
                                </m:s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/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∼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𝐻𝑜𝑡𝑡𝑒𝑙𝑖𝑛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id-ID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d-ID" sz="2400" i="1">
                                        <a:latin typeface="Cambria Math"/>
                                        <a:ea typeface="Cambria Math"/>
                                        <a:cs typeface="Calibri" panose="020F0502020204030204" pitchFamily="34" charset="0"/>
                                      </a:rPr>
                                      <m:t>𝜇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400" b="1" i="0" smtClean="0">
                            <a:latin typeface="Cambria Math"/>
                            <a:ea typeface="Cambria Math" panose="02040503050406030204" pitchFamily="18" charset="0"/>
                          </a:rPr>
                          <m:t>𝐒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⃗"/>
                                <m:ctrlPr>
                                  <a:rPr lang="id-ID" sz="2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d-ID" sz="2400" i="1">
                                    <a:latin typeface="Cambria Math"/>
                                    <a:ea typeface="Cambria Math"/>
                                    <a:cs typeface="Calibri" panose="020F0502020204030204" pitchFamily="34" charset="0"/>
                                  </a:rPr>
                                  <m:t>𝜇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/>
                          </a:rPr>
                          <m:t>𝑡</m:t>
                        </m:r>
                      </m:sup>
                    </m:sSup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0" smtClean="0">
                            <a:latin typeface="Cambria Math"/>
                          </a:rPr>
                          <m:t>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id-ID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d-ID" sz="2400" i="1">
                                <a:latin typeface="Cambria Math"/>
                                <a:ea typeface="Cambria Math"/>
                                <a:cs typeface="Calibri" panose="020F0502020204030204" pitchFamily="34" charset="0"/>
                              </a:rPr>
                              <m:t>𝜇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∼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𝐻𝑜𝑡𝑡𝑒𝑙𝑖𝑛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en-US" sz="2400" u="sng" dirty="0">
                    <a:latin typeface="Calibri" panose="020F0502020204030204" pitchFamily="34" charset="0"/>
                    <a:cs typeface="Calibri" panose="020F0502020204030204" pitchFamily="34" charset="0"/>
                  </a:rPr>
                  <a:t>Daerah </a:t>
                </a:r>
                <a:r>
                  <a:rPr lang="en-US" sz="2400" u="sng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Kritis</a:t>
                </a:r>
                <a:endParaRPr lang="en-US" sz="2400" u="sng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𝑑𝑖𝑡𝑜𝑙𝑎𝑘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𝑗𝑖𝑘𝑎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l-GR" sz="2400" i="1">
                              <a:latin typeface="Cambria Math" panose="02040503050406030204" pitchFamily="18" charset="0"/>
                            </a:rPr>
                            <m:t>α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21002" y="1556792"/>
                <a:ext cx="6823670" cy="4680520"/>
              </a:xfrm>
              <a:blipFill>
                <a:blip r:embed="rId2"/>
                <a:stretch>
                  <a:fillRect l="-1430" t="-1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 txBox="1">
                <a:spLocks/>
              </p:cNvSpPr>
              <p:nvPr/>
            </p:nvSpPr>
            <p:spPr>
              <a:xfrm>
                <a:off x="829072" y="1628800"/>
                <a:ext cx="4402832" cy="158417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Wingdings 3" charset="2"/>
                  <a:buNone/>
                </a:pPr>
                <a:r>
                  <a:rPr lang="id-ID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Asumsi 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d-ID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sz="2400" b="0" i="1" smtClean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id-ID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id-ID" sz="2400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id-ID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sz="2400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id-ID" sz="24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id-ID" sz="2400" b="0" i="1" smtClean="0">
                        <a:latin typeface="Cambria Math"/>
                      </a:rPr>
                      <m:t>, …,</m:t>
                    </m:r>
                    <m:sSub>
                      <m:sSubPr>
                        <m:ctrlPr>
                          <a:rPr lang="id-ID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sz="2400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id-ID" sz="2400" b="0" i="1" smtClean="0">
                            <a:latin typeface="Cambria Math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id-ID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berdistribusi Normal Multivariat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d-ID" sz="2400" b="0" i="0" smtClean="0">
                        <a:latin typeface="Cambria Math"/>
                        <a:cs typeface="Calibri" panose="020F0502020204030204" pitchFamily="34" charset="0"/>
                      </a:rPr>
                      <m:t>N</m:t>
                    </m:r>
                    <m:r>
                      <a:rPr lang="id-ID" sz="2400" b="1" i="1" smtClean="0">
                        <a:latin typeface="Cambria Math"/>
                        <a:cs typeface="Calibri" panose="020F0502020204030204" pitchFamily="34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id-ID" sz="24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d-ID" sz="2400" i="1">
                            <a:latin typeface="Cambria Math"/>
                            <a:ea typeface="Cambria Math"/>
                            <a:cs typeface="Calibri" panose="020F0502020204030204" pitchFamily="34" charset="0"/>
                          </a:rPr>
                          <m:t>𝜇</m:t>
                        </m:r>
                      </m:e>
                    </m:acc>
                    <m:r>
                      <a:rPr lang="id-ID" sz="2400" b="1" i="1" smtClean="0">
                        <a:latin typeface="Cambria Math"/>
                        <a:ea typeface="Cambria Math"/>
                        <a:cs typeface="Calibri" panose="020F0502020204030204" pitchFamily="34" charset="0"/>
                      </a:rPr>
                      <m:t>, </m:t>
                    </m:r>
                    <m:r>
                      <a:rPr lang="el-GR" sz="2400" b="1" i="0" smtClean="0">
                        <a:latin typeface="Cambria Math"/>
                        <a:ea typeface="Cambria Math"/>
                        <a:cs typeface="Calibri" panose="020F0502020204030204" pitchFamily="34" charset="0"/>
                      </a:rPr>
                      <m:t>𝚺</m:t>
                    </m:r>
                    <m:r>
                      <a:rPr lang="id-ID" sz="2400" b="1" i="1" smtClean="0">
                        <a:latin typeface="Cambria Math"/>
                        <a:ea typeface="Cambria Math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endParaRPr lang="id-ID" sz="24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072" y="1628800"/>
                <a:ext cx="4402832" cy="1584176"/>
              </a:xfrm>
              <a:prstGeom prst="rect">
                <a:avLst/>
              </a:prstGeom>
              <a:blipFill rotWithShape="1">
                <a:blip r:embed="rId3"/>
                <a:stretch>
                  <a:fillRect l="-2078" t="-3077" r="-34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7734335"/>
      </p:ext>
    </p:extLst>
  </p:cSld>
  <p:clrMapOvr>
    <a:masterClrMapping/>
  </p:clrMapOvr>
  <p:transition spd="slow">
    <p:push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2" y="116632"/>
            <a:ext cx="10972800" cy="708688"/>
          </a:xfrm>
        </p:spPr>
        <p:txBody>
          <a:bodyPr>
            <a:normAutofit/>
          </a:bodyPr>
          <a:lstStyle/>
          <a:p>
            <a:r>
              <a:rPr lang="en-US" dirty="0" err="1"/>
              <a:t>Univariat</a:t>
            </a:r>
            <a:r>
              <a:rPr lang="en-US" dirty="0"/>
              <a:t> vs. </a:t>
            </a:r>
            <a:r>
              <a:rPr lang="en-US" dirty="0" err="1"/>
              <a:t>Multivariat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600" y="908720"/>
            <a:ext cx="7315200" cy="5698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263654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11424" y="1295425"/>
                <a:ext cx="10906520" cy="32659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Pandang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pengujian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hipotesis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nol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bahwa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variansi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populasi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serta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Pengujian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hipotesis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ini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digunakan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untuk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mengidentifikasi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keseragaman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suatu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populasi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Pada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uji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variansi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univariate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khususnya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1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populasi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statistik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yang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cocok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sebagai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dasar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keputusan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adalah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statistik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chi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kuadrat</a:t>
                </a:r>
                <a:endParaRPr 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Jika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dianggap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bahwa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distribusi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populasi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asal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dari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sampel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adalah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normal,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maka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nilai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chi-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kuadrat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untuk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menguji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adalah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endParaRPr lang="en-US" sz="2000" i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Sup>
                            <m:sSub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4163"/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dengan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n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ukuran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sampel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variansi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sampel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dan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adalah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nilai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yang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tertentu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Jika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tidak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ditolak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maka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ialah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nilai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distribusi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chi-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kuadrat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dengan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derajat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kebebasan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sz="2000" b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424" y="1295425"/>
                <a:ext cx="10906520" cy="3265959"/>
              </a:xfrm>
              <a:prstGeom prst="rect">
                <a:avLst/>
              </a:prstGeom>
              <a:blipFill>
                <a:blip r:embed="rId2"/>
                <a:stretch>
                  <a:fillRect l="-503" t="-935" b="-2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1644756" y="654696"/>
            <a:ext cx="5315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latin typeface="+mj-lt"/>
              </a:rPr>
              <a:t>Uji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Variansi</a:t>
            </a:r>
            <a:r>
              <a:rPr lang="en-US" sz="3200" b="1" dirty="0">
                <a:latin typeface="+mj-lt"/>
              </a:rPr>
              <a:t> Data </a:t>
            </a:r>
            <a:r>
              <a:rPr lang="en-US" sz="3200" b="1" dirty="0" err="1">
                <a:latin typeface="+mj-lt"/>
              </a:rPr>
              <a:t>Univariat</a:t>
            </a:r>
            <a:endParaRPr lang="en-US" sz="3200" b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13429"/>
                  </p:ext>
                </p:extLst>
              </p:nvPr>
            </p:nvGraphicFramePr>
            <p:xfrm>
              <a:off x="1091140" y="4941168"/>
              <a:ext cx="10537780" cy="14396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3444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63444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63444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63444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𝑯𝒐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𝑯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Uji</a:t>
                          </a:r>
                          <a:r>
                            <a:rPr lang="en-US" dirty="0"/>
                            <a:t> </a:t>
                          </a:r>
                          <a:r>
                            <a:rPr lang="en-US" dirty="0" err="1"/>
                            <a:t>statistik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Daerah </a:t>
                          </a:r>
                          <a:r>
                            <a:rPr lang="en-US" dirty="0" err="1"/>
                            <a:t>Kritis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≠</m:t>
                                </m:r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𝜒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bSup>
                                      <m:sSub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den>
                                </m:f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−1;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~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Χ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Χ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Χ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Χ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  <a:p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Χ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dan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Χ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Χ</m:t>
                                  </m:r>
                                </m:e>
                                <m:sub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13429"/>
                  </p:ext>
                </p:extLst>
              </p:nvPr>
            </p:nvGraphicFramePr>
            <p:xfrm>
              <a:off x="1091140" y="4941168"/>
              <a:ext cx="10537780" cy="14396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3444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63444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63444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63444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31" t="-8197" r="-300462" b="-2918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463" t="-8197" r="-201157" b="-2918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 smtClean="0"/>
                            <a:t>Uji</a:t>
                          </a:r>
                          <a:r>
                            <a:rPr lang="en-US" dirty="0" smtClean="0"/>
                            <a:t> </a:t>
                          </a:r>
                          <a:r>
                            <a:rPr lang="en-US" dirty="0" err="1" smtClean="0"/>
                            <a:t>statistik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Daerah </a:t>
                          </a:r>
                          <a:r>
                            <a:rPr lang="en-US" dirty="0" err="1" smtClean="0"/>
                            <a:t>Kritis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0687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31" t="-37500" r="-300462" b="-1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463" t="-37500" r="-201157" b="-1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37500" r="-100693" b="-1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694" t="-37500" r="-926" b="-11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00001231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1176"/>
            <a:ext cx="10972800" cy="1143000"/>
          </a:xfrm>
        </p:spPr>
        <p:txBody>
          <a:bodyPr/>
          <a:lstStyle/>
          <a:p>
            <a:r>
              <a:rPr lang="en-US" dirty="0" err="1"/>
              <a:t>Uji</a:t>
            </a:r>
            <a:r>
              <a:rPr lang="en-US" dirty="0"/>
              <a:t> </a:t>
            </a:r>
            <a:r>
              <a:rPr lang="en-US" dirty="0" err="1"/>
              <a:t>Matriks</a:t>
            </a:r>
            <a:r>
              <a:rPr lang="en-US" dirty="0"/>
              <a:t> </a:t>
            </a:r>
            <a:r>
              <a:rPr lang="en-US" dirty="0" err="1"/>
              <a:t>Kovariansi</a:t>
            </a:r>
            <a:r>
              <a:rPr lang="en-US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56792"/>
                <a:ext cx="10972800" cy="438912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Untuk </a:t>
                </a: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kasus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multivariate, </a:t>
                </a: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hipotesis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dari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uji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matriks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kovariansi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adalah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:</a:t>
                </a: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d-ID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:Ʃ=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d-ID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:Ʃ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Ʃ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atin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dengan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statistik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uji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u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:</a:t>
                </a:r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Untuk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𝜐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cukup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besar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satistik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𝑢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dapat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didekati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oleh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distribusi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Chi </a:t>
                </a: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Kuadrat</a:t>
                </a:r>
                <a:endParaRPr 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                                                  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𝑢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~</m:t>
                    </m:r>
                    <m:sSubSup>
                      <m:sSubSupPr>
                        <m:ctrlPr>
                          <a:rPr lang="en-US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𝜒</m:t>
                        </m:r>
                      </m:e>
                      <m:sub>
                        <m:d>
                          <m:dPr>
                            <m:begChr m:val="["/>
                            <m:endChr m:val="]"/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𝑝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(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𝑝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+1)</m:t>
                            </m:r>
                          </m:e>
                        </m:d>
                      </m:sub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Nilai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S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yang </a:t>
                </a: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mendekati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menghasilkan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nila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u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yang </a:t>
                </a: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mendekati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0</a:t>
                </a:r>
              </a:p>
              <a:p>
                <a:pPr marL="0" indent="0">
                  <a:buNone/>
                </a:pPr>
                <a:endParaRPr 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56792"/>
                <a:ext cx="10972800" cy="4389120"/>
              </a:xfrm>
              <a:blipFill>
                <a:blip r:embed="rId15"/>
                <a:stretch>
                  <a:fillRect l="-833" t="-1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07768" y="2886760"/>
            <a:ext cx="5451004" cy="6977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840416" y="3073100"/>
                <a:ext cx="2469876" cy="5053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nary>
                      <m:naryPr>
                        <m:chr m:val="∑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400" dirty="0"/>
                  <a:t>-1)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0416" y="3073100"/>
                <a:ext cx="2469876" cy="505395"/>
              </a:xfrm>
              <a:prstGeom prst="rect">
                <a:avLst/>
              </a:prstGeom>
              <a:blipFill>
                <a:blip r:embed="rId17"/>
                <a:stretch>
                  <a:fillRect t="-4819" b="-228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7928611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Pendekatan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b="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dengan</a:t>
                </a:r>
                <a:r>
                  <a:rPr lang="en-US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b="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statistik</a:t>
                </a:r>
                <a:r>
                  <a:rPr lang="en-US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b="1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u</a:t>
                </a:r>
                <a:endParaRPr lang="en-US" i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2052" t="-56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Untuk</a:t>
                </a:r>
                <a:r>
                  <a:rPr lang="en-US" dirty="0"/>
                  <a:t> </a:t>
                </a:r>
                <a:r>
                  <a:rPr lang="en-US" dirty="0" err="1"/>
                  <a:t>nilai</a:t>
                </a:r>
                <a:r>
                  <a:rPr lang="en-US" dirty="0"/>
                  <a:t> 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v</a:t>
                </a:r>
                <a:r>
                  <a:rPr lang="en-US" dirty="0"/>
                  <a:t>  yang </a:t>
                </a:r>
                <a:r>
                  <a:rPr lang="en-US" dirty="0" err="1"/>
                  <a:t>sedang</a:t>
                </a:r>
                <a:r>
                  <a:rPr lang="en-US" dirty="0"/>
                  <a:t>, </a:t>
                </a:r>
                <a:r>
                  <a:rPr lang="en-US" dirty="0" err="1"/>
                  <a:t>maka</a:t>
                </a:r>
                <a:r>
                  <a:rPr lang="en-US" dirty="0"/>
                  <a:t> 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                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𝑢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1−</m:t>
                        </m:r>
                        <m:f>
                          <m:fPr>
                            <m:ctrlPr>
                              <a:rPr lang="en-US" sz="28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6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𝜈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−1</m:t>
                            </m:r>
                          </m:den>
                        </m:f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2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𝑝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+1−</m:t>
                            </m:r>
                            <m:f>
                              <m:f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𝑝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+1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𝑢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akan</a:t>
                </a:r>
                <a:r>
                  <a:rPr lang="en-US" dirty="0"/>
                  <a:t> </a:t>
                </a:r>
                <a:r>
                  <a:rPr lang="en-US" dirty="0" err="1"/>
                  <a:t>mendekati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Kriteria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Uji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: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Tolak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0 </m:t>
                        </m:r>
                      </m:sub>
                    </m:sSub>
                  </m:oMath>
                </a14:m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jika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atau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19"/>
                <a:stretch>
                  <a:fillRect l="-1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575720" y="4581128"/>
                <a:ext cx="1638525" cy="710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f>
                            <m:f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5720" y="4581128"/>
                <a:ext cx="1638525" cy="71025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663952" y="5517232"/>
                <a:ext cx="1679240" cy="729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; 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3952" y="5517232"/>
                <a:ext cx="1679240" cy="729943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7472316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4000" y="3010166"/>
            <a:ext cx="3506788" cy="818630"/>
          </a:xfrm>
        </p:spPr>
        <p:txBody>
          <a:bodyPr>
            <a:normAutofit/>
          </a:bodyPr>
          <a:lstStyle/>
          <a:p>
            <a:r>
              <a:rPr lang="en-US" sz="4400" b="1" dirty="0"/>
              <a:t>STUDI KASUS</a:t>
            </a:r>
          </a:p>
        </p:txBody>
      </p:sp>
    </p:spTree>
    <p:extLst>
      <p:ext uri="{BB962C8B-B14F-4D97-AF65-F5344CB8AC3E}">
        <p14:creationId xmlns:p14="http://schemas.microsoft.com/office/powerpoint/2010/main" val="743239942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9496" y="557850"/>
            <a:ext cx="9361040" cy="793528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 err="1"/>
              <a:t>Uji</a:t>
            </a:r>
            <a:r>
              <a:rPr lang="en-US" sz="4000" b="1" dirty="0"/>
              <a:t> Rata-rata Data </a:t>
            </a:r>
            <a:r>
              <a:rPr lang="en-US" sz="4000" b="1" dirty="0" err="1"/>
              <a:t>Univariat</a:t>
            </a:r>
            <a:r>
              <a:rPr lang="en-US" sz="4000" b="1" dirty="0"/>
              <a:t> (</a:t>
            </a:r>
            <a:r>
              <a:rPr lang="el-GR" sz="4000" b="1" dirty="0"/>
              <a:t>σ</a:t>
            </a:r>
            <a:r>
              <a:rPr lang="en-US" sz="4000" b="1" dirty="0"/>
              <a:t> </a:t>
            </a:r>
            <a:r>
              <a:rPr lang="en-US" sz="4000" b="1" dirty="0" err="1"/>
              <a:t>diketahui</a:t>
            </a:r>
            <a:r>
              <a:rPr lang="en-US" sz="4000" b="1" dirty="0"/>
              <a:t>)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897632" y="1417638"/>
                <a:ext cx="5918448" cy="4801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Sampel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acak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dari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100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kematian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yang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tercatat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di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Amerika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Serikat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selama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1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tahun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terakhir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menunjukkan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rentang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hidup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rata-rata 71.8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tahun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Dengan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asumsi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standar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deviasi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populasi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8.9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tahun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Apakh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hal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ini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tampak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menunjukkan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bahwa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masa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hidup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rata-rata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ini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lebih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dari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70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tahun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?</a:t>
                </a:r>
              </a:p>
              <a:p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Uji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Hipotesis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=70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𝑡𝑎h𝑢𝑛</m:t>
                      </m:r>
                    </m:oMath>
                  </m:oMathPara>
                </a14:m>
                <a:endParaRPr lang="en-US" b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70 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𝑡𝑎h𝑢𝑛</m:t>
                      </m:r>
                    </m:oMath>
                  </m:oMathPara>
                </a14:m>
                <a:endParaRPr lang="en-US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Misal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X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suatu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peubah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acak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yang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menyatakan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kematian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yang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tercatat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di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Amerika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Serikat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Diketahui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=100</m:t>
                      </m:r>
                    </m:oMath>
                  </m:oMathPara>
                </a14:m>
                <a:endParaRPr lang="en-US" b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=71.8</m:t>
                      </m:r>
                    </m:oMath>
                  </m:oMathPara>
                </a14:m>
                <a:endParaRPr lang="en-US" b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=8.9</m:t>
                      </m:r>
                    </m:oMath>
                  </m:oMathPara>
                </a14:m>
                <a:endParaRPr lang="en-US" b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=70</m:t>
                      </m:r>
                    </m:oMath>
                  </m:oMathPara>
                </a14:m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632" y="1417638"/>
                <a:ext cx="5918448" cy="4801314"/>
              </a:xfrm>
              <a:prstGeom prst="rect">
                <a:avLst/>
              </a:prstGeom>
              <a:blipFill rotWithShape="0">
                <a:blip r:embed="rId2"/>
                <a:stretch>
                  <a:fillRect l="-824" t="-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946304" y="1432128"/>
                <a:ext cx="4766320" cy="33650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Statistik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Uji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>
                  <a:tabLst>
                    <a:tab pos="9948863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f>
                            <m:fPr>
                              <m:type m:val="skw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71.8−70</m:t>
                          </m:r>
                        </m:num>
                        <m:den>
                          <m:f>
                            <m:fPr>
                              <m:type m:val="skw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8.9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100</m:t>
                                  </m:r>
                                </m:e>
                              </m:rad>
                            </m:den>
                          </m:f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180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89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=2.02247191</m:t>
                      </m:r>
                    </m:oMath>
                  </m:oMathPara>
                </a14:m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tabLst>
                    <a:tab pos="9948863" algn="l"/>
                  </a:tabLst>
                </a:pP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tabLst>
                    <a:tab pos="9948863" algn="l"/>
                  </a:tabLst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P-value yang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bersesuaian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dengan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=2.02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sebagai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berikut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>
                  <a:tabLst>
                    <a:tab pos="9948863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&gt;2.02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≤2.02</m:t>
                          </m:r>
                        </m:e>
                      </m:d>
                    </m:oMath>
                  </m:oMathPara>
                </a14:m>
                <a:endParaRPr lang="en-US" b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>
                  <a:tabLst>
                    <a:tab pos="9948863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=1−0.9783</m:t>
                      </m:r>
                    </m:oMath>
                  </m:oMathPara>
                </a14:m>
                <a:endParaRPr lang="en-US" b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tabLst>
                    <a:tab pos="9948863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𝟎𝟐𝟏𝟕</m:t>
                      </m:r>
                    </m:oMath>
                  </m:oMathPara>
                </a14:m>
                <a:endParaRPr lang="en-US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tabLst>
                    <a:tab pos="9948863" algn="l"/>
                  </a:tabLst>
                </a:pPr>
                <a:endParaRPr lang="en-US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tabLst>
                    <a:tab pos="9948863" algn="l"/>
                  </a:tabLst>
                </a:pP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Jadi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ditolak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untuk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≥0.0217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6304" y="1432128"/>
                <a:ext cx="4766320" cy="3365024"/>
              </a:xfrm>
              <a:prstGeom prst="rect">
                <a:avLst/>
              </a:prstGeom>
              <a:blipFill>
                <a:blip r:embed="rId3"/>
                <a:stretch>
                  <a:fillRect l="-1023" t="-1087" b="-1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7439983"/>
      </p:ext>
    </p:extLst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5000" y="566240"/>
            <a:ext cx="9599075" cy="793528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 err="1">
                <a:latin typeface="Calibri" panose="020F0502020204030204" pitchFamily="34" charset="0"/>
                <a:cs typeface="Calibri" panose="020F0502020204030204" pitchFamily="34" charset="0"/>
              </a:rPr>
              <a:t>Uji</a:t>
            </a:r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 Rata-rata Data </a:t>
            </a:r>
            <a:r>
              <a:rPr lang="en-US" sz="4000" b="1" dirty="0" err="1">
                <a:latin typeface="Calibri" panose="020F0502020204030204" pitchFamily="34" charset="0"/>
                <a:cs typeface="Calibri" panose="020F0502020204030204" pitchFamily="34" charset="0"/>
              </a:rPr>
              <a:t>Univariat</a:t>
            </a:r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l-GR" sz="4000" b="1" dirty="0">
                <a:latin typeface="Calibri" panose="020F0502020204030204" pitchFamily="34" charset="0"/>
                <a:cs typeface="Calibri" panose="020F0502020204030204" pitchFamily="34" charset="0"/>
              </a:rPr>
              <a:t>σ</a:t>
            </a:r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latin typeface="Calibri" panose="020F0502020204030204" pitchFamily="34" charset="0"/>
                <a:cs typeface="Calibri" panose="020F0502020204030204" pitchFamily="34" charset="0"/>
              </a:rPr>
              <a:t>tak</a:t>
            </a:r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latin typeface="Calibri" panose="020F0502020204030204" pitchFamily="34" charset="0"/>
                <a:cs typeface="Calibri" panose="020F0502020204030204" pitchFamily="34" charset="0"/>
              </a:rPr>
              <a:t>diketahui</a:t>
            </a:r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839416" y="1417638"/>
                <a:ext cx="5774432" cy="5078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Lembaga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listrik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Edison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telah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menerbitkan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angka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pada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jumlah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kilowatt jam yang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digunakan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pertahun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oleh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berbagai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peralatan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rumah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tangga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Itu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diklaim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bahwa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pembersih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vakum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menggunakan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rata-rata 46 jam kilowatt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pertahun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Jika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sampel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acak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dari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12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rumah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tangga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termasuk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dalam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studi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direncanakan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menunjukkan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bahwa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pembersih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vakum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menggunakan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rata-rata 42 jam kilowatt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pertahun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dengan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standar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deviasi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11.9 kilowatt jam.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Apakah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hal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ini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menunjukkan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bahwa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pembersih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vakum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menggunakan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rata-rata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kurang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dari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46 jam kilowatt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pertahun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?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Asumsikan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populasi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kilowatt jam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berdistribusi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Normal.</a:t>
                </a:r>
              </a:p>
              <a:p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Uji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Hipotesis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=46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𝑗𝑎𝑚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𝑘𝑖𝑙𝑜𝑤𝑎𝑡𝑡</m:t>
                      </m:r>
                    </m:oMath>
                  </m:oMathPara>
                </a14:m>
                <a:endParaRPr lang="en-US" b="0" i="1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&lt;46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𝑗𝑎𝑚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𝑘𝑖𝑙𝑜𝑤𝑎𝑡𝑡</m:t>
                      </m:r>
                    </m:oMath>
                  </m:oMathPara>
                </a14:m>
                <a:endParaRPr lang="en-US" b="0" i="1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Misal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X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suatu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peubah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acak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yang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menyatakan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jumlah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kilowatt jam yang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digunakan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pertahun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oleh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pembersih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vakum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416" y="1417638"/>
                <a:ext cx="5774432" cy="5078313"/>
              </a:xfrm>
              <a:prstGeom prst="rect">
                <a:avLst/>
              </a:prstGeom>
              <a:blipFill rotWithShape="0">
                <a:blip r:embed="rId2"/>
                <a:stretch>
                  <a:fillRect l="-950" t="-720" r="-739" b="-9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946304" y="1720284"/>
                <a:ext cx="4982344" cy="44730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Diketahui: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=12</m:t>
                      </m:r>
                    </m:oMath>
                  </m:oMathPara>
                </a14:m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=42</m:t>
                      </m:r>
                    </m:oMath>
                  </m:oMathPara>
                </a14:m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=11.9</m:t>
                      </m:r>
                    </m:oMath>
                  </m:oMathPara>
                </a14:m>
                <a:endParaRPr lang="en-US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=46</m:t>
                      </m:r>
                    </m:oMath>
                  </m:oMathPara>
                </a14:m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Statistik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Uji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f>
                            <m:fPr>
                              <m:type m:val="skw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46</m:t>
                          </m:r>
                        </m:num>
                        <m:den>
                          <m:f>
                            <m:fPr>
                              <m:type m:val="skw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.9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100</m:t>
                                  </m:r>
                                </m:e>
                              </m:rad>
                            </m:den>
                          </m:f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−1.164403904</m:t>
                      </m:r>
                    </m:oMath>
                  </m:oMathPara>
                </a14:m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tabLst>
                    <a:tab pos="9948863" algn="l"/>
                  </a:tabLst>
                </a:pP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tabLst>
                    <a:tab pos="9948863" algn="l"/>
                  </a:tabLst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P-value yang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bersesuaian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dengan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=−1.1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sebagai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berikut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>
                  <a:tabLst>
                    <a:tab pos="9948863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&lt;−1.16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𝟏𝟐𝟑𝟎</m:t>
                      </m:r>
                    </m:oMath>
                  </m:oMathPara>
                </a14:m>
                <a:endParaRPr lang="en-US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tabLst>
                    <a:tab pos="9948863" algn="l"/>
                  </a:tabLst>
                </a:pPr>
                <a:endParaRPr lang="en-US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tabLst>
                    <a:tab pos="9948863" algn="l"/>
                  </a:tabLst>
                </a:pP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Jadi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tidak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ditolak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untuk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0.1230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6304" y="1720284"/>
                <a:ext cx="4982344" cy="4473019"/>
              </a:xfrm>
              <a:prstGeom prst="rect">
                <a:avLst/>
              </a:prstGeom>
              <a:blipFill>
                <a:blip r:embed="rId3"/>
                <a:stretch>
                  <a:fillRect l="-978" t="-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4431117"/>
      </p:ext>
    </p:extLst>
  </p:cSld>
  <p:clrMapOvr>
    <a:masterClrMapping/>
  </p:clrMapOvr>
  <p:transition spd="slow">
    <p:push dir="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0252" y="556184"/>
            <a:ext cx="8911687" cy="800403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b="1" dirty="0" err="1">
                <a:latin typeface="Calibri" panose="020F0502020204030204" pitchFamily="34" charset="0"/>
                <a:cs typeface="Calibri" panose="020F0502020204030204" pitchFamily="34" charset="0"/>
              </a:rPr>
              <a:t>Uji</a:t>
            </a:r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 Rata-rata Data </a:t>
            </a:r>
            <a:r>
              <a:rPr lang="en-US" sz="4000" b="1" dirty="0" err="1">
                <a:latin typeface="Calibri" panose="020F0502020204030204" pitchFamily="34" charset="0"/>
                <a:cs typeface="Calibri" panose="020F0502020204030204" pitchFamily="34" charset="0"/>
              </a:rPr>
              <a:t>Multivariat</a:t>
            </a:r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l-GR" sz="4000" b="1" dirty="0">
                <a:latin typeface="Calibri" panose="020F0502020204030204" pitchFamily="34" charset="0"/>
                <a:cs typeface="Calibri" panose="020F0502020204030204" pitchFamily="34" charset="0"/>
              </a:rPr>
              <a:t>Σ</a:t>
            </a:r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latin typeface="Calibri" panose="020F0502020204030204" pitchFamily="34" charset="0"/>
                <a:cs typeface="Calibri" panose="020F0502020204030204" pitchFamily="34" charset="0"/>
              </a:rPr>
              <a:t>diketahui</a:t>
            </a:r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9963" y="1571947"/>
            <a:ext cx="6220693" cy="3000794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39416" y="1424513"/>
                <a:ext cx="5196885" cy="51775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Pada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tabel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3.1,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tinggi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badan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dan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berat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badan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diberikan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untuk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suatu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sampel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berukuran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20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dari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mahasiswa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laki-laki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Misalkan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diasumsikan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bahwa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sampel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tersebut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berdistribusi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normal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bivariat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</m:d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dengan</a:t>
                </a: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1000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Uji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Hipotesis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170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170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Diketahui: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=71.45</m:t>
                      </m:r>
                    </m:oMath>
                  </m:oMathPara>
                </a14:m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=164.7</m:t>
                      </m:r>
                    </m:oMath>
                  </m:oMathPara>
                </a14:m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Maka,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1.45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164.7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170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416" y="1424513"/>
                <a:ext cx="5196885" cy="5177508"/>
              </a:xfrm>
              <a:prstGeom prst="rect">
                <a:avLst/>
              </a:prstGeom>
              <a:blipFill rotWithShape="0">
                <a:blip r:embed="rId3"/>
                <a:stretch>
                  <a:fillRect l="-1056" t="-7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0075347"/>
      </p:ext>
    </p:extLst>
  </p:cSld>
  <p:clrMapOvr>
    <a:masterClrMapping/>
  </p:clrMapOvr>
  <p:transition spd="slow">
    <p:push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6000" y="609060"/>
            <a:ext cx="9478552" cy="710952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 err="1">
                <a:latin typeface="Calibri" panose="020F0502020204030204" pitchFamily="34" charset="0"/>
                <a:cs typeface="Calibri" panose="020F0502020204030204" pitchFamily="34" charset="0"/>
              </a:rPr>
              <a:t>Uji</a:t>
            </a:r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 Rata-rata Data </a:t>
            </a:r>
            <a:r>
              <a:rPr lang="en-US" sz="4000" b="1" dirty="0" err="1">
                <a:latin typeface="Calibri" panose="020F0502020204030204" pitchFamily="34" charset="0"/>
                <a:cs typeface="Calibri" panose="020F0502020204030204" pitchFamily="34" charset="0"/>
              </a:rPr>
              <a:t>Multivariat</a:t>
            </a:r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l-GR" sz="4000" b="1" dirty="0">
                <a:latin typeface="Calibri" panose="020F0502020204030204" pitchFamily="34" charset="0"/>
                <a:cs typeface="Calibri" panose="020F0502020204030204" pitchFamily="34" charset="0"/>
              </a:rPr>
              <a:t>Σ</a:t>
            </a:r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latin typeface="Calibri" panose="020F0502020204030204" pitchFamily="34" charset="0"/>
                <a:cs typeface="Calibri" panose="020F0502020204030204" pitchFamily="34" charset="0"/>
              </a:rPr>
              <a:t>diketahui</a:t>
            </a:r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630110" y="3564596"/>
                <a:ext cx="7202194" cy="28887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Daerah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Kritis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Karena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b="0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l-GR" b="0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,2</m:t>
                        </m:r>
                      </m:sub>
                      <m:sup>
                        <m:r>
                          <a:rPr lang="en-US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untuk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&lt;0.01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maka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tidak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ditolak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ketika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&lt;0.01</m:t>
                    </m:r>
                  </m:oMath>
                </a14:m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0110" y="3564596"/>
                <a:ext cx="7202194" cy="2888740"/>
              </a:xfrm>
              <a:prstGeom prst="rect">
                <a:avLst/>
              </a:prstGeom>
              <a:blipFill rotWithShape="0">
                <a:blip r:embed="rId2"/>
                <a:stretch>
                  <a:fillRect l="-677" t="-1266" b="-18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1486819"/>
                  </p:ext>
                </p:extLst>
              </p:nvPr>
            </p:nvGraphicFramePr>
            <p:xfrm>
              <a:off x="2219966" y="4005153"/>
              <a:ext cx="1859809" cy="18689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8947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7033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0430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dirty="0"/>
                            <a:t>α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l-GR" b="1" i="1" smtClean="0">
                                        <a:latin typeface="Cambria Math" panose="02040503050406030204" pitchFamily="18" charset="0"/>
                                      </a:rPr>
                                      <m:t>𝝌</m:t>
                                    </m:r>
                                  </m:e>
                                  <m:sub>
                                    <m:r>
                                      <a:rPr lang="el-GR" b="1" i="1" smtClean="0">
                                        <a:latin typeface="Cambria Math" panose="02040503050406030204" pitchFamily="18" charset="0"/>
                                      </a:rPr>
                                      <m:t>𝜶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309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0.025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7.378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309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0.02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7.824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4309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0.01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9.210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4309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0.005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10.597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1486819"/>
                  </p:ext>
                </p:extLst>
              </p:nvPr>
            </p:nvGraphicFramePr>
            <p:xfrm>
              <a:off x="2219966" y="4005153"/>
              <a:ext cx="1859809" cy="18689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89474"/>
                    <a:gridCol w="970335"/>
                  </a:tblGrid>
                  <a:tr h="40589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dirty="0" smtClean="0"/>
                            <a:t>α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91875" t="-7463" r="-2500" b="-382090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0.025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7.378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0.02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7.824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0.01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9.210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0.005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10.597</a:t>
                          </a:r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cxnSp>
        <p:nvCxnSpPr>
          <p:cNvPr id="7" name="Straight Arrow Connector 6"/>
          <p:cNvCxnSpPr/>
          <p:nvPr/>
        </p:nvCxnSpPr>
        <p:spPr>
          <a:xfrm>
            <a:off x="3185179" y="5134257"/>
            <a:ext cx="144016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598947" y="4949591"/>
                <a:ext cx="14814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8.4026=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8947" y="4949591"/>
                <a:ext cx="1481431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1630111" y="1687523"/>
                <a:ext cx="5690025" cy="19096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Statistik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Uji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b="1" i="1">
                              <a:latin typeface="Cambria Math" panose="02040503050406030204" pitchFamily="18" charset="0"/>
                            </a:rPr>
                            <m:t>𝜮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=20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1.45−70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164.7−170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1000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1.45−70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164.7−170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20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.45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−5.3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.1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−0.01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−0.01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0.002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.45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−5.3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i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𝟒𝟎𝟐𝟔</m:t>
                      </m:r>
                    </m:oMath>
                  </m:oMathPara>
                </a14:m>
                <a:endParaRPr lang="en-US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0111" y="1687523"/>
                <a:ext cx="5690025" cy="1909690"/>
              </a:xfrm>
              <a:prstGeom prst="rect">
                <a:avLst/>
              </a:prstGeom>
              <a:blipFill rotWithShape="0">
                <a:blip r:embed="rId5"/>
                <a:stretch>
                  <a:fillRect l="-857" t="-1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4284957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1504" y="620688"/>
            <a:ext cx="9950896" cy="572642"/>
          </a:xfrm>
        </p:spPr>
        <p:txBody>
          <a:bodyPr>
            <a:noAutofit/>
          </a:bodyPr>
          <a:lstStyle/>
          <a:p>
            <a:r>
              <a:rPr lang="en-US" sz="4000" b="1" dirty="0" err="1">
                <a:latin typeface="Calibri" panose="020F0502020204030204" pitchFamily="34" charset="0"/>
                <a:cs typeface="Calibri" panose="020F0502020204030204" pitchFamily="34" charset="0"/>
              </a:rPr>
              <a:t>Uji</a:t>
            </a:r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 Rata-rata Data </a:t>
            </a:r>
            <a:r>
              <a:rPr lang="en-US" sz="4000" b="1" dirty="0" err="1">
                <a:latin typeface="Calibri" panose="020F0502020204030204" pitchFamily="34" charset="0"/>
                <a:cs typeface="Calibri" panose="020F0502020204030204" pitchFamily="34" charset="0"/>
              </a:rPr>
              <a:t>Multivariat</a:t>
            </a:r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l-GR" sz="4000" b="1" dirty="0">
                <a:latin typeface="Calibri" panose="020F0502020204030204" pitchFamily="34" charset="0"/>
                <a:cs typeface="Calibri" panose="020F0502020204030204" pitchFamily="34" charset="0"/>
              </a:rPr>
              <a:t>Σ</a:t>
            </a:r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latin typeface="Calibri" panose="020F0502020204030204" pitchFamily="34" charset="0"/>
                <a:cs typeface="Calibri" panose="020F0502020204030204" pitchFamily="34" charset="0"/>
              </a:rPr>
              <a:t>tak</a:t>
            </a:r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latin typeface="Calibri" panose="020F0502020204030204" pitchFamily="34" charset="0"/>
                <a:cs typeface="Calibri" panose="020F0502020204030204" pitchFamily="34" charset="0"/>
              </a:rPr>
              <a:t>diketahui</a:t>
            </a:r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1574" y="1416245"/>
            <a:ext cx="3650826" cy="32888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584189" y="1412776"/>
                <a:ext cx="6167995" cy="44662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Pada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tabel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3.3 Data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parsial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dari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Kramer &amp; Jansen (1969a).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Tiga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variabel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diukur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(di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milliquivalents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per 100 gram)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pada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10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lokasi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yang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berbeda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di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selatan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Variabel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tersebut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adalah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: kalsium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tanah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tersedia</a:t>
                </a: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: kalsium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tanah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tukar</a:t>
                </a: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Terdapat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observasi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pada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variabel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Rataan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yang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diharapkan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untuk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adalah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15.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dan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6.0,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secara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berurutan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Uji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Hipotesis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𝝁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5.0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6.0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𝝁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5.0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6.0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r>
                  <a:rPr lang="en-US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Kemudian</a:t>
                </a:r>
                <a:r>
                  <a:rPr lang="en-US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didapat</a:t>
                </a:r>
                <a:r>
                  <a:rPr lang="en-US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8.1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7.18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40.5444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72.24844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2.24844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49.68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189" y="1412776"/>
                <a:ext cx="6167995" cy="4466223"/>
              </a:xfrm>
              <a:prstGeom prst="rect">
                <a:avLst/>
              </a:prstGeom>
              <a:blipFill rotWithShape="0">
                <a:blip r:embed="rId3"/>
                <a:stretch>
                  <a:fillRect l="-889" t="-8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3542064"/>
      </p:ext>
    </p:extLst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8252" y="571988"/>
            <a:ext cx="10166380" cy="793528"/>
          </a:xfrm>
        </p:spPr>
        <p:txBody>
          <a:bodyPr>
            <a:noAutofit/>
          </a:bodyPr>
          <a:lstStyle/>
          <a:p>
            <a:pPr algn="l"/>
            <a:r>
              <a:rPr lang="en-US" sz="4000" b="1" dirty="0" err="1">
                <a:latin typeface="Calibri" panose="020F0502020204030204" pitchFamily="34" charset="0"/>
                <a:cs typeface="Calibri" panose="020F0502020204030204" pitchFamily="34" charset="0"/>
              </a:rPr>
              <a:t>Uji</a:t>
            </a:r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 Rata-rata Data </a:t>
            </a:r>
            <a:r>
              <a:rPr lang="en-US" sz="4000" b="1" dirty="0" err="1">
                <a:latin typeface="Calibri" panose="020F0502020204030204" pitchFamily="34" charset="0"/>
                <a:cs typeface="Calibri" panose="020F0502020204030204" pitchFamily="34" charset="0"/>
              </a:rPr>
              <a:t>Multivariat</a:t>
            </a:r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l-GR" sz="4000" b="1" dirty="0">
                <a:latin typeface="Calibri" panose="020F0502020204030204" pitchFamily="34" charset="0"/>
                <a:cs typeface="Calibri" panose="020F0502020204030204" pitchFamily="34" charset="0"/>
              </a:rPr>
              <a:t>Σ</a:t>
            </a:r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latin typeface="Calibri" panose="020F0502020204030204" pitchFamily="34" charset="0"/>
                <a:cs typeface="Calibri" panose="020F0502020204030204" pitchFamily="34" charset="0"/>
              </a:rPr>
              <a:t>tak</a:t>
            </a:r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latin typeface="Calibri" panose="020F0502020204030204" pitchFamily="34" charset="0"/>
                <a:cs typeface="Calibri" panose="020F0502020204030204" pitchFamily="34" charset="0"/>
              </a:rPr>
              <a:t>diketahui</a:t>
            </a:r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617712" y="1681504"/>
                <a:ext cx="8582744" cy="41847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Statistik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Uji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28.1−15.0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7.18−6.0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40.5444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72.24844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72.24844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49.68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28.1−15.0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7.18−6.0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3.1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1.18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.4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−3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6.5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−3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6.5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−3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0.0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1829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3.1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1.18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i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𝟑𝟕𝟔𝟓</m:t>
                      </m:r>
                    </m:oMath>
                  </m:oMathPara>
                </a14:m>
                <a:endParaRPr lang="en-US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Daerah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Kritis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Karena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l-GR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2,9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untuk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maka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tidak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ditolak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ketika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1,</m:t>
                    </m:r>
                  </m:oMath>
                </a14:m>
                <a:endParaRPr lang="en-US" b="0" dirty="0"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Tetapi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                      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untuk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=0,05 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maka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 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7712" y="1681504"/>
                <a:ext cx="8582744" cy="4184735"/>
              </a:xfrm>
              <a:prstGeom prst="rect">
                <a:avLst/>
              </a:prstGeom>
              <a:blipFill>
                <a:blip r:embed="rId2"/>
                <a:stretch>
                  <a:fillRect l="-568" t="-875" b="-14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9044194"/>
                  </p:ext>
                </p:extLst>
              </p:nvPr>
            </p:nvGraphicFramePr>
            <p:xfrm>
              <a:off x="2063552" y="3980898"/>
              <a:ext cx="1728192" cy="11475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065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8753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dirty="0"/>
                            <a:t>α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l-GR" b="1" i="1" smtClean="0">
                                        <a:latin typeface="Cambria Math" panose="02040503050406030204" pitchFamily="18" charset="0"/>
                                      </a:rPr>
                                      <m:t>𝜶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𝟗</m:t>
                                    </m:r>
                                  </m:sub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0.05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10,033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0.01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19,460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9044194"/>
                  </p:ext>
                </p:extLst>
              </p:nvPr>
            </p:nvGraphicFramePr>
            <p:xfrm>
              <a:off x="2063552" y="3980898"/>
              <a:ext cx="1728192" cy="11475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065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8753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0589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dirty="0" smtClean="0"/>
                            <a:t>α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5460" t="-7463" r="-2454" b="-2029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0.05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10,033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0.01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19,460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0" name="Straight Arrow Connector 9"/>
          <p:cNvCxnSpPr/>
          <p:nvPr/>
        </p:nvCxnSpPr>
        <p:spPr>
          <a:xfrm>
            <a:off x="2855640" y="4725144"/>
            <a:ext cx="144016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323024" y="4526503"/>
                <a:ext cx="16140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4.3765=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3024" y="4526503"/>
                <a:ext cx="161403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273249" y="5465485"/>
                <a:ext cx="1302471" cy="3957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l-GR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,2,9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3249" y="5465485"/>
                <a:ext cx="1302471" cy="39574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735960" y="5460233"/>
                <a:ext cx="277608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ditolak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ketika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</m:oMath>
                </a14:m>
                <a:endParaRPr lang="en-US" dirty="0"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5960" y="5460233"/>
                <a:ext cx="2776081" cy="369332"/>
              </a:xfrm>
              <a:prstGeom prst="rect">
                <a:avLst/>
              </a:prstGeom>
              <a:blipFill>
                <a:blip r:embed="rId6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8617005"/>
      </p:ext>
    </p:extLst>
  </p:cSld>
  <p:clrMapOvr>
    <a:masterClrMapping/>
  </p:clrMapOvr>
  <p:transition spd="slow">
    <p:push dir="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8252" y="566247"/>
            <a:ext cx="6023355" cy="820025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 err="1">
                <a:latin typeface="Calibri" panose="020F0502020204030204" pitchFamily="34" charset="0"/>
                <a:cs typeface="Calibri" panose="020F0502020204030204" pitchFamily="34" charset="0"/>
              </a:rPr>
              <a:t>Uji</a:t>
            </a:r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latin typeface="Calibri" panose="020F0502020204030204" pitchFamily="34" charset="0"/>
                <a:cs typeface="Calibri" panose="020F0502020204030204" pitchFamily="34" charset="0"/>
              </a:rPr>
              <a:t>Variansi</a:t>
            </a:r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 Data </a:t>
            </a:r>
            <a:r>
              <a:rPr lang="en-US" sz="4000" b="1" dirty="0" err="1">
                <a:latin typeface="Calibri" panose="020F0502020204030204" pitchFamily="34" charset="0"/>
                <a:cs typeface="Calibri" panose="020F0502020204030204" pitchFamily="34" charset="0"/>
              </a:rPr>
              <a:t>Univariat</a:t>
            </a:r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459904" y="1568981"/>
                <a:ext cx="5558408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Pabrik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baterai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mengklaim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bahwa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waktu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hidup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baterai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berdistribusi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Normal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dengan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standar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deviasi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0.9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tahun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Jika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sampel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acak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dari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10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baterai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ini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memiliki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standar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deviasi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1.2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tahun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Apakah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tidak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dapat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mengatakan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bahwa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&gt;0.9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tahun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?</a:t>
                </a:r>
              </a:p>
              <a:p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Uji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Hipotesis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0.9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=0.81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𝑡𝑎h𝑢𝑛</m:t>
                      </m:r>
                    </m:oMath>
                  </m:oMathPara>
                </a14:m>
                <a:endParaRPr lang="en-US" i="1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0.9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=0.81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𝑡𝑎h𝑢𝑛</m:t>
                      </m:r>
                    </m:oMath>
                  </m:oMathPara>
                </a14:m>
                <a:endParaRPr lang="en-US" i="1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Misal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X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suatu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peubah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acak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yang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menyatakan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waktu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hidup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baterai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Diketahui: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1.2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i="1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0.9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9904" y="1568981"/>
                <a:ext cx="5558408" cy="4524315"/>
              </a:xfrm>
              <a:prstGeom prst="rect">
                <a:avLst/>
              </a:prstGeom>
              <a:blipFill rotWithShape="0">
                <a:blip r:embed="rId2"/>
                <a:stretch>
                  <a:fillRect l="-877" t="-673" r="-5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306344" y="1712997"/>
                <a:ext cx="4550296" cy="3742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Statistik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Uji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</a:rPr>
                            <m:t>χ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(10</m:t>
                          </m:r>
                          <m:r>
                            <m:rPr>
                              <m:nor/>
                            </m:rPr>
                            <a:rPr lang="en-US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−1)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1.2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0.9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=16.0</m:t>
                      </m:r>
                    </m:oMath>
                  </m:oMathPara>
                </a14:m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Daerah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Kritis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Jadi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tidak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ditolak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untuk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&lt;0.05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6344" y="1712997"/>
                <a:ext cx="4550296" cy="3742178"/>
              </a:xfrm>
              <a:prstGeom prst="rect">
                <a:avLst/>
              </a:prstGeom>
              <a:blipFill rotWithShape="0">
                <a:blip r:embed="rId3"/>
                <a:stretch>
                  <a:fillRect l="-1206" t="-814" b="-16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89633241"/>
                  </p:ext>
                </p:extLst>
              </p:nvPr>
            </p:nvGraphicFramePr>
            <p:xfrm>
              <a:off x="7738392" y="3009141"/>
              <a:ext cx="1800200" cy="18892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208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0811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dirty="0"/>
                            <a:t>α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l-GR" b="1" i="1" smtClean="0">
                                        <a:latin typeface="Cambria Math" panose="02040503050406030204" pitchFamily="18" charset="0"/>
                                      </a:rPr>
                                      <m:t>𝝌</m:t>
                                    </m:r>
                                  </m:e>
                                  <m:sub>
                                    <m:r>
                                      <a:rPr lang="el-GR" b="1" i="1" smtClean="0">
                                        <a:latin typeface="Cambria Math" panose="02040503050406030204" pitchFamily="18" charset="0"/>
                                      </a:rPr>
                                      <m:t>𝜶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12.242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14.684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0.05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16.919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0.025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19.023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89633241"/>
                  </p:ext>
                </p:extLst>
              </p:nvPr>
            </p:nvGraphicFramePr>
            <p:xfrm>
              <a:off x="7738392" y="3009141"/>
              <a:ext cx="1800200" cy="18892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2088"/>
                    <a:gridCol w="1008112"/>
                  </a:tblGrid>
                  <a:tr h="40589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dirty="0" smtClean="0"/>
                            <a:t>α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78916" t="-7463" r="-2410" b="-386567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12.242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14.684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0.05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16.919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0.025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19.023</a:t>
                          </a:r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cxnSp>
        <p:nvCxnSpPr>
          <p:cNvPr id="7" name="Straight Arrow Connector 6"/>
          <p:cNvCxnSpPr/>
          <p:nvPr/>
        </p:nvCxnSpPr>
        <p:spPr>
          <a:xfrm>
            <a:off x="8268840" y="4175415"/>
            <a:ext cx="144016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9682608" y="3990749"/>
                <a:ext cx="11912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16.0=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</a:rPr>
                            <m:t>χ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2608" y="3990749"/>
                <a:ext cx="1191288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0403061"/>
      </p:ext>
    </p:extLst>
  </p:cSld>
  <p:clrMapOvr>
    <a:masterClrMapping/>
  </p:clrMapOvr>
  <p:transition spd="slow">
    <p:push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9496" y="561932"/>
            <a:ext cx="6239379" cy="793528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 err="1">
                <a:latin typeface="Calibri" panose="020F0502020204030204" pitchFamily="34" charset="0"/>
                <a:cs typeface="Calibri" panose="020F0502020204030204" pitchFamily="34" charset="0"/>
              </a:rPr>
              <a:t>Uji</a:t>
            </a:r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latin typeface="Calibri" panose="020F0502020204030204" pitchFamily="34" charset="0"/>
                <a:cs typeface="Calibri" panose="020F0502020204030204" pitchFamily="34" charset="0"/>
              </a:rPr>
              <a:t>Variansi</a:t>
            </a:r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 Data </a:t>
            </a:r>
            <a:r>
              <a:rPr lang="en-US" sz="4000" b="1" dirty="0" err="1">
                <a:latin typeface="Calibri" panose="020F0502020204030204" pitchFamily="34" charset="0"/>
                <a:cs typeface="Calibri" panose="020F0502020204030204" pitchFamily="34" charset="0"/>
              </a:rPr>
              <a:t>Multivariat</a:t>
            </a:r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7157" y="1417638"/>
            <a:ext cx="6173061" cy="35819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09600" y="1417638"/>
                <a:ext cx="5112568" cy="53558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Rao (1948)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mengukur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berat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pengeboran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gabus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diambil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dari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arah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utara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(N),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timur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(E),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selatan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(S),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dan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barat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(W)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dari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28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pohon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Hal yang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menarik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untuk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membandingkan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ketebalan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kulit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di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empat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arah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Hal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ini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dapat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dilakukan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dengan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menganalisis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data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sebagai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desain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langkah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satu-sampel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yang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diulang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Pendekatan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ANOVA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standar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untuk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desain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tindakan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ini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akan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berlaku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jika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memenuhi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persamaan</a:t>
                </a: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b="1" i="0" smtClean="0">
                          <a:latin typeface="Cambria Math" panose="02040503050406030204" pitchFamily="18" charset="0"/>
                        </a:rPr>
                        <m:t>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0" smtClean="0"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</m:d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𝐉</m:t>
                          </m:r>
                        </m:e>
                      </m:d>
                    </m:oMath>
                  </m:oMathPara>
                </a14:m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Untuk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memerika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asumsi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ini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akan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dilakukan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uji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hipotesis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sbb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l-GR" b="1" i="0">
                          <a:latin typeface="Cambria Math" panose="02040503050406030204" pitchFamily="18" charset="0"/>
                        </a:rPr>
                        <m:t>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0" smtClean="0"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</m:d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𝐉</m:t>
                          </m:r>
                        </m:e>
                      </m:d>
                    </m:oMath>
                  </m:oMathPara>
                </a14:m>
                <a:endParaRPr lang="en-US" i="1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l-GR" b="1" i="0">
                          <a:latin typeface="Cambria Math" panose="02040503050406030204" pitchFamily="18" charset="0"/>
                        </a:rPr>
                        <m:t>𝚺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0" smtClean="0"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</m:d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𝐉</m:t>
                          </m:r>
                        </m:e>
                      </m:d>
                    </m:oMath>
                  </m:oMathPara>
                </a14:m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Diketahui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=28</m:t>
                      </m:r>
                    </m:oMath>
                  </m:oMathPara>
                </a14:m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=50,53571</m:t>
                      </m:r>
                    </m:oMath>
                  </m:oMathPara>
                </a14:m>
                <a:endParaRPr lang="en-US" b="0" i="1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46,17857</m:t>
                      </m:r>
                    </m:oMath>
                  </m:oMathPara>
                </a14:m>
                <a:endParaRPr lang="en-US" b="0" i="1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49,67857</m:t>
                      </m:r>
                    </m:oMath>
                  </m:oMathPara>
                </a14:m>
                <a:endParaRPr lang="en-US" b="0" i="1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45,17857</m:t>
                      </m:r>
                    </m:oMath>
                  </m:oMathPara>
                </a14:m>
                <a:endParaRPr lang="en-US" i="1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417638"/>
                <a:ext cx="5112568" cy="5355890"/>
              </a:xfrm>
              <a:prstGeom prst="rect">
                <a:avLst/>
              </a:prstGeom>
              <a:blipFill>
                <a:blip r:embed="rId3"/>
                <a:stretch>
                  <a:fillRect l="-954" t="-683" r="-5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677744" y="4996834"/>
                <a:ext cx="5904656" cy="16668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90,4061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223,7526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223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7526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219,9299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88,4378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226,2712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229,0595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171,3743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88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4378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229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0595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226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2712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171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3743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50,004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259,541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259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541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226,004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0" dirty="0"/>
              </a:p>
              <a:p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=25.617.563,28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7744" y="4996834"/>
                <a:ext cx="5904656" cy="166680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2143245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95400" y="1340768"/>
                <a:ext cx="2377189" cy="4230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𝑗𝑗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=271,586</m:t>
                        </m:r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00" y="1340768"/>
                <a:ext cx="2377189" cy="423065"/>
              </a:xfrm>
              <a:prstGeom prst="rect">
                <a:avLst/>
              </a:prstGeom>
              <a:blipFill>
                <a:blip r:embed="rId3"/>
                <a:stretch>
                  <a:fillRect l="-2564" t="-102899" r="-3077" b="-153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223792" y="1340768"/>
                <a:ext cx="2992742" cy="4283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−1)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𝑗𝑘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=233,072</m:t>
                        </m:r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3792" y="1340768"/>
                <a:ext cx="2992742" cy="428322"/>
              </a:xfrm>
              <a:prstGeom prst="rect">
                <a:avLst/>
              </a:prstGeom>
              <a:blipFill>
                <a:blip r:embed="rId4"/>
                <a:stretch>
                  <a:fillRect l="-2037" t="-101429" r="-1833" b="-1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680176" y="1254768"/>
                <a:ext cx="2318840" cy="5454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233,072 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271,586</m:t>
                        </m:r>
                      </m:den>
                    </m:f>
                  </m:oMath>
                </a14:m>
                <a:r>
                  <a:rPr lang="en-US" dirty="0"/>
                  <a:t>=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0,858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176" y="1254768"/>
                <a:ext cx="2318840" cy="545406"/>
              </a:xfrm>
              <a:prstGeom prst="rect">
                <a:avLst/>
              </a:prstGeom>
              <a:blipFill>
                <a:blip r:embed="rId6"/>
                <a:stretch>
                  <a:fillRect l="-2368" b="-33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51384" y="2648527"/>
                <a:ext cx="5371855" cy="6580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25.617.563,28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271,586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1−0,858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1+3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0,858</m:t>
                                  </m:r>
                                </m:e>
                              </m:d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=0,461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84" y="2648527"/>
                <a:ext cx="5371855" cy="6580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95400" y="3545648"/>
                <a:ext cx="3322961" cy="5546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−3)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</m:d>
                          </m:den>
                        </m:f>
                      </m:e>
                    </m:d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fun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00" y="3545648"/>
                <a:ext cx="3322961" cy="55463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7680176" y="53732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83432" y="4158392"/>
                <a:ext cx="4019114" cy="5335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27−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d>
                          </m:num>
                          <m:den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e>
                            </m:d>
                          </m:den>
                        </m:f>
                      </m:e>
                    </m:d>
                  </m:oMath>
                </a14:m>
                <a:r>
                  <a:rPr lang="en-US" dirty="0"/>
                  <a:t> (-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0,774)=19,511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432" y="4158392"/>
                <a:ext cx="4019114" cy="533544"/>
              </a:xfrm>
              <a:prstGeom prst="rect">
                <a:avLst/>
              </a:prstGeom>
              <a:blipFill>
                <a:blip r:embed="rId9"/>
                <a:stretch>
                  <a:fillRect b="-11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705536" y="4960731"/>
                <a:ext cx="25626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Tolak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0 </m:t>
                        </m:r>
                      </m:sub>
                    </m:sSub>
                  </m:oMath>
                </a14:m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jika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atau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536" y="4960731"/>
                <a:ext cx="2562689" cy="369332"/>
              </a:xfrm>
              <a:prstGeom prst="rect">
                <a:avLst/>
              </a:prstGeom>
              <a:blipFill>
                <a:blip r:embed="rId10"/>
                <a:stretch>
                  <a:fillRect l="-2143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71790" y="5557882"/>
                <a:ext cx="10400989" cy="6909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+mj-lt"/>
                  </a:rPr>
                  <a:t>Dari table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0,05 ;8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>
                    <a:latin typeface="+mj-lt"/>
                  </a:rPr>
                  <a:t>  </a:t>
                </a:r>
                <a:r>
                  <a:rPr lang="en-US" dirty="0" err="1">
                    <a:latin typeface="+mj-lt"/>
                  </a:rPr>
                  <a:t>didapat</a:t>
                </a:r>
                <a:r>
                  <a:rPr lang="en-US" dirty="0">
                    <a:latin typeface="+mj-lt"/>
                  </a:rPr>
                  <a:t> </a:t>
                </a:r>
                <a:r>
                  <a:rPr lang="en-US" dirty="0" err="1">
                    <a:latin typeface="+mj-lt"/>
                  </a:rPr>
                  <a:t>nilai</a:t>
                </a:r>
                <a:r>
                  <a:rPr lang="en-US" dirty="0">
                    <a:latin typeface="+mj-lt"/>
                  </a:rPr>
                  <a:t>  15,5  , </a:t>
                </a:r>
                <a:r>
                  <a:rPr lang="en-US" dirty="0" err="1">
                    <a:latin typeface="+mj-lt"/>
                  </a:rPr>
                  <a:t>sehingga</a:t>
                </a:r>
                <a:r>
                  <a:rPr lang="en-US" dirty="0">
                    <a:latin typeface="+mj-lt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latin typeface="+mj-lt"/>
                  </a:rPr>
                  <a:t> </a:t>
                </a:r>
                <a:r>
                  <a:rPr lang="en-US" dirty="0" err="1">
                    <a:latin typeface="+mj-lt"/>
                  </a:rPr>
                  <a:t>ditolak</a:t>
                </a:r>
                <a:r>
                  <a:rPr lang="en-US" dirty="0">
                    <a:latin typeface="+mj-lt"/>
                  </a:rPr>
                  <a:t>, </a:t>
                </a:r>
                <a:r>
                  <a:rPr lang="en-US" dirty="0" err="1">
                    <a:latin typeface="+mj-lt"/>
                  </a:rPr>
                  <a:t>dan</a:t>
                </a:r>
                <a:r>
                  <a:rPr lang="en-US" dirty="0">
                    <a:latin typeface="+mj-lt"/>
                  </a:rPr>
                  <a:t> </a:t>
                </a:r>
                <a:r>
                  <a:rPr lang="en-US" dirty="0" err="1">
                    <a:latin typeface="+mj-lt"/>
                  </a:rPr>
                  <a:t>disimpulkan</a:t>
                </a:r>
                <a:r>
                  <a:rPr lang="en-US" dirty="0">
                    <a:latin typeface="+mj-lt"/>
                  </a:rPr>
                  <a:t> </a:t>
                </a:r>
                <a:r>
                  <a:rPr lang="en-US" dirty="0" err="1">
                    <a:latin typeface="+mj-lt"/>
                  </a:rPr>
                  <a:t>bahwa</a:t>
                </a:r>
                <a:r>
                  <a:rPr lang="en-US" dirty="0">
                    <a:latin typeface="+mj-lt"/>
                  </a:rPr>
                  <a:t>   </a:t>
                </a:r>
                <a14:m>
                  <m:oMath xmlns:m="http://schemas.openxmlformats.org/officeDocument/2006/math">
                    <m:r>
                      <a:rPr lang="el-GR" b="1">
                        <a:latin typeface="Cambria Math" panose="02040503050406030204" pitchFamily="18" charset="0"/>
                      </a:rPr>
                      <m:t>𝚺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</m:d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𝐈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𝐉</m:t>
                        </m:r>
                      </m:e>
                    </m:d>
                  </m:oMath>
                </a14:m>
                <a:r>
                  <a:rPr lang="en-US" dirty="0">
                    <a:latin typeface="+mj-lt"/>
                  </a:rPr>
                  <a:t>,</a:t>
                </a:r>
              </a:p>
              <a:p>
                <a:r>
                  <a:rPr lang="en-US" dirty="0" err="1">
                    <a:latin typeface="+mj-lt"/>
                  </a:rPr>
                  <a:t>Artinya</a:t>
                </a:r>
                <a:r>
                  <a:rPr lang="en-US" dirty="0">
                    <a:latin typeface="+mj-lt"/>
                  </a:rPr>
                  <a:t> </a:t>
                </a:r>
                <a:r>
                  <a:rPr lang="en-US" dirty="0" err="1">
                    <a:latin typeface="+mj-lt"/>
                    <a:cs typeface="Calibri" panose="020F0502020204030204" pitchFamily="34" charset="0"/>
                  </a:rPr>
                  <a:t>Pendekatan</a:t>
                </a:r>
                <a:r>
                  <a:rPr lang="en-US" dirty="0">
                    <a:latin typeface="+mj-lt"/>
                    <a:cs typeface="Calibri" panose="020F0502020204030204" pitchFamily="34" charset="0"/>
                  </a:rPr>
                  <a:t> ANOVA </a:t>
                </a:r>
                <a:r>
                  <a:rPr lang="en-US" dirty="0" err="1">
                    <a:latin typeface="+mj-lt"/>
                    <a:cs typeface="Calibri" panose="020F0502020204030204" pitchFamily="34" charset="0"/>
                  </a:rPr>
                  <a:t>standar</a:t>
                </a:r>
                <a:r>
                  <a:rPr lang="en-US" dirty="0">
                    <a:latin typeface="+mj-lt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+mj-lt"/>
                    <a:cs typeface="Calibri" panose="020F0502020204030204" pitchFamily="34" charset="0"/>
                  </a:rPr>
                  <a:t>untuk</a:t>
                </a:r>
                <a:r>
                  <a:rPr lang="en-US" dirty="0">
                    <a:latin typeface="+mj-lt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+mj-lt"/>
                    <a:cs typeface="Calibri" panose="020F0502020204030204" pitchFamily="34" charset="0"/>
                  </a:rPr>
                  <a:t>desain</a:t>
                </a:r>
                <a:r>
                  <a:rPr lang="en-US" dirty="0">
                    <a:latin typeface="+mj-lt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+mj-lt"/>
                    <a:cs typeface="Calibri" panose="020F0502020204030204" pitchFamily="34" charset="0"/>
                  </a:rPr>
                  <a:t>tindakan</a:t>
                </a:r>
                <a:r>
                  <a:rPr lang="en-US" dirty="0">
                    <a:latin typeface="+mj-lt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+mj-lt"/>
                    <a:cs typeface="Calibri" panose="020F0502020204030204" pitchFamily="34" charset="0"/>
                  </a:rPr>
                  <a:t>ini</a:t>
                </a:r>
                <a:r>
                  <a:rPr lang="en-US" dirty="0">
                    <a:latin typeface="+mj-lt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+mj-lt"/>
                    <a:cs typeface="Calibri" panose="020F0502020204030204" pitchFamily="34" charset="0"/>
                  </a:rPr>
                  <a:t>tidak</a:t>
                </a:r>
                <a:r>
                  <a:rPr lang="en-US" dirty="0">
                    <a:latin typeface="+mj-lt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+mj-lt"/>
                    <a:cs typeface="Calibri" panose="020F0502020204030204" pitchFamily="34" charset="0"/>
                  </a:rPr>
                  <a:t>berlaku</a:t>
                </a:r>
                <a:endParaRPr lang="en-US" dirty="0">
                  <a:latin typeface="+mj-lt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790" y="5557882"/>
                <a:ext cx="10400989" cy="690958"/>
              </a:xfrm>
              <a:prstGeom prst="rect">
                <a:avLst/>
              </a:prstGeom>
              <a:blipFill>
                <a:blip r:embed="rId11"/>
                <a:stretch>
                  <a:fillRect l="-469" t="-1770" b="-132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705536" y="2021514"/>
            <a:ext cx="1492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>
                <a:latin typeface="+mj-lt"/>
                <a:cs typeface="Arial" panose="020B0604020202020204" pitchFamily="34" charset="0"/>
              </a:rPr>
              <a:t>Statistik</a:t>
            </a:r>
            <a:r>
              <a:rPr lang="en-US" sz="2000" b="1" dirty="0">
                <a:latin typeface="+mj-lt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+mj-lt"/>
                <a:cs typeface="Arial" panose="020B0604020202020204" pitchFamily="34" charset="0"/>
              </a:rPr>
              <a:t>uji</a:t>
            </a:r>
            <a:r>
              <a:rPr lang="en-US" sz="2000" b="1" dirty="0">
                <a:latin typeface="+mj-lt"/>
                <a:cs typeface="Arial" panose="020B0604020202020204" pitchFamily="34" charset="0"/>
              </a:rPr>
              <a:t> 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3432" y="548680"/>
            <a:ext cx="55960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Uji</a:t>
            </a:r>
            <a:r>
              <a:rPr lang="en-US" sz="36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Variansi</a:t>
            </a:r>
            <a:r>
              <a:rPr lang="en-US" sz="36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Data </a:t>
            </a:r>
            <a:r>
              <a:rPr lang="en-US" sz="3600" b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Multivariat</a:t>
            </a:r>
            <a:endParaRPr lang="en-US" sz="3600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072589" y="4859395"/>
                <a:ext cx="1444434" cy="658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f>
                            <m:f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2589" y="4859395"/>
                <a:ext cx="1444434" cy="658898"/>
              </a:xfrm>
              <a:prstGeom prst="rect">
                <a:avLst/>
              </a:prstGeom>
              <a:blipFill>
                <a:blip r:embed="rId12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3796726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9112" y="1556792"/>
            <a:ext cx="10363200" cy="147002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err="1"/>
              <a:t>Uji</a:t>
            </a:r>
            <a:r>
              <a:rPr lang="en-US" b="1" dirty="0"/>
              <a:t> Rata-rata </a:t>
            </a:r>
            <a:r>
              <a:rPr lang="en-US" b="1" dirty="0" err="1"/>
              <a:t>dan</a:t>
            </a:r>
            <a:r>
              <a:rPr lang="en-US" b="1" dirty="0"/>
              <a:t> </a:t>
            </a:r>
            <a:r>
              <a:rPr lang="en-US" b="1" dirty="0" err="1"/>
              <a:t>Uji</a:t>
            </a:r>
            <a:r>
              <a:rPr lang="en-US" b="1" dirty="0"/>
              <a:t> </a:t>
            </a:r>
            <a:r>
              <a:rPr lang="en-US" b="1" dirty="0" err="1"/>
              <a:t>Variansi</a:t>
            </a:r>
            <a:r>
              <a:rPr lang="en-US" b="1" dirty="0"/>
              <a:t> </a:t>
            </a:r>
            <a:br>
              <a:rPr lang="en-US" b="1" dirty="0"/>
            </a:br>
            <a:r>
              <a:rPr lang="en-US" b="1" dirty="0"/>
              <a:t>2 </a:t>
            </a:r>
            <a:r>
              <a:rPr lang="en-US" b="1" dirty="0" err="1"/>
              <a:t>Populasi</a:t>
            </a:r>
            <a:endParaRPr lang="id-ID" b="1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18724777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/>
          <p:cNvGrpSpPr/>
          <p:nvPr/>
        </p:nvGrpSpPr>
        <p:grpSpPr>
          <a:xfrm>
            <a:off x="407368" y="1484784"/>
            <a:ext cx="10945216" cy="4693714"/>
            <a:chOff x="911424" y="1471590"/>
            <a:chExt cx="10238778" cy="4693714"/>
          </a:xfrm>
        </p:grpSpPr>
        <p:sp>
          <p:nvSpPr>
            <p:cNvPr id="4" name="Rounded Rectangle 3"/>
            <p:cNvSpPr/>
            <p:nvPr/>
          </p:nvSpPr>
          <p:spPr>
            <a:xfrm>
              <a:off x="5438412" y="1471590"/>
              <a:ext cx="2088232" cy="64321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DATA 2 POPULASI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3642960" y="2695726"/>
              <a:ext cx="1512168" cy="57606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UJI RATA-RATA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8555621" y="2693295"/>
              <a:ext cx="1584176" cy="57606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UJI VARIANSI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675993" y="3625146"/>
              <a:ext cx="1539365" cy="66234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UNIVARIAT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505173" y="3627205"/>
              <a:ext cx="1670766" cy="66795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MULTIVARIAT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7793450" y="3625146"/>
              <a:ext cx="1538021" cy="66795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UNIVARIAT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9472049" y="3625146"/>
              <a:ext cx="1678153" cy="61217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MULTIVARIAT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911424" y="4761040"/>
              <a:ext cx="1404156" cy="61217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Uji Rata</a:t>
              </a:r>
              <a:r>
                <a:rPr lang="en-US" sz="1600"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lang="id-ID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id-ID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Berpasangan</a:t>
              </a:r>
              <a:endParaRPr 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2648102" y="4761040"/>
              <a:ext cx="1554480" cy="61217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Uji Rata</a:t>
              </a:r>
              <a:r>
                <a:rPr lang="en-US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r>
                <a:rPr lang="id-ID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 Tak</a:t>
              </a:r>
            </a:p>
            <a:p>
              <a:pPr algn="ctr"/>
              <a:r>
                <a:rPr lang="id-ID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Berpasangan</a:t>
              </a:r>
              <a:endParaRPr 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4896098" y="4761040"/>
              <a:ext cx="1404156" cy="61217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Uji Rata</a:t>
              </a:r>
              <a:r>
                <a:rPr lang="en-US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lang="id-ID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id-ID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Berpasangan</a:t>
              </a:r>
              <a:endParaRPr 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423002" y="4761040"/>
              <a:ext cx="1404156" cy="61217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Uji Rata</a:t>
              </a:r>
              <a:r>
                <a:rPr lang="en-US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r>
                <a:rPr lang="id-ID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 Tak</a:t>
              </a:r>
            </a:p>
            <a:p>
              <a:pPr algn="ctr"/>
              <a:r>
                <a:rPr lang="id-ID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Berpasangan</a:t>
              </a:r>
              <a:endParaRPr 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0" name="Straight Connector 19"/>
            <p:cNvCxnSpPr>
              <a:stCxn id="4" idx="2"/>
              <a:endCxn id="5" idx="0"/>
            </p:cNvCxnSpPr>
            <p:nvPr/>
          </p:nvCxnSpPr>
          <p:spPr>
            <a:xfrm flipH="1">
              <a:off x="4106264" y="2114800"/>
              <a:ext cx="2376264" cy="5809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5" idx="2"/>
              <a:endCxn id="7" idx="0"/>
            </p:cNvCxnSpPr>
            <p:nvPr/>
          </p:nvCxnSpPr>
          <p:spPr>
            <a:xfrm flipH="1">
              <a:off x="2445676" y="3271790"/>
              <a:ext cx="1660588" cy="3533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>
              <a:endCxn id="11" idx="0"/>
            </p:cNvCxnSpPr>
            <p:nvPr/>
          </p:nvCxnSpPr>
          <p:spPr>
            <a:xfrm flipH="1">
              <a:off x="1613502" y="4287491"/>
              <a:ext cx="735015" cy="4735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>
              <a:stCxn id="8" idx="2"/>
              <a:endCxn id="14" idx="0"/>
            </p:cNvCxnSpPr>
            <p:nvPr/>
          </p:nvCxnSpPr>
          <p:spPr>
            <a:xfrm flipH="1">
              <a:off x="5598176" y="4295155"/>
              <a:ext cx="742380" cy="4658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>
              <a:stCxn id="6" idx="2"/>
              <a:endCxn id="9" idx="0"/>
            </p:cNvCxnSpPr>
            <p:nvPr/>
          </p:nvCxnSpPr>
          <p:spPr>
            <a:xfrm flipH="1">
              <a:off x="8562461" y="3269359"/>
              <a:ext cx="785248" cy="3557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>
              <a:stCxn id="4" idx="2"/>
              <a:endCxn id="6" idx="0"/>
            </p:cNvCxnSpPr>
            <p:nvPr/>
          </p:nvCxnSpPr>
          <p:spPr>
            <a:xfrm>
              <a:off x="6482528" y="2114800"/>
              <a:ext cx="2865180" cy="5784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>
              <a:stCxn id="5" idx="2"/>
              <a:endCxn id="8" idx="0"/>
            </p:cNvCxnSpPr>
            <p:nvPr/>
          </p:nvCxnSpPr>
          <p:spPr>
            <a:xfrm>
              <a:off x="4399044" y="3271790"/>
              <a:ext cx="1941513" cy="35541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endCxn id="13" idx="0"/>
            </p:cNvCxnSpPr>
            <p:nvPr/>
          </p:nvCxnSpPr>
          <p:spPr>
            <a:xfrm>
              <a:off x="2379154" y="4295155"/>
              <a:ext cx="971026" cy="4658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>
              <a:stCxn id="8" idx="2"/>
              <a:endCxn id="15" idx="0"/>
            </p:cNvCxnSpPr>
            <p:nvPr/>
          </p:nvCxnSpPr>
          <p:spPr>
            <a:xfrm>
              <a:off x="6340557" y="4295155"/>
              <a:ext cx="784524" cy="4658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>
              <a:stCxn id="6" idx="2"/>
              <a:endCxn id="10" idx="0"/>
            </p:cNvCxnSpPr>
            <p:nvPr/>
          </p:nvCxnSpPr>
          <p:spPr>
            <a:xfrm>
              <a:off x="9347708" y="3269359"/>
              <a:ext cx="963418" cy="3557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ounded Rectangle 26"/>
            <p:cNvSpPr/>
            <p:nvPr/>
          </p:nvSpPr>
          <p:spPr>
            <a:xfrm>
              <a:off x="2111104" y="5661248"/>
              <a:ext cx="669141" cy="50405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i="1" dirty="0">
                  <a:latin typeface="Calibri" panose="020F0502020204030204" pitchFamily="34" charset="0"/>
                  <a:cs typeface="Calibri" panose="020F0502020204030204" pitchFamily="34" charset="0"/>
                </a:rPr>
                <a:t>t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5683782" y="5661248"/>
              <a:ext cx="1310921" cy="50405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𝑇</a:t>
              </a:r>
              <a:r>
                <a:rPr lang="en-US" sz="1600" baseline="30000" dirty="0"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r>
                <a:rPr lang="en-US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 ℎ𝑜𝑡𝑡𝑒𝑙𝑖𝑛𝑔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8058654" y="4444120"/>
              <a:ext cx="1005840" cy="50405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Bartlett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ounded Rectangle 34"/>
                <p:cNvSpPr/>
                <p:nvPr/>
              </p:nvSpPr>
              <p:spPr>
                <a:xfrm>
                  <a:off x="9472049" y="4444120"/>
                  <a:ext cx="1645920" cy="504056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latin typeface="+mj-lt"/>
                    </a:rPr>
                    <a:t>Box’s M</a:t>
                  </a:r>
                  <a:r>
                    <a:rPr lang="en-US" sz="1600" i="1" dirty="0">
                      <a:latin typeface="+mj-lt"/>
                    </a:rPr>
                    <a:t>,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sz="1600" i="1">
                              <a:latin typeface="Cambria Math" panose="02040503050406030204" pitchFamily="18" charset="0"/>
                            </a:rPr>
                            <m:t>χ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US" sz="1600" i="1" dirty="0">
                      <a:latin typeface="+mj-lt"/>
                    </a:rPr>
                    <a:t>, F</a:t>
                  </a:r>
                  <a:endParaRPr lang="en-US" sz="1600" dirty="0">
                    <a:latin typeface="+mj-lt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35" name="Rounded Rectangle 3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72049" y="4444120"/>
                  <a:ext cx="1645920" cy="504056"/>
                </a:xfrm>
                <a:prstGeom prst="round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id-ID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Straight Connector 39"/>
            <p:cNvCxnSpPr>
              <a:stCxn id="11" idx="2"/>
              <a:endCxn id="27" idx="0"/>
            </p:cNvCxnSpPr>
            <p:nvPr/>
          </p:nvCxnSpPr>
          <p:spPr>
            <a:xfrm>
              <a:off x="1613502" y="5373216"/>
              <a:ext cx="832173" cy="2880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>
              <a:stCxn id="13" idx="2"/>
              <a:endCxn id="27" idx="0"/>
            </p:cNvCxnSpPr>
            <p:nvPr/>
          </p:nvCxnSpPr>
          <p:spPr>
            <a:xfrm flipH="1">
              <a:off x="2445675" y="5373216"/>
              <a:ext cx="979667" cy="2880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>
              <a:stCxn id="15" idx="2"/>
              <a:endCxn id="30" idx="0"/>
            </p:cNvCxnSpPr>
            <p:nvPr/>
          </p:nvCxnSpPr>
          <p:spPr>
            <a:xfrm flipH="1">
              <a:off x="6339242" y="5373216"/>
              <a:ext cx="785838" cy="2880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stCxn id="9" idx="2"/>
              <a:endCxn id="33" idx="0"/>
            </p:cNvCxnSpPr>
            <p:nvPr/>
          </p:nvCxnSpPr>
          <p:spPr>
            <a:xfrm flipH="1">
              <a:off x="8561575" y="4293096"/>
              <a:ext cx="886" cy="1510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>
              <a:off x="10393483" y="4236233"/>
              <a:ext cx="13289" cy="2880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54543" y="1054573"/>
            <a:ext cx="4927885" cy="1143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Hirarki</a:t>
            </a:r>
            <a:r>
              <a:rPr lang="en-US" dirty="0"/>
              <a:t> </a:t>
            </a:r>
            <a:r>
              <a:rPr lang="en-US" dirty="0" err="1"/>
              <a:t>Uji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/>
              <a:t>Populasi</a:t>
            </a:r>
            <a:endParaRPr lang="id-ID" dirty="0"/>
          </a:p>
        </p:txBody>
      </p:sp>
      <p:cxnSp>
        <p:nvCxnSpPr>
          <p:cNvPr id="53" name="Straight Connector 52"/>
          <p:cNvCxnSpPr>
            <a:stCxn id="14" idx="2"/>
            <a:endCxn id="30" idx="0"/>
          </p:cNvCxnSpPr>
          <p:nvPr/>
        </p:nvCxnSpPr>
        <p:spPr>
          <a:xfrm>
            <a:off x="5417489" y="5386410"/>
            <a:ext cx="792197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6368939"/>
      </p:ext>
    </p:extLst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9496" y="0"/>
            <a:ext cx="9577064" cy="793528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b="1" dirty="0" err="1"/>
              <a:t>Uji</a:t>
            </a:r>
            <a:r>
              <a:rPr lang="en-US" sz="4000" b="1" dirty="0"/>
              <a:t> Rata-rata Data </a:t>
            </a:r>
            <a:r>
              <a:rPr lang="en-US" sz="4000" b="1" dirty="0" err="1"/>
              <a:t>Univariat</a:t>
            </a:r>
            <a:r>
              <a:rPr lang="en-US" sz="4000" b="1" dirty="0"/>
              <a:t> </a:t>
            </a:r>
            <a:r>
              <a:rPr lang="en-US" sz="4000" b="1" dirty="0" err="1"/>
              <a:t>Tak</a:t>
            </a:r>
            <a:r>
              <a:rPr lang="en-US" sz="4000" b="1" dirty="0"/>
              <a:t> </a:t>
            </a:r>
            <a:r>
              <a:rPr lang="en-US" sz="4000" b="1" dirty="0" err="1"/>
              <a:t>berpasangan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63352" y="1422068"/>
                <a:ext cx="5832648" cy="4959260"/>
              </a:xfrm>
              <a:ln>
                <a:solidFill>
                  <a:schemeClr val="tx1"/>
                </a:solidFill>
              </a:ln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id-ID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Asumsi :</a:t>
                </a: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3)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id-ID" sz="180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id-ID" sz="180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  <m:sup>
                        <m:r>
                          <a:rPr lang="id-ID" sz="180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bSup>
                    <m:r>
                      <a:rPr lang="id-ID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sSubSup>
                      <m:sSubSupPr>
                        <m:ctrlPr>
                          <a:rPr lang="en-US" sz="180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id-ID" sz="180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id-ID" sz="180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  <m:sup>
                        <m:r>
                          <a:rPr lang="id-ID" sz="180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bSup>
                    <m:r>
                      <a:rPr lang="id-ID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sSup>
                      <m:sSupPr>
                        <m:ctrlPr>
                          <a:rPr lang="en-US" sz="180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id-ID" sz="180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id-ID" sz="180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</m:oMath>
                </a14:m>
                <a:endParaRPr lang="id-ID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US" sz="1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d-ID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sz="1800" b="0" i="1" smtClean="0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id-ID" sz="1800" b="0" i="1" smtClean="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id-ID" sz="1800" b="0" i="1" smtClean="0">
                          <a:latin typeface="Cambria Math"/>
                        </a:rPr>
                        <m:t> : 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id-ID" sz="1800" b="0" i="1" smtClean="0">
                              <a:latin typeface="Cambria Math"/>
                              <a:ea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id-ID" sz="1800" i="1">
                              <a:latin typeface="Cambria Math"/>
                              <a:ea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id-ID" sz="1800" b="0" i="1" smtClean="0">
                          <a:latin typeface="Cambria Math"/>
                          <a:ea typeface="Cambria Math"/>
                        </a:rPr>
                        <m:t>=</m:t>
                      </m:r>
                      <m:sSub>
                        <m:sSubPr>
                          <m:ctrlPr>
                            <a:rPr lang="id-ID" sz="1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𝑑</m:t>
                          </m:r>
                        </m:e>
                        <m:sub>
                          <m:r>
                            <a:rPr lang="id-ID" sz="1800" b="0" i="1" smtClean="0">
                              <a:latin typeface="Cambria Math"/>
                              <a:ea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id-ID" sz="1800" b="0" dirty="0">
                  <a:latin typeface="Calibri" panose="020F0502020204030204" pitchFamily="34" charset="0"/>
                  <a:ea typeface="Cambria Math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id-ID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id-ID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Statistik uji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sz="180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id-ID" sz="1800" i="1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id-ID" sz="18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id-ID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id-ID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id-ID" sz="18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id-ID" sz="1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id-ID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sz="18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id-ID" sz="1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sz="1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id-ID" sz="1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ad>
                            <m:radPr>
                              <m:degHide m:val="on"/>
                              <m:ctrlPr>
                                <a:rPr lang="id-ID" sz="18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id-ID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d-ID" sz="18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id-ID" sz="18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id-ID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id-ID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d-ID" sz="18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id-ID" sz="1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den>
                      </m:f>
                      <m:r>
                        <a:rPr lang="en-US" sz="18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den>
                          </m:f>
                        </m:e>
                      </m:ra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id-ID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US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id-ID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Daerah kritis :</a:t>
                </a:r>
              </a:p>
              <a:p>
                <a:pPr marL="4064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d-ID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sz="1800" i="1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id-ID" sz="18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id-ID" sz="1800" i="1">
                          <a:latin typeface="Cambria Math"/>
                        </a:rPr>
                        <m:t> :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id-ID" sz="1800" i="1">
                              <a:latin typeface="Cambria Math"/>
                              <a:ea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  <a:ea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id-ID" sz="1800" i="1">
                              <a:latin typeface="Cambria Math"/>
                              <a:ea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id-ID" sz="1800" i="1">
                          <a:latin typeface="Cambria Math"/>
                          <a:ea typeface="Cambria Math"/>
                        </a:rPr>
                        <m:t>≠</m:t>
                      </m:r>
                      <m:sSub>
                        <m:sSubPr>
                          <m:ctrlPr>
                            <a:rPr lang="id-ID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/>
                            </a:rPr>
                            <m:t>𝑑</m:t>
                          </m:r>
                        </m:e>
                        <m:sub>
                          <m:r>
                            <a:rPr lang="id-ID" sz="1800" i="1">
                              <a:latin typeface="Cambria Math"/>
                              <a:ea typeface="Cambria Math"/>
                            </a:rPr>
                            <m:t>0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/>
                        </a:rPr>
                        <m:t>⇒</m:t>
                      </m:r>
                      <m:r>
                        <a:rPr lang="id-ID" sz="1800" i="1">
                          <a:latin typeface="Cambria Math"/>
                        </a:rPr>
                        <m:t>𝑡</m:t>
                      </m:r>
                      <m:r>
                        <a:rPr lang="id-ID" sz="1800" i="1">
                          <a:latin typeface="Cambria Math"/>
                        </a:rPr>
                        <m:t>&lt;</m:t>
                      </m:r>
                      <m:sSub>
                        <m:sSubPr>
                          <m:ctrlPr>
                            <a:rPr lang="id-ID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sz="1800" i="1">
                              <a:latin typeface="Cambria Math"/>
                            </a:rPr>
                            <m:t>−</m:t>
                          </m:r>
                          <m:r>
                            <a:rPr lang="id-ID" sz="1800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f>
                            <m:fPr>
                              <m:ctrlPr>
                                <a:rPr lang="id-ID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d-ID" sz="1800" i="1">
                                  <a:latin typeface="Cambria Math"/>
                                  <a:ea typeface="Cambria Math"/>
                                </a:rPr>
                                <m:t>𝛼</m:t>
                              </m:r>
                            </m:num>
                            <m:den>
                              <m:r>
                                <a:rPr lang="id-ID" sz="1800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id-ID" sz="1800" i="1">
                              <a:latin typeface="Cambria Math"/>
                            </a:rPr>
                            <m:t>,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id-ID" sz="1800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id-ID" sz="1800">
                          <a:latin typeface="Cambria Math"/>
                        </a:rPr>
                        <m:t>dan</m:t>
                      </m:r>
                      <m:r>
                        <a:rPr lang="id-ID" sz="1800" i="1">
                          <a:latin typeface="Cambria Math"/>
                        </a:rPr>
                        <m:t> </m:t>
                      </m:r>
                      <m:r>
                        <a:rPr lang="id-ID" sz="1800" i="1">
                          <a:latin typeface="Cambria Math"/>
                        </a:rPr>
                        <m:t>𝑡</m:t>
                      </m:r>
                      <m:r>
                        <a:rPr lang="id-ID" sz="1800" i="1">
                          <a:latin typeface="Cambria Math"/>
                        </a:rPr>
                        <m:t>&gt;</m:t>
                      </m:r>
                      <m:sSub>
                        <m:sSubPr>
                          <m:ctrlPr>
                            <a:rPr lang="id-ID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sz="1800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f>
                            <m:fPr>
                              <m:ctrlPr>
                                <a:rPr lang="id-ID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d-ID" sz="1800" i="1">
                                  <a:latin typeface="Cambria Math"/>
                                  <a:ea typeface="Cambria Math"/>
                                </a:rPr>
                                <m:t>𝛼</m:t>
                              </m:r>
                            </m:num>
                            <m:den>
                              <m:r>
                                <a:rPr lang="id-ID" sz="1800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id-ID" sz="1800" i="1">
                              <a:latin typeface="Cambria Math"/>
                            </a:rPr>
                            <m:t>,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sz="1800" dirty="0">
                  <a:latin typeface="Calibri" panose="020F0502020204030204" pitchFamily="34" charset="0"/>
                </a:endParaRPr>
              </a:p>
              <a:p>
                <a:pPr marL="4064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d-ID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sz="1800" i="1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id-ID" sz="18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id-ID" sz="1800" i="1">
                          <a:latin typeface="Cambria Math"/>
                        </a:rPr>
                        <m:t> :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id-ID" sz="1800" i="1">
                              <a:latin typeface="Cambria Math"/>
                              <a:ea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  <a:ea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id-ID" sz="1800" i="1">
                              <a:latin typeface="Cambria Math"/>
                              <a:ea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/>
                        </a:rPr>
                        <m:t>&lt;</m:t>
                      </m:r>
                      <m:sSub>
                        <m:sSubPr>
                          <m:ctrlPr>
                            <a:rPr lang="id-ID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/>
                            </a:rPr>
                            <m:t>𝑑</m:t>
                          </m:r>
                        </m:e>
                        <m:sub>
                          <m:r>
                            <a:rPr lang="id-ID" sz="1800" i="1">
                              <a:latin typeface="Cambria Math"/>
                              <a:ea typeface="Cambria Math"/>
                            </a:rPr>
                            <m:t>0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  <a:ea typeface="Cambria Math"/>
                        </a:rPr>
                        <m:t>⇒</m:t>
                      </m:r>
                      <m:r>
                        <a:rPr lang="id-ID" sz="1800" i="1">
                          <a:latin typeface="Cambria Math"/>
                        </a:rPr>
                        <m:t>𝑡</m:t>
                      </m:r>
                      <m:r>
                        <a:rPr lang="id-ID" sz="1800" i="1">
                          <a:latin typeface="Cambria Math"/>
                        </a:rPr>
                        <m:t>&lt;</m:t>
                      </m:r>
                      <m:sSub>
                        <m:sSubPr>
                          <m:ctrlPr>
                            <a:rPr lang="id-ID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sz="1800" i="1">
                              <a:latin typeface="Cambria Math"/>
                            </a:rPr>
                            <m:t>−</m:t>
                          </m:r>
                          <m:r>
                            <a:rPr lang="id-ID" sz="1800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id-ID" sz="1800" i="1">
                              <a:latin typeface="Cambria Math"/>
                              <a:ea typeface="Cambria Math"/>
                            </a:rPr>
                            <m:t>𝛼</m:t>
                          </m:r>
                          <m:r>
                            <a:rPr lang="id-ID" sz="1800" i="1">
                              <a:latin typeface="Cambria Math"/>
                            </a:rPr>
                            <m:t>,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id-ID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64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d-ID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sz="1800" i="1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id-ID" sz="18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id-ID" sz="1800" i="1">
                          <a:latin typeface="Cambria Math"/>
                        </a:rPr>
                        <m:t> :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id-ID" sz="1800" i="1">
                              <a:latin typeface="Cambria Math"/>
                              <a:ea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  <a:ea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id-ID" sz="1800" i="1">
                              <a:latin typeface="Cambria Math"/>
                              <a:ea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/>
                        </a:rPr>
                        <m:t>&gt;</m:t>
                      </m:r>
                      <m:sSub>
                        <m:sSubPr>
                          <m:ctrlPr>
                            <a:rPr lang="id-ID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/>
                            </a:rPr>
                            <m:t>𝑑</m:t>
                          </m:r>
                        </m:e>
                        <m:sub>
                          <m:r>
                            <a:rPr lang="id-ID" sz="1800" i="1">
                              <a:latin typeface="Cambria Math"/>
                              <a:ea typeface="Cambria Math"/>
                            </a:rPr>
                            <m:t>0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  <a:ea typeface="Cambria Math"/>
                        </a:rPr>
                        <m:t>⇒</m:t>
                      </m:r>
                      <m:r>
                        <a:rPr lang="id-ID" sz="1800" i="1">
                          <a:latin typeface="Cambria Math"/>
                        </a:rPr>
                        <m:t>𝑡</m:t>
                      </m:r>
                      <m:r>
                        <a:rPr lang="id-ID" sz="1800" i="1">
                          <a:latin typeface="Cambria Math"/>
                        </a:rPr>
                        <m:t>&gt;</m:t>
                      </m:r>
                      <m:sSub>
                        <m:sSubPr>
                          <m:ctrlPr>
                            <a:rPr lang="id-ID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sz="1800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id-ID" sz="1800" i="1">
                              <a:latin typeface="Cambria Math"/>
                              <a:ea typeface="Cambria Math"/>
                            </a:rPr>
                            <m:t>𝛼</m:t>
                          </m:r>
                          <m:r>
                            <a:rPr lang="id-ID" sz="1800" i="1">
                              <a:latin typeface="Cambria Math"/>
                            </a:rPr>
                            <m:t>,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id-ID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3352" y="1422068"/>
                <a:ext cx="5832648" cy="4959260"/>
              </a:xfrm>
              <a:blipFill>
                <a:blip r:embed="rId2"/>
                <a:stretch>
                  <a:fillRect l="-730" t="-36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263352" y="980728"/>
            <a:ext cx="117373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dirty="0">
                <a:latin typeface="Calibri" panose="020F0502020204030204" pitchFamily="34" charset="0"/>
                <a:cs typeface="Calibri" panose="020F0502020204030204" pitchFamily="34" charset="0"/>
              </a:rPr>
              <a:t>Asumsi :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1) </a:t>
            </a:r>
            <a:r>
              <a:rPr lang="id-ID" dirty="0">
                <a:latin typeface="Calibri" panose="020F0502020204030204" pitchFamily="34" charset="0"/>
                <a:cs typeface="Calibri" panose="020F0502020204030204" pitchFamily="34" charset="0"/>
              </a:rPr>
              <a:t>Sampel acak berukuran </a:t>
            </a:r>
            <a:r>
              <a:rPr lang="id-ID" i="1" dirty="0">
                <a:latin typeface="Calibri" panose="020F0502020204030204" pitchFamily="34" charset="0"/>
                <a:cs typeface="Calibri" panose="020F0502020204030204" pitchFamily="34" charset="0"/>
              </a:rPr>
              <a:t>n </a:t>
            </a:r>
            <a:r>
              <a:rPr lang="id-ID" dirty="0">
                <a:latin typeface="Calibri" panose="020F0502020204030204" pitchFamily="34" charset="0"/>
                <a:cs typeface="Calibri" panose="020F0502020204030204" pitchFamily="34" charset="0"/>
              </a:rPr>
              <a:t>berdistribusi Normal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2) </a:t>
            </a:r>
            <a:r>
              <a:rPr lang="nb-NO" dirty="0">
                <a:latin typeface="Calibri" panose="020F0502020204030204" pitchFamily="34" charset="0"/>
                <a:cs typeface="Calibri" panose="020F0502020204030204" pitchFamily="34" charset="0"/>
              </a:rPr>
              <a:t>Dua sampel acak saling bebas</a:t>
            </a:r>
            <a:endParaRPr lang="id-ID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/>
              <p:cNvSpPr txBox="1">
                <a:spLocks/>
              </p:cNvSpPr>
              <p:nvPr/>
            </p:nvSpPr>
            <p:spPr>
              <a:xfrm>
                <a:off x="6168008" y="1422068"/>
                <a:ext cx="5832648" cy="495926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vert="horz">
                <a:noAutofit/>
              </a:bodyPr>
              <a:lstStyle>
                <a:lvl1pPr marL="274320" indent="-274320" algn="l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SzPct val="95000"/>
                  <a:buFont typeface="Wingdings 2"/>
                  <a:buChar char=""/>
                  <a:defRPr kumimoji="0"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40080" indent="-246888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Wingdings 2"/>
                  <a:buChar char="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-246888" algn="l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 2"/>
                  <a:buChar char=""/>
                  <a:defRPr kumimoji="0"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88720" indent="-210312" algn="l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SzPct val="65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463040" indent="-210312" algn="l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SzPct val="65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37360" indent="-210312" algn="l" rtl="0" eaLnBrk="1" latinLnBrk="0" hangingPunct="1">
                  <a:spcBef>
                    <a:spcPct val="20000"/>
                  </a:spcBef>
                  <a:buClr>
                    <a:schemeClr val="accent5"/>
                  </a:buClr>
                  <a:buSzPct val="80000"/>
                  <a:buFont typeface="Wingdings 2"/>
                  <a:buChar char="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20240" indent="-182880" algn="l" rtl="0" eaLnBrk="1" latinLnBrk="0" hangingPunct="1">
                  <a:spcBef>
                    <a:spcPct val="20000"/>
                  </a:spcBef>
                  <a:buClr>
                    <a:schemeClr val="accent6"/>
                  </a:buClr>
                  <a:buSzPct val="80000"/>
                  <a:buFont typeface="Wingdings 2"/>
                  <a:buChar char=""/>
                  <a:defRPr kumimoji="0"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94560" indent="-18288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Char char="•"/>
                  <a:defRPr kumimoji="0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68880" indent="-18288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FontTx/>
                  <a:buChar char="•"/>
                  <a:defRPr kumimoji="0"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Wingdings 2"/>
                  <a:buNone/>
                </a:pPr>
                <a:r>
                  <a:rPr lang="id-ID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Asumsi :</a:t>
                </a: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3)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id-ID" sz="180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id-ID" sz="180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  <m:sup>
                        <m:r>
                          <a:rPr lang="id-ID" sz="180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bSup>
                    <m:r>
                      <a:rPr lang="id-ID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≠</m:t>
                    </m:r>
                    <m:sSubSup>
                      <m:sSubSupPr>
                        <m:ctrlPr>
                          <a:rPr lang="en-US" sz="180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id-ID" sz="180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id-ID" sz="180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  <m:sup>
                        <m:r>
                          <a:rPr lang="id-ID" sz="180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bSup>
                  </m:oMath>
                </a14:m>
                <a:endParaRPr lang="id-ID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Font typeface="Wingdings 2"/>
                  <a:buNone/>
                </a:pPr>
                <a:endParaRPr lang="en-US" sz="1800" i="1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Wingdings 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d-ID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sz="1800" i="1" smtClean="0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id-ID" sz="1800" i="1" smtClean="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id-ID" sz="1800" i="1" smtClean="0">
                          <a:latin typeface="Cambria Math"/>
                        </a:rPr>
                        <m:t> : </m:t>
                      </m:r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id-ID" sz="1800" i="1" smtClean="0">
                              <a:latin typeface="Cambria Math"/>
                              <a:ea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sz="1800" i="1" smtClean="0">
                              <a:latin typeface="Cambria Math" panose="02040503050406030204" pitchFamily="18" charset="0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en-US" sz="1800" i="1" smtClean="0">
                          <a:latin typeface="Cambria Math" panose="02040503050406030204" pitchFamily="18" charset="0"/>
                          <a:ea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id-ID" sz="1800" i="1">
                              <a:latin typeface="Cambria Math"/>
                              <a:ea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sz="1800" i="1" smtClean="0">
                              <a:latin typeface="Cambria Math" panose="02040503050406030204" pitchFamily="18" charset="0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id-ID" sz="1800" i="1" smtClean="0">
                          <a:latin typeface="Cambria Math"/>
                          <a:ea typeface="Cambria Math"/>
                        </a:rPr>
                        <m:t>=</m:t>
                      </m:r>
                      <m:sSub>
                        <m:sSubPr>
                          <m:ctrlPr>
                            <a:rPr lang="id-ID" sz="1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1800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𝑑</m:t>
                          </m:r>
                        </m:e>
                        <m:sub>
                          <m:r>
                            <a:rPr lang="id-ID" sz="1800" i="1" smtClean="0">
                              <a:latin typeface="Cambria Math"/>
                              <a:ea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id-ID" sz="1800" dirty="0">
                  <a:latin typeface="Calibri" panose="020F0502020204030204" pitchFamily="34" charset="0"/>
                  <a:ea typeface="Cambria Math"/>
                  <a:cs typeface="Calibri" panose="020F0502020204030204" pitchFamily="34" charset="0"/>
                </a:endParaRPr>
              </a:p>
              <a:p>
                <a:pPr marL="0" indent="0">
                  <a:buFont typeface="Wingdings 2"/>
                  <a:buNone/>
                </a:pPr>
                <a:endParaRPr lang="id-ID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Font typeface="Wingdings 2"/>
                  <a:buNone/>
                </a:pPr>
                <a:r>
                  <a:rPr lang="id-ID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Statistik uji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sz="180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id-ID" sz="1800" i="1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id-ID" sz="18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id-ID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id-ID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id-ID" sz="18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id-ID" sz="1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id-ID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sz="18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id-ID" sz="1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id-ID" sz="18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d-ID" sz="18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id-ID" sz="18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id-ID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d-ID" sz="18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id-ID" sz="1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den>
                      </m:f>
                      <m:r>
                        <a:rPr lang="en-US" sz="18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Sup>
                                        <m:sSubSup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d-ID" sz="18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id-ID" sz="18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id-ID" sz="18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Sup>
                                        <m:sSubSup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d-ID" sz="18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id-ID" sz="18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f>
                            <m:f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Sup>
                                            <m:sSubSupPr>
                                              <m:ctrl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bSup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id-ID" sz="1800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e>
                                            <m:sub>
                                              <m:r>
                                                <a:rPr lang="id-ID" sz="18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Sup>
                                            <m:sSubSupPr>
                                              <m:ctrl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bSup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id-ID" sz="1800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id-ID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Font typeface="Wingdings 2"/>
                  <a:buNone/>
                </a:pPr>
                <a:endParaRPr lang="en-US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Font typeface="Wingdings 2"/>
                  <a:buNone/>
                </a:pPr>
                <a:r>
                  <a:rPr lang="id-ID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Daerah kritis :</a:t>
                </a:r>
              </a:p>
              <a:p>
                <a:pPr marL="406400" indent="0">
                  <a:buFont typeface="Wingdings 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d-ID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sz="1800" i="1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id-ID" sz="18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id-ID" sz="1800" i="1">
                          <a:latin typeface="Cambria Math"/>
                        </a:rPr>
                        <m:t> :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id-ID" sz="1800" i="1">
                              <a:latin typeface="Cambria Math"/>
                              <a:ea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  <a:ea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id-ID" sz="1800" i="1">
                              <a:latin typeface="Cambria Math"/>
                              <a:ea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id-ID" sz="1800" i="1">
                          <a:latin typeface="Cambria Math"/>
                          <a:ea typeface="Cambria Math"/>
                        </a:rPr>
                        <m:t>≠</m:t>
                      </m:r>
                      <m:sSub>
                        <m:sSubPr>
                          <m:ctrlPr>
                            <a:rPr lang="id-ID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/>
                            </a:rPr>
                            <m:t>𝑑</m:t>
                          </m:r>
                        </m:e>
                        <m:sub>
                          <m:r>
                            <a:rPr lang="id-ID" sz="1800" i="1">
                              <a:latin typeface="Cambria Math"/>
                              <a:ea typeface="Cambria Math"/>
                            </a:rPr>
                            <m:t>0</m:t>
                          </m:r>
                        </m:sub>
                      </m:sSub>
                      <m:r>
                        <a:rPr lang="en-US" sz="1800" i="1" smtClean="0">
                          <a:latin typeface="Cambria Math" panose="02040503050406030204" pitchFamily="18" charset="0"/>
                          <a:ea typeface="Cambria Math"/>
                        </a:rPr>
                        <m:t>⇒</m:t>
                      </m:r>
                      <m:r>
                        <a:rPr lang="id-ID" sz="1800" i="1">
                          <a:latin typeface="Cambria Math"/>
                        </a:rPr>
                        <m:t>𝑡</m:t>
                      </m:r>
                      <m:r>
                        <a:rPr lang="id-ID" sz="1800" i="1">
                          <a:latin typeface="Cambria Math"/>
                        </a:rPr>
                        <m:t>&lt;</m:t>
                      </m:r>
                      <m:sSub>
                        <m:sSubPr>
                          <m:ctrlPr>
                            <a:rPr lang="id-ID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sz="1800" i="1">
                              <a:latin typeface="Cambria Math"/>
                            </a:rPr>
                            <m:t>−</m:t>
                          </m:r>
                          <m:r>
                            <a:rPr lang="id-ID" sz="1800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f>
                            <m:fPr>
                              <m:ctrlPr>
                                <a:rPr lang="id-ID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d-ID" sz="1800" i="1">
                                  <a:latin typeface="Cambria Math"/>
                                  <a:ea typeface="Cambria Math"/>
                                </a:rPr>
                                <m:t>𝛼</m:t>
                              </m:r>
                            </m:num>
                            <m:den>
                              <m:r>
                                <a:rPr lang="id-ID" sz="1800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id-ID" sz="1800" i="1">
                              <a:latin typeface="Cambria Math"/>
                            </a:rPr>
                            <m:t>,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id-ID" sz="1800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id-ID" sz="1800">
                          <a:latin typeface="Cambria Math"/>
                        </a:rPr>
                        <m:t>dan</m:t>
                      </m:r>
                      <m:r>
                        <a:rPr lang="id-ID" sz="1800" i="1">
                          <a:latin typeface="Cambria Math"/>
                        </a:rPr>
                        <m:t> </m:t>
                      </m:r>
                      <m:r>
                        <a:rPr lang="id-ID" sz="1800" i="1">
                          <a:latin typeface="Cambria Math"/>
                        </a:rPr>
                        <m:t>𝑡</m:t>
                      </m:r>
                      <m:r>
                        <a:rPr lang="id-ID" sz="1800" i="1">
                          <a:latin typeface="Cambria Math"/>
                        </a:rPr>
                        <m:t>&gt;</m:t>
                      </m:r>
                      <m:sSub>
                        <m:sSubPr>
                          <m:ctrlPr>
                            <a:rPr lang="id-ID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sz="1800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f>
                            <m:fPr>
                              <m:ctrlPr>
                                <a:rPr lang="id-ID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d-ID" sz="1800" i="1">
                                  <a:latin typeface="Cambria Math"/>
                                  <a:ea typeface="Cambria Math"/>
                                </a:rPr>
                                <m:t>𝛼</m:t>
                              </m:r>
                            </m:num>
                            <m:den>
                              <m:r>
                                <a:rPr lang="id-ID" sz="1800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id-ID" sz="1800" i="1">
                              <a:latin typeface="Cambria Math"/>
                            </a:rPr>
                            <m:t>,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sz="1800" dirty="0">
                  <a:latin typeface="Calibri" panose="020F0502020204030204" pitchFamily="34" charset="0"/>
                </a:endParaRPr>
              </a:p>
              <a:p>
                <a:pPr marL="406400" indent="0">
                  <a:buFont typeface="Wingdings 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d-ID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sz="1800" i="1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id-ID" sz="18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id-ID" sz="1800" i="1">
                          <a:latin typeface="Cambria Math"/>
                        </a:rPr>
                        <m:t> :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id-ID" sz="1800" i="1">
                              <a:latin typeface="Cambria Math"/>
                              <a:ea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  <a:ea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id-ID" sz="1800" i="1">
                              <a:latin typeface="Cambria Math"/>
                              <a:ea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en-US" sz="1800" i="1" smtClean="0">
                          <a:latin typeface="Cambria Math" panose="02040503050406030204" pitchFamily="18" charset="0"/>
                          <a:ea typeface="Cambria Math"/>
                        </a:rPr>
                        <m:t>&lt;</m:t>
                      </m:r>
                      <m:sSub>
                        <m:sSubPr>
                          <m:ctrlPr>
                            <a:rPr lang="id-ID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/>
                            </a:rPr>
                            <m:t>𝑑</m:t>
                          </m:r>
                        </m:e>
                        <m:sub>
                          <m:r>
                            <a:rPr lang="id-ID" sz="1800" i="1">
                              <a:latin typeface="Cambria Math"/>
                              <a:ea typeface="Cambria Math"/>
                            </a:rPr>
                            <m:t>0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  <a:ea typeface="Cambria Math"/>
                        </a:rPr>
                        <m:t>⇒</m:t>
                      </m:r>
                      <m:r>
                        <a:rPr lang="id-ID" sz="1800" i="1">
                          <a:latin typeface="Cambria Math"/>
                        </a:rPr>
                        <m:t>𝑡</m:t>
                      </m:r>
                      <m:r>
                        <a:rPr lang="id-ID" sz="1800" i="1">
                          <a:latin typeface="Cambria Math"/>
                        </a:rPr>
                        <m:t>&lt;</m:t>
                      </m:r>
                      <m:sSub>
                        <m:sSubPr>
                          <m:ctrlPr>
                            <a:rPr lang="id-ID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sz="1800" i="1">
                              <a:latin typeface="Cambria Math"/>
                            </a:rPr>
                            <m:t>−</m:t>
                          </m:r>
                          <m:r>
                            <a:rPr lang="id-ID" sz="1800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id-ID" sz="1800" i="1">
                              <a:latin typeface="Cambria Math"/>
                              <a:ea typeface="Cambria Math"/>
                            </a:rPr>
                            <m:t>𝛼</m:t>
                          </m:r>
                          <m:r>
                            <a:rPr lang="id-ID" sz="1800" i="1">
                              <a:latin typeface="Cambria Math"/>
                            </a:rPr>
                            <m:t>,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id-ID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6400" indent="0">
                  <a:buFont typeface="Wingdings 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d-ID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sz="1800" i="1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id-ID" sz="18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id-ID" sz="1800" i="1">
                          <a:latin typeface="Cambria Math"/>
                        </a:rPr>
                        <m:t> :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id-ID" sz="1800" i="1">
                              <a:latin typeface="Cambria Math"/>
                              <a:ea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  <a:ea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id-ID" sz="1800" i="1">
                              <a:latin typeface="Cambria Math"/>
                              <a:ea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en-US" sz="1800" i="1" smtClean="0">
                          <a:latin typeface="Cambria Math" panose="02040503050406030204" pitchFamily="18" charset="0"/>
                          <a:ea typeface="Cambria Math"/>
                        </a:rPr>
                        <m:t>&gt;</m:t>
                      </m:r>
                      <m:sSub>
                        <m:sSubPr>
                          <m:ctrlPr>
                            <a:rPr lang="id-ID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/>
                            </a:rPr>
                            <m:t>𝑑</m:t>
                          </m:r>
                        </m:e>
                        <m:sub>
                          <m:r>
                            <a:rPr lang="id-ID" sz="1800" i="1">
                              <a:latin typeface="Cambria Math"/>
                              <a:ea typeface="Cambria Math"/>
                            </a:rPr>
                            <m:t>0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  <a:ea typeface="Cambria Math"/>
                        </a:rPr>
                        <m:t>⇒</m:t>
                      </m:r>
                      <m:r>
                        <a:rPr lang="id-ID" sz="1800" i="1">
                          <a:latin typeface="Cambria Math"/>
                        </a:rPr>
                        <m:t>𝑡</m:t>
                      </m:r>
                      <m:r>
                        <a:rPr lang="id-ID" sz="1800" i="1">
                          <a:latin typeface="Cambria Math"/>
                        </a:rPr>
                        <m:t>&gt;</m:t>
                      </m:r>
                      <m:sSub>
                        <m:sSubPr>
                          <m:ctrlPr>
                            <a:rPr lang="id-ID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sz="1800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id-ID" sz="1800" i="1">
                              <a:latin typeface="Cambria Math"/>
                              <a:ea typeface="Cambria Math"/>
                            </a:rPr>
                            <m:t>𝛼</m:t>
                          </m:r>
                          <m:r>
                            <a:rPr lang="id-ID" sz="1800" i="1">
                              <a:latin typeface="Cambria Math"/>
                            </a:rPr>
                            <m:t>,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id-ID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8008" y="1422068"/>
                <a:ext cx="5832648" cy="4959260"/>
              </a:xfrm>
              <a:prstGeom prst="rect">
                <a:avLst/>
              </a:prstGeom>
              <a:blipFill>
                <a:blip r:embed="rId3"/>
                <a:stretch>
                  <a:fillRect l="-834" t="-36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7492089"/>
      </p:ext>
    </p:extLst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9496" y="0"/>
            <a:ext cx="9289032" cy="793528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 err="1"/>
              <a:t>Uji</a:t>
            </a:r>
            <a:r>
              <a:rPr lang="en-US" sz="4000" b="1" dirty="0"/>
              <a:t> Rata-rata Data </a:t>
            </a:r>
            <a:r>
              <a:rPr lang="en-US" sz="4000" b="1" dirty="0" err="1"/>
              <a:t>Univariat</a:t>
            </a:r>
            <a:r>
              <a:rPr lang="en-US" sz="4000" b="1" dirty="0"/>
              <a:t> </a:t>
            </a:r>
            <a:r>
              <a:rPr lang="en-US" sz="4000" b="1" dirty="0" err="1"/>
              <a:t>Berpasangan</a:t>
            </a:r>
            <a:endParaRPr lang="en-US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793528"/>
                <a:ext cx="10972800" cy="5531072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id-ID" dirty="0">
                    <a:latin typeface="Calibri" panose="020F0502020204030204" pitchFamily="34" charset="0"/>
                    <a:cs typeface="Calibri" panose="020F0502020204030204" pitchFamily="34" charset="0"/>
                  </a:rPr>
                  <a:t>Asumsi :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1) </a:t>
                </a:r>
                <a:r>
                  <a:rPr lang="id-ID" dirty="0">
                    <a:latin typeface="Calibri" panose="020F0502020204030204" pitchFamily="34" charset="0"/>
                    <a:cs typeface="Calibri" panose="020F0502020204030204" pitchFamily="34" charset="0"/>
                  </a:rPr>
                  <a:t>Sampel acak berukuran </a:t>
                </a:r>
                <a:r>
                  <a:rPr lang="id-ID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n </a:t>
                </a:r>
                <a:r>
                  <a:rPr lang="id-ID" dirty="0">
                    <a:latin typeface="Calibri" panose="020F0502020204030204" pitchFamily="34" charset="0"/>
                    <a:cs typeface="Calibri" panose="020F0502020204030204" pitchFamily="34" charset="0"/>
                  </a:rPr>
                  <a:t>berdistribusi Normal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d-ID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id-ID" i="1">
                              <a:latin typeface="Cambria Math"/>
                              <a:ea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Hipotesis</a:t>
                </a:r>
                <a:r>
                  <a:rPr lang="id-ID" dirty="0">
                    <a:latin typeface="Calibri" panose="020F0502020204030204" pitchFamily="34" charset="0"/>
                    <a:cs typeface="Calibri" panose="020F0502020204030204" pitchFamily="34" charset="0"/>
                  </a:rPr>
                  <a:t>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d-ID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i="1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id-ID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id-ID" i="1">
                          <a:latin typeface="Cambria Math"/>
                        </a:rPr>
                        <m:t> :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id-ID" i="1">
                              <a:latin typeface="Cambria Math"/>
                              <a:ea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𝐷</m:t>
                          </m:r>
                        </m:sub>
                      </m:sSub>
                      <m:r>
                        <a:rPr lang="id-ID" i="1">
                          <a:latin typeface="Cambria Math"/>
                          <a:ea typeface="Cambria Math"/>
                        </a:rPr>
                        <m:t>=</m:t>
                      </m:r>
                      <m:sSub>
                        <m:sSubPr>
                          <m:ctrlPr>
                            <a:rPr lang="id-ID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  <m:t>𝑑</m:t>
                          </m:r>
                        </m:e>
                        <m:sub>
                          <m:r>
                            <a:rPr lang="id-ID" i="1">
                              <a:latin typeface="Cambria Math"/>
                              <a:ea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id-ID" dirty="0">
                  <a:latin typeface="Calibri" panose="020F0502020204030204" pitchFamily="34" charset="0"/>
                  <a:ea typeface="Cambria Math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id-ID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id-ID" dirty="0">
                    <a:latin typeface="Calibri" panose="020F0502020204030204" pitchFamily="34" charset="0"/>
                    <a:cs typeface="Calibri" panose="020F0502020204030204" pitchFamily="34" charset="0"/>
                  </a:rPr>
                  <a:t>Statistik uji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id-ID" i="1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acc>
                          <m:r>
                            <a:rPr lang="id-ID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ad>
                            <m:radPr>
                              <m:degHide m:val="on"/>
                              <m:ctrlPr>
                                <a:rPr lang="id-ID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id-ID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id-ID" dirty="0">
                    <a:latin typeface="Calibri" panose="020F0502020204030204" pitchFamily="34" charset="0"/>
                    <a:cs typeface="Calibri" panose="020F0502020204030204" pitchFamily="34" charset="0"/>
                  </a:rPr>
                  <a:t>Daerah kritis :</a:t>
                </a:r>
              </a:p>
              <a:p>
                <a:pPr marL="4064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d-ID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i="1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id-ID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id-ID" i="1">
                          <a:latin typeface="Cambria Math"/>
                        </a:rPr>
                        <m:t> :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id-ID" i="1">
                              <a:latin typeface="Cambria Math"/>
                              <a:ea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  <m:t>𝐷</m:t>
                          </m:r>
                        </m:sub>
                      </m:sSub>
                      <m:r>
                        <a:rPr lang="id-ID" i="1">
                          <a:latin typeface="Cambria Math"/>
                          <a:ea typeface="Cambria Math"/>
                        </a:rPr>
                        <m:t>≠</m:t>
                      </m:r>
                      <m:sSub>
                        <m:sSubPr>
                          <m:ctrlPr>
                            <a:rPr lang="id-ID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  <m:t>𝑑</m:t>
                          </m:r>
                        </m:e>
                        <m:sub>
                          <m:r>
                            <a:rPr lang="id-ID" i="1">
                              <a:latin typeface="Cambria Math"/>
                              <a:ea typeface="Cambria Math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/>
                        </a:rPr>
                        <m:t>⇒</m:t>
                      </m:r>
                      <m:r>
                        <a:rPr lang="id-ID" i="1">
                          <a:latin typeface="Cambria Math"/>
                        </a:rPr>
                        <m:t>𝑡</m:t>
                      </m:r>
                      <m:r>
                        <a:rPr lang="id-ID" i="1">
                          <a:latin typeface="Cambria Math"/>
                        </a:rPr>
                        <m:t>&lt;</m:t>
                      </m:r>
                      <m:sSub>
                        <m:sSubPr>
                          <m:ctrlPr>
                            <a:rPr lang="id-ID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i="1">
                              <a:latin typeface="Cambria Math"/>
                            </a:rPr>
                            <m:t>−</m:t>
                          </m:r>
                          <m:r>
                            <a:rPr lang="id-ID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f>
                            <m:fPr>
                              <m:ctrlPr>
                                <a:rPr lang="id-ID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d-ID" i="1">
                                  <a:latin typeface="Cambria Math"/>
                                  <a:ea typeface="Cambria Math"/>
                                </a:rPr>
                                <m:t>𝛼</m:t>
                              </m:r>
                            </m:num>
                            <m:den>
                              <m:r>
                                <a:rPr lang="id-ID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id-ID" i="1">
                              <a:latin typeface="Cambria Math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id-ID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id-ID">
                          <a:latin typeface="Cambria Math"/>
                        </a:rPr>
                        <m:t>dan</m:t>
                      </m:r>
                      <m:r>
                        <a:rPr lang="id-ID" i="1">
                          <a:latin typeface="Cambria Math"/>
                        </a:rPr>
                        <m:t> </m:t>
                      </m:r>
                      <m:r>
                        <a:rPr lang="id-ID" i="1">
                          <a:latin typeface="Cambria Math"/>
                        </a:rPr>
                        <m:t>𝑡</m:t>
                      </m:r>
                      <m:r>
                        <a:rPr lang="id-ID" i="1">
                          <a:latin typeface="Cambria Math"/>
                        </a:rPr>
                        <m:t>&gt;</m:t>
                      </m:r>
                      <m:sSub>
                        <m:sSubPr>
                          <m:ctrlPr>
                            <a:rPr lang="id-ID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f>
                            <m:fPr>
                              <m:ctrlPr>
                                <a:rPr lang="id-ID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d-ID" i="1">
                                  <a:latin typeface="Cambria Math"/>
                                  <a:ea typeface="Cambria Math"/>
                                </a:rPr>
                                <m:t>𝛼</m:t>
                              </m:r>
                            </m:num>
                            <m:den>
                              <m:r>
                                <a:rPr lang="id-ID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id-ID" i="1">
                              <a:latin typeface="Cambria Math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Calibri" panose="020F0502020204030204" pitchFamily="34" charset="0"/>
                </a:endParaRPr>
              </a:p>
              <a:p>
                <a:pPr marL="4064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d-ID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i="1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id-ID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id-ID" i="1">
                          <a:latin typeface="Cambria Math"/>
                        </a:rPr>
                        <m:t> :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id-ID" i="1">
                              <a:latin typeface="Cambria Math"/>
                              <a:ea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  <m:t>𝐷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/>
                        </a:rPr>
                        <m:t>&lt;</m:t>
                      </m:r>
                      <m:sSub>
                        <m:sSubPr>
                          <m:ctrlPr>
                            <a:rPr lang="id-ID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  <m:t>𝑑</m:t>
                          </m:r>
                        </m:e>
                        <m:sub>
                          <m:r>
                            <a:rPr lang="id-ID" i="1">
                              <a:latin typeface="Cambria Math"/>
                              <a:ea typeface="Cambria Math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/>
                        </a:rPr>
                        <m:t>⇒</m:t>
                      </m:r>
                      <m:r>
                        <a:rPr lang="id-ID" i="1">
                          <a:latin typeface="Cambria Math"/>
                        </a:rPr>
                        <m:t>𝑡</m:t>
                      </m:r>
                      <m:r>
                        <a:rPr lang="id-ID" i="1">
                          <a:latin typeface="Cambria Math"/>
                        </a:rPr>
                        <m:t>&lt;</m:t>
                      </m:r>
                      <m:sSub>
                        <m:sSubPr>
                          <m:ctrlPr>
                            <a:rPr lang="id-ID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i="1">
                              <a:latin typeface="Cambria Math"/>
                            </a:rPr>
                            <m:t>−</m:t>
                          </m:r>
                          <m:r>
                            <a:rPr lang="id-ID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id-ID" i="1">
                              <a:latin typeface="Cambria Math"/>
                              <a:ea typeface="Cambria Math"/>
                            </a:rPr>
                            <m:t>𝛼</m:t>
                          </m:r>
                          <m:r>
                            <a:rPr lang="id-ID" i="1">
                              <a:latin typeface="Cambria Math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id-ID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64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i="1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id-ID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id-ID" i="1">
                        <a:latin typeface="Cambria Math"/>
                      </a:rPr>
                      <m:t> :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id-ID" i="1"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𝐷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&gt;</m:t>
                    </m:r>
                    <m:sSub>
                      <m:sSubPr>
                        <m:ctrlPr>
                          <a:rPr lang="id-ID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𝑑</m:t>
                        </m:r>
                      </m:e>
                      <m:sub>
                        <m:r>
                          <a:rPr lang="id-ID" i="1">
                            <a:latin typeface="Cambria Math"/>
                            <a:ea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⇒</m:t>
                    </m:r>
                    <m:r>
                      <a:rPr lang="id-ID" i="1">
                        <a:latin typeface="Cambria Math"/>
                      </a:rPr>
                      <m:t>𝑡</m:t>
                    </m:r>
                    <m:r>
                      <a:rPr lang="id-ID" i="1"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id-ID" i="1">
                            <a:latin typeface="Cambria Math"/>
                            <a:ea typeface="Cambria Math"/>
                          </a:rPr>
                          <m:t>𝛼</m:t>
                        </m:r>
                        <m:r>
                          <a:rPr lang="id-ID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endParaRPr lang="id-ID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id-ID" dirty="0"/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793528"/>
                <a:ext cx="10972800" cy="5531072"/>
              </a:xfrm>
              <a:blipFill>
                <a:blip r:embed="rId2"/>
                <a:stretch>
                  <a:fillRect l="-833" t="-253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4669437"/>
      </p:ext>
    </p:extLst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9496" y="0"/>
            <a:ext cx="9289032" cy="793528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b="1" dirty="0" err="1"/>
              <a:t>Uji</a:t>
            </a:r>
            <a:r>
              <a:rPr lang="en-US" sz="4000" b="1" dirty="0"/>
              <a:t> Rata-rata Data </a:t>
            </a:r>
            <a:r>
              <a:rPr lang="en-US" sz="4000" b="1" dirty="0" err="1"/>
              <a:t>Multivariat</a:t>
            </a:r>
            <a:r>
              <a:rPr lang="en-US" sz="4000" b="1" dirty="0"/>
              <a:t> </a:t>
            </a:r>
            <a:r>
              <a:rPr lang="en-US" sz="4000" b="1" dirty="0" err="1"/>
              <a:t>Tak</a:t>
            </a:r>
            <a:r>
              <a:rPr lang="en-US" sz="4000" b="1" dirty="0"/>
              <a:t> </a:t>
            </a:r>
            <a:r>
              <a:rPr lang="en-US" sz="4000" b="1" dirty="0" err="1"/>
              <a:t>berpasangan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63352" y="908720"/>
                <a:ext cx="11737304" cy="1080120"/>
              </a:xfrm>
              <a:ln>
                <a:noFill/>
              </a:ln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id-ID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Asumsi :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1) </a:t>
                </a:r>
                <a:r>
                  <a:rPr lang="id-ID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Dua sampel acak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id-ID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berdistribusi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id-ID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multivariat normal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id-ID" sz="200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𝑁</m:t>
                        </m:r>
                      </m:e>
                      <m:sub>
                        <m:r>
                          <a:rPr lang="id-ID" sz="200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𝑝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id-ID" sz="2000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𝝁</m:t>
                        </m:r>
                      </m:e>
                      <m:sub>
                        <m:r>
                          <a:rPr lang="id-ID" sz="2000" b="0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id-ID" sz="20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id-ID" sz="2000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𝚺</m:t>
                        </m:r>
                      </m:e>
                      <m:sub>
                        <m:r>
                          <a:rPr lang="id-ID" sz="2000" b="0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id-ID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&amp;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id-ID" sz="2000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𝑁</m:t>
                        </m:r>
                      </m:e>
                      <m:sub>
                        <m:r>
                          <a:rPr lang="id-ID" sz="2000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𝑝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id-ID" sz="2000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𝝁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id-ID" sz="20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id-ID" sz="2000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𝚺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</a:p>
              <a:p>
                <a:pPr marL="914400" indent="0">
                  <a:buNone/>
                </a:pP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2) </a:t>
                </a:r>
                <a:r>
                  <a:rPr lang="nb-NO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Dua sampel acak saling bebas,  </a:t>
                </a:r>
              </a:p>
              <a:p>
                <a:pPr marL="914400" indent="0">
                  <a:buNone/>
                </a:pP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3)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id-ID" sz="2000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𝚺</m:t>
                        </m:r>
                      </m:e>
                      <m:sub>
                        <m:r>
                          <a:rPr lang="id-ID" sz="2000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id-ID" sz="20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id-ID" sz="2000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𝚺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id-ID" sz="20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id-ID" sz="20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𝚺</m:t>
                    </m:r>
                  </m:oMath>
                </a14:m>
                <a:endParaRPr lang="id-ID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US" sz="200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000" dirty="0"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3352" y="908720"/>
                <a:ext cx="11737304" cy="1080120"/>
              </a:xfrm>
              <a:blipFill>
                <a:blip r:embed="rId2"/>
                <a:stretch>
                  <a:fillRect l="-519" t="-2260" b="-1694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B70106B-4E21-4078-BB2C-B4E048B5457E}"/>
                  </a:ext>
                </a:extLst>
              </p:cNvPr>
              <p:cNvSpPr/>
              <p:nvPr/>
            </p:nvSpPr>
            <p:spPr>
              <a:xfrm>
                <a:off x="623392" y="2276872"/>
                <a:ext cx="11161240" cy="3960440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indent="0">
                  <a:buNone/>
                </a:pPr>
                <a:r>
                  <a:rPr lang="nb-NO" sz="1800">
                    <a:latin typeface="Calibri" panose="020F0502020204030204" pitchFamily="34" charset="0"/>
                    <a:cs typeface="Calibri" panose="020F0502020204030204" pitchFamily="34" charset="0"/>
                  </a:rPr>
                  <a:t>Hipotesis :</a:t>
                </a:r>
                <a:endParaRPr lang="en-US" sz="18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d-ID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sz="1800" b="0" i="1" smtClean="0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id-ID" sz="1800" b="0" i="1" smtClean="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id-ID" sz="1800" b="0" i="1" smtClean="0">
                          <a:latin typeface="Cambria Math"/>
                        </a:rPr>
                        <m:t> : 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id-ID" sz="1800" b="1" i="1" smtClean="0">
                              <a:latin typeface="Cambria Math"/>
                              <a:ea typeface="Cambria Math"/>
                            </a:rPr>
                            <m:t>𝝁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id-ID" sz="1800" b="1" i="1">
                              <a:latin typeface="Cambria Math"/>
                              <a:ea typeface="Cambria Math"/>
                            </a:rPr>
                            <m:t>𝝁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id-ID" sz="1800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/>
                        </a:rPr>
                        <m:t>0</m:t>
                      </m:r>
                      <m:r>
                        <a:rPr lang="en-US" sz="1800" b="0" i="0" smtClean="0">
                          <a:latin typeface="Cambria Math" panose="02040503050406030204" pitchFamily="18" charset="0"/>
                          <a:ea typeface="Cambria Math"/>
                        </a:rPr>
                        <m:t> </m:t>
                      </m:r>
                      <m:r>
                        <a:rPr lang="en-ID" sz="1800" b="0" i="1" smtClean="0">
                          <a:latin typeface="Cambria Math" panose="02040503050406030204" pitchFamily="18" charset="0"/>
                          <a:ea typeface="Cambria Math"/>
                        </a:rPr>
                        <m:t> </m:t>
                      </m:r>
                    </m:oMath>
                  </m:oMathPara>
                </a14:m>
                <a:endParaRPr lang="en-ID" sz="1800" b="0" i="1">
                  <a:latin typeface="Cambria Math" panose="02040503050406030204" pitchFamily="18" charset="0"/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sz="1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ID" sz="1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𝐻</m:t>
                          </m:r>
                        </m:e>
                        <m:sub>
                          <m:r>
                            <a:rPr lang="en-ID" sz="1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en-ID" sz="1800" b="0" i="1" smtClean="0">
                          <a:latin typeface="Cambria Math" panose="02040503050406030204" pitchFamily="18" charset="0"/>
                          <a:ea typeface="Cambria Math"/>
                        </a:rPr>
                        <m:t> </m:t>
                      </m:r>
                      <m:r>
                        <a:rPr lang="id-ID" sz="1800" i="1">
                          <a:latin typeface="Cambria Math"/>
                        </a:rPr>
                        <m:t>:</m:t>
                      </m:r>
                      <m:r>
                        <a:rPr lang="en-ID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id-ID" sz="1800" b="1" i="1">
                              <a:latin typeface="Cambria Math"/>
                              <a:ea typeface="Cambria Math"/>
                            </a:rPr>
                            <m:t>𝝁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  <a:ea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id-ID" sz="1800" b="1" i="1">
                              <a:latin typeface="Cambria Math"/>
                              <a:ea typeface="Cambria Math"/>
                            </a:rPr>
                            <m:t>𝝁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id-ID" sz="1800" i="1">
                          <a:latin typeface="Cambria Math"/>
                          <a:ea typeface="Cambria Math"/>
                        </a:rPr>
                        <m:t>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/>
                        </a:rPr>
                        <m:t>0</m:t>
                      </m:r>
                    </m:oMath>
                  </m:oMathPara>
                </a14:m>
                <a:endParaRPr lang="id-ID" sz="1800" b="0" dirty="0">
                  <a:latin typeface="Calibri" panose="020F0502020204030204" pitchFamily="34" charset="0"/>
                  <a:ea typeface="Cambria Math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id-ID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id-ID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Statistik uji :</a:t>
                </a:r>
                <a:endParaRPr lang="en-US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d-ID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id-ID" sz="1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id-ID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id-ID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d-ID" sz="1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id-ID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id-ID" sz="18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d-ID" sz="1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id-ID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id-ID" sz="18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id-ID" sz="18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  <m:sup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d-ID" sz="1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id-ID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id-ID" sz="18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d-ID" sz="1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id-ID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 (</a:t>
                </a:r>
                <a:r>
                  <a:rPr lang="en-US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Univariat</a:t>
                </a: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id-ID" sz="1800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id-ID" sz="1800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  <m:sup>
                        <m:r>
                          <a:rPr lang="id-ID" sz="1800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bSup>
                    <m:r>
                      <a:rPr lang="id-ID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sSubSup>
                      <m:sSubSupPr>
                        <m:ctrlPr>
                          <a:rPr lang="en-US" sz="1800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id-ID" sz="1800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id-ID" sz="1800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  <m:sup>
                        <m:r>
                          <a:rPr lang="id-ID" sz="1800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bSup>
                    <m:r>
                      <a:rPr lang="id-ID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sSup>
                      <m:sSupPr>
                        <m:ctrlPr>
                          <a:rPr lang="en-US" sz="1800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id-ID" sz="1800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id-ID" sz="1800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𝑑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</a:p>
              <a:p>
                <a:pPr marL="0" indent="0" algn="ctr">
                  <a:buNone/>
                </a:pPr>
                <a:endParaRPr lang="id-ID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id-ID" sz="18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id-ID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id-ID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sz="1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id-ID" sz="18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id-ID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id-ID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sz="1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id-ID" sz="18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id-ID" sz="1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bSup>
                        <m:sSub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1">
                              <a:latin typeface="Cambria Math" panose="02040503050406030204" pitchFamily="18" charset="0"/>
                            </a:rPr>
                            <m:t>𝐒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id-ID" sz="18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  <m:sub>
                              <m:r>
                                <a:rPr lang="id-ID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id-ID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sz="18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id-ID" sz="18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  <m:sub>
                              <m:r>
                                <a:rPr lang="id-ID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0" smtClean="0">
                              <a:latin typeface="Cambria Math" panose="02040503050406030204" pitchFamily="18" charset="0"/>
                            </a:rPr>
                            <m:t>𝐒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>
                                  <a:latin typeface="Cambria Math" panose="02040503050406030204" pitchFamily="18" charset="0"/>
                                </a:rPr>
                                <m:t>𝐒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>
                                  <a:latin typeface="Cambria Math" panose="02040503050406030204" pitchFamily="18" charset="0"/>
                                </a:rPr>
                                <m:t>𝐒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id-ID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US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id-ID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Daerah kritis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Sup>
                        <m:sSub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id-ID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id-ID" sz="1800" i="1">
                              <a:latin typeface="Cambria Math"/>
                            </a:rPr>
                            <m:t>,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ID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B70106B-4E21-4078-BB2C-B4E048B545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392" y="2276872"/>
                <a:ext cx="11161240" cy="3960440"/>
              </a:xfrm>
              <a:prstGeom prst="rect">
                <a:avLst/>
              </a:prstGeom>
              <a:blipFill>
                <a:blip r:embed="rId3"/>
                <a:stretch>
                  <a:fillRect l="-382"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0745977"/>
      </p:ext>
    </p:extLst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9496" y="0"/>
            <a:ext cx="9289032" cy="793528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b="1" dirty="0" err="1"/>
              <a:t>Uji</a:t>
            </a:r>
            <a:r>
              <a:rPr lang="en-US" sz="4000" b="1" dirty="0"/>
              <a:t> Rata-rata Data </a:t>
            </a:r>
            <a:r>
              <a:rPr lang="en-US" sz="4000" b="1" dirty="0" err="1"/>
              <a:t>Multivariat</a:t>
            </a:r>
            <a:r>
              <a:rPr lang="en-US" sz="4000" b="1" dirty="0"/>
              <a:t> </a:t>
            </a:r>
            <a:r>
              <a:rPr lang="en-US" sz="4000" b="1" dirty="0" err="1"/>
              <a:t>Berpasangan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196752"/>
                <a:ext cx="10972800" cy="79352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id-ID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Asumsi :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1) </a:t>
                </a:r>
                <a:r>
                  <a:rPr lang="id-ID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Sampel acak berukuran </a:t>
                </a:r>
                <a:r>
                  <a:rPr lang="id-ID" sz="20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n </a:t>
                </a:r>
                <a:r>
                  <a:rPr lang="id-ID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berdistribusi 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n</a:t>
                </a:r>
                <a:r>
                  <a:rPr lang="id-ID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ormal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multivariat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sz="2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d-ID" sz="20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𝑫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=(</m:t>
                      </m:r>
                      <m:m>
                        <m:mPr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id-ID" sz="2000" b="1" i="1">
                              <a:latin typeface="Cambria Math"/>
                              <a:ea typeface="Cambria Math"/>
                            </a:rPr>
                            <m:t>𝝁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196752"/>
                <a:ext cx="10972800" cy="793528"/>
              </a:xfrm>
              <a:blipFill>
                <a:blip r:embed="rId2"/>
                <a:stretch>
                  <a:fillRect l="-556" t="-384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E22CEAA-99F5-4DCC-8C6B-2D7833C87D93}"/>
                  </a:ext>
                </a:extLst>
              </p:cNvPr>
              <p:cNvSpPr/>
              <p:nvPr/>
            </p:nvSpPr>
            <p:spPr>
              <a:xfrm>
                <a:off x="767408" y="2492896"/>
                <a:ext cx="10729192" cy="3960440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indent="0">
                  <a:buNone/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Hipotesis</a:t>
                </a:r>
                <a:r>
                  <a:rPr lang="id-ID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d-ID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sz="1800" i="1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id-ID" sz="1800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id-ID" sz="1800" i="1">
                          <a:latin typeface="Cambria Math"/>
                        </a:rPr>
                        <m:t> : 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id-ID" sz="1800" b="1" i="1">
                              <a:latin typeface="Cambria Math"/>
                              <a:ea typeface="Cambria Math"/>
                            </a:rPr>
                            <m:t>𝝁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𝐷</m:t>
                          </m:r>
                        </m:sub>
                      </m:sSub>
                      <m:r>
                        <a:rPr lang="id-ID" sz="1800" i="1">
                          <a:latin typeface="Cambria Math"/>
                          <a:ea typeface="Cambria Math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id-ID" sz="1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acc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0</m:t>
                          </m:r>
                        </m:e>
                      </m:acc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id-ID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sz="1800" i="1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d-ID" sz="1800" i="1">
                          <a:latin typeface="Cambria Math"/>
                        </a:rPr>
                        <m:t> : 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id-ID" sz="1800" b="1" i="1">
                              <a:latin typeface="Cambria Math"/>
                              <a:ea typeface="Cambria Math"/>
                            </a:rPr>
                            <m:t>𝝁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/>
                            </a:rPr>
                            <m:t>𝐷</m:t>
                          </m:r>
                        </m:sub>
                      </m:sSub>
                      <m:r>
                        <a:rPr lang="id-ID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acc>
                        <m:accPr>
                          <m:chr m:val="⃗"/>
                          <m:ctrlPr>
                            <a:rPr lang="id-ID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acc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/>
                            </a:rPr>
                            <m:t>0</m:t>
                          </m:r>
                        </m:e>
                      </m:acc>
                    </m:oMath>
                  </m:oMathPara>
                </a14:m>
                <a:endParaRPr lang="id-ID" sz="1800" i="1" dirty="0">
                  <a:latin typeface="Calibri" panose="020F0502020204030204" pitchFamily="34" charset="0"/>
                  <a:ea typeface="Cambria Math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id-ID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id-ID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Statistik uji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id-ID" sz="18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d-ID" sz="1800" b="1" i="1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</m:acc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1">
                                          <a:latin typeface="Cambria Math" panose="02040503050406030204" pitchFamily="18" charset="0"/>
                                        </a:rPr>
                                        <m:t>𝐒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d-ID" sz="1800" b="1" i="1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</m:acc>
                      <m:r>
                        <a:rPr lang="id-ID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d-ID" sz="1800" b="1" i="1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</m:acc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bSup>
                        <m:sSub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1">
                              <a:latin typeface="Cambria Math" panose="02040503050406030204" pitchFamily="18" charset="0"/>
                            </a:rPr>
                            <m:t>𝐒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acc>
                        <m:accPr>
                          <m:chr m:val="̅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d-ID" sz="1800" b="1" i="1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</m:acc>
                      <m:r>
                        <a:rPr lang="en-US" sz="18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 </m:t>
                      </m:r>
                      <m:acc>
                        <m:accPr>
                          <m:chr m:val="̅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d-ID" sz="1800" b="1" i="1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</m:acc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>
                              <a:latin typeface="Cambria Math" panose="02040503050406030204" pitchFamily="18" charset="0"/>
                            </a:rPr>
                            <m:t>𝐒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800" b="1" i="1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d-ID" sz="1800" b="1" i="1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</m:acc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</a:rPr>
                                    <m:t>𝒅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id-ID" sz="1800" b="1" i="1">
                                      <a:latin typeface="Cambria Math" panose="02040503050406030204" pitchFamily="18" charset="0"/>
                                    </a:rPr>
                                    <m:t>𝒅</m:t>
                                  </m:r>
                                </m:e>
                              </m:acc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id-ID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US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id-ID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Daerah kritis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Sup>
                        <m:sSub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id-ID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id-ID" sz="1800" i="1">
                              <a:latin typeface="Cambria Math"/>
                            </a:rPr>
                            <m:t>,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id-ID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endParaRPr lang="en-ID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E22CEAA-99F5-4DCC-8C6B-2D7833C87D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08" y="2492896"/>
                <a:ext cx="10729192" cy="3960440"/>
              </a:xfrm>
              <a:prstGeom prst="rect">
                <a:avLst/>
              </a:prstGeom>
              <a:blipFill>
                <a:blip r:embed="rId3"/>
                <a:stretch>
                  <a:fillRect l="-454"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377700"/>
      </p:ext>
    </p:extLst>
  </p:cSld>
  <p:clrMapOvr>
    <a:masterClrMapping/>
  </p:clrMapOvr>
  <p:transition spd="slow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err="1"/>
              <a:t>Uji</a:t>
            </a:r>
            <a:r>
              <a:rPr lang="en-US" sz="3600" b="1" dirty="0"/>
              <a:t> </a:t>
            </a:r>
            <a:r>
              <a:rPr lang="en-US" sz="3600" b="1" dirty="0" err="1"/>
              <a:t>Kesamaan</a:t>
            </a:r>
            <a:r>
              <a:rPr lang="en-US" sz="3600" b="1" dirty="0"/>
              <a:t> </a:t>
            </a:r>
            <a:r>
              <a:rPr lang="en-US" sz="3600" b="1" dirty="0" err="1"/>
              <a:t>Matriks</a:t>
            </a:r>
            <a:r>
              <a:rPr lang="en-US" sz="3600" b="1" dirty="0"/>
              <a:t> </a:t>
            </a:r>
            <a:r>
              <a:rPr lang="en-US" sz="3600" b="1" dirty="0" err="1"/>
              <a:t>Kovariansi</a:t>
            </a:r>
            <a:endParaRPr lang="en-US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271464" y="2594521"/>
                <a:ext cx="45941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  </a:t>
                </a:r>
                <a:r>
                  <a:rPr lang="en-US" sz="2400" dirty="0" err="1"/>
                  <a:t>melawan</a:t>
                </a:r>
                <a:r>
                  <a:rPr lang="en-US" sz="2400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464" y="2594521"/>
                <a:ext cx="4594143" cy="461665"/>
              </a:xfrm>
              <a:prstGeom prst="rect">
                <a:avLst/>
              </a:prstGeom>
              <a:blipFill>
                <a:blip r:embed="rId2"/>
                <a:stretch>
                  <a:fillRect l="-398"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609600" y="1989972"/>
            <a:ext cx="47959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+mj-lt"/>
              </a:rPr>
              <a:t>Akan </a:t>
            </a:r>
            <a:r>
              <a:rPr lang="en-US" sz="2400" dirty="0" err="1">
                <a:latin typeface="+mj-lt"/>
              </a:rPr>
              <a:t>diuji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hipotesisi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sebagai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berikut</a:t>
            </a:r>
            <a:r>
              <a:rPr lang="en-US" sz="2400" dirty="0">
                <a:latin typeface="+mj-lt"/>
              </a:rPr>
              <a:t>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09600" y="3284984"/>
                <a:ext cx="6770251" cy="5298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+mj-lt"/>
                  </a:rPr>
                  <a:t>Statistik </a:t>
                </a:r>
                <a:r>
                  <a:rPr lang="en-US" sz="2400" dirty="0" err="1">
                    <a:latin typeface="+mj-lt"/>
                  </a:rPr>
                  <a:t>Uji</a:t>
                </a:r>
                <a:r>
                  <a:rPr lang="en-US" sz="2400" dirty="0">
                    <a:latin typeface="+mj-lt"/>
                  </a:rPr>
                  <a:t> :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𝜐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𝑡𝑟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</m:t>
                                </m:r>
                                <m:sSup>
                                  <m:s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Σ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−1)</m:t>
                                    </m:r>
                                  </m:sup>
                                </m:s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func>
                          </m:e>
                        </m:func>
                      </m:e>
                    </m:d>
                  </m:oMath>
                </a14:m>
                <a:endParaRPr lang="en-US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284984"/>
                <a:ext cx="6770251" cy="529889"/>
              </a:xfrm>
              <a:prstGeom prst="rect">
                <a:avLst/>
              </a:prstGeom>
              <a:blipFill>
                <a:blip r:embed="rId3"/>
                <a:stretch>
                  <a:fillRect l="-1350" b="-21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695400" y="52527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415480" y="4365104"/>
                <a:ext cx="44969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:r>
                  <a:rPr lang="en-US" sz="2400" dirty="0" err="1">
                    <a:latin typeface="+mj-lt"/>
                    <a:ea typeface="Cambria Math" panose="02040503050406030204" pitchFamily="18" charset="0"/>
                  </a:rPr>
                  <a:t>dengan</a:t>
                </a:r>
                <a:r>
                  <a:rPr lang="en-US" sz="2400" dirty="0">
                    <a:latin typeface="+mj-lt"/>
                    <a:ea typeface="Cambria Math" panose="020405030504060302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𝜐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df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dari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matriks</a:t>
                </a:r>
                <a:r>
                  <a:rPr lang="en-US" sz="2400" dirty="0">
                    <a:latin typeface="+mj-lt"/>
                  </a:rPr>
                  <a:t> S = n-1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480" y="4365104"/>
                <a:ext cx="4496937" cy="461665"/>
              </a:xfrm>
              <a:prstGeom prst="rect">
                <a:avLst/>
              </a:prstGeom>
              <a:blipFill>
                <a:blip r:embed="rId4"/>
                <a:stretch>
                  <a:fillRect l="-407" t="-10526" r="-949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4993495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Pendekatan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b="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dengan</a:t>
                </a:r>
                <a:r>
                  <a:rPr lang="en-US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b="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statistik</a:t>
                </a:r>
                <a:r>
                  <a:rPr lang="en-US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b="1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u</a:t>
                </a:r>
                <a:endParaRPr lang="en-US" i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2052" t="-56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Jika </a:t>
                </a:r>
                <a:r>
                  <a:rPr lang="en-US" dirty="0" err="1"/>
                  <a:t>nilai</a:t>
                </a:r>
                <a:r>
                  <a:rPr lang="en-US" dirty="0"/>
                  <a:t> 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v</a:t>
                </a:r>
                <a:r>
                  <a:rPr lang="en-US" dirty="0"/>
                  <a:t>  </a:t>
                </a:r>
                <a:r>
                  <a:rPr lang="en-US" dirty="0" err="1"/>
                  <a:t>cukup</a:t>
                </a:r>
                <a:r>
                  <a:rPr lang="en-US" dirty="0"/>
                  <a:t> </a:t>
                </a:r>
                <a:r>
                  <a:rPr lang="en-US" dirty="0" err="1"/>
                  <a:t>besar</a:t>
                </a:r>
                <a:r>
                  <a:rPr lang="en-US" dirty="0"/>
                  <a:t> </a:t>
                </a:r>
                <a:r>
                  <a:rPr lang="en-US" dirty="0" err="1"/>
                  <a:t>maka</a:t>
                </a:r>
                <a:r>
                  <a:rPr lang="en-US" dirty="0"/>
                  <a:t> </a:t>
                </a:r>
                <a:r>
                  <a:rPr lang="en-US" dirty="0" err="1"/>
                  <a:t>statistik</a:t>
                </a:r>
                <a:r>
                  <a:rPr lang="en-US" dirty="0"/>
                  <a:t> 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u</a:t>
                </a:r>
                <a:r>
                  <a:rPr lang="en-US" dirty="0"/>
                  <a:t> </a:t>
                </a:r>
                <a:r>
                  <a:rPr lang="en-US" dirty="0" err="1"/>
                  <a:t>akan</a:t>
                </a:r>
                <a:r>
                  <a:rPr lang="en-US" dirty="0"/>
                  <a:t> </a:t>
                </a:r>
                <a:r>
                  <a:rPr lang="en-US" dirty="0" err="1"/>
                  <a:t>mendekati</a:t>
                </a:r>
                <a:r>
                  <a:rPr lang="en-US" dirty="0"/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+1)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 err="1"/>
                  <a:t>Untuk</a:t>
                </a:r>
                <a:r>
                  <a:rPr lang="en-US" dirty="0"/>
                  <a:t> </a:t>
                </a:r>
                <a:r>
                  <a:rPr lang="en-US" dirty="0" err="1"/>
                  <a:t>nilai</a:t>
                </a:r>
                <a:r>
                  <a:rPr lang="en-US" dirty="0"/>
                  <a:t> 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v</a:t>
                </a:r>
                <a:r>
                  <a:rPr lang="en-US" dirty="0"/>
                  <a:t>  yang </a:t>
                </a:r>
                <a:r>
                  <a:rPr lang="en-US" dirty="0" err="1"/>
                  <a:t>sedang</a:t>
                </a:r>
                <a:r>
                  <a:rPr lang="en-US" dirty="0"/>
                  <a:t>, </a:t>
                </a:r>
                <a:r>
                  <a:rPr lang="en-US" dirty="0" err="1"/>
                  <a:t>maka</a:t>
                </a:r>
                <a:r>
                  <a:rPr lang="en-US" dirty="0"/>
                  <a:t> 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akan</a:t>
                </a:r>
                <a:r>
                  <a:rPr lang="en-US" dirty="0"/>
                  <a:t> </a:t>
                </a:r>
                <a:r>
                  <a:rPr lang="en-US" dirty="0" err="1"/>
                  <a:t>mendekati</a:t>
                </a:r>
                <a:r>
                  <a:rPr lang="en-US" dirty="0"/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+1)</m:t>
                        </m:r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Kriteria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Uji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: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Tolak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d-ID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0 </m:t>
                        </m:r>
                      </m:sub>
                    </m:sSub>
                  </m:oMath>
                </a14:m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jika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atau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+1)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1261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7648" y="3068960"/>
            <a:ext cx="5400600" cy="107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439625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2" y="548680"/>
            <a:ext cx="11377264" cy="792088"/>
          </a:xfrm>
        </p:spPr>
        <p:txBody>
          <a:bodyPr>
            <a:noAutofit/>
          </a:bodyPr>
          <a:lstStyle/>
          <a:p>
            <a:pPr algn="l"/>
            <a:r>
              <a:rPr lang="en-US" sz="4900" b="1" dirty="0" err="1"/>
              <a:t>Uji</a:t>
            </a:r>
            <a:r>
              <a:rPr lang="en-US" sz="4900" b="1" dirty="0"/>
              <a:t> </a:t>
            </a:r>
            <a:r>
              <a:rPr lang="en-US" sz="4900" b="1" dirty="0" err="1"/>
              <a:t>Kesamaan</a:t>
            </a:r>
            <a:r>
              <a:rPr lang="en-US" sz="4900" b="1" dirty="0"/>
              <a:t> </a:t>
            </a:r>
            <a:r>
              <a:rPr lang="en-US" sz="4900" b="1" dirty="0" err="1"/>
              <a:t>Beberapa</a:t>
            </a:r>
            <a:r>
              <a:rPr lang="en-US" sz="4900" b="1" dirty="0"/>
              <a:t> </a:t>
            </a:r>
            <a:r>
              <a:rPr lang="en-US" sz="4900" b="1" dirty="0" err="1"/>
              <a:t>Matriks</a:t>
            </a:r>
            <a:r>
              <a:rPr lang="en-US" sz="4900" b="1" dirty="0"/>
              <a:t> </a:t>
            </a:r>
            <a:r>
              <a:rPr lang="en-US" sz="4900" b="1" dirty="0" err="1"/>
              <a:t>Kovariansi</a:t>
            </a:r>
            <a:endParaRPr lang="id-ID" sz="49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3392" y="1772816"/>
                <a:ext cx="10873208" cy="276490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Untuk k </a:t>
                </a: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populasi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multivariate, </a:t>
                </a: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hipotesis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kesamaan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dari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matriks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kovariansi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 </a:t>
                </a: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adalah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: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d-ID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Ʃ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Ʃ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</a:rPr>
                      <m:t>=…=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Ʃ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endParaRPr lang="en-US" sz="24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dengan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asumsi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sampel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saling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bebas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lang="id-ID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Statistik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Uji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:</a:t>
                </a:r>
              </a:p>
              <a:p>
                <a:pPr marL="0" indent="0">
                  <a:buNone/>
                </a:pPr>
                <a:endParaRPr 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 algn="ctr">
                  <a:buNone/>
                </a:pPr>
                <a:endParaRPr 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 algn="ctr">
                  <a:buNone/>
                </a:pPr>
                <a:endParaRPr 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3392" y="1772816"/>
                <a:ext cx="10873208" cy="2764903"/>
              </a:xfrm>
              <a:blipFill>
                <a:blip r:embed="rId4"/>
                <a:stretch>
                  <a:fillRect l="-841" t="-1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394194" y="3429000"/>
                <a:ext cx="3665802" cy="12012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i="1" dirty="0"/>
                  <a:t>M</a:t>
                </a:r>
                <a:r>
                  <a:rPr lang="en-US" sz="28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f>
                              <m:fPr>
                                <m:ctrlP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𝜐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f>
                              <m:f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𝜐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. . .</m:t>
                        </m:r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. 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f>
                              <m:f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𝜐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𝑝𝑙</m:t>
                                </m:r>
                              </m:sub>
                            </m:s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f>
                                  <m:fPr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𝜐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nary>
                          </m:sup>
                        </m:sSup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4194" y="3429000"/>
                <a:ext cx="3665802" cy="1201226"/>
              </a:xfrm>
              <a:prstGeom prst="rect">
                <a:avLst/>
              </a:prstGeom>
              <a:blipFill>
                <a:blip r:embed="rId20"/>
                <a:stretch>
                  <a:fillRect l="-34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685040" y="5517233"/>
            <a:ext cx="137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+mj-lt"/>
              </a:rPr>
              <a:t>dengan</a:t>
            </a:r>
            <a:r>
              <a:rPr lang="en-US" sz="2400" dirty="0">
                <a:latin typeface="+mj-lt"/>
              </a:rPr>
              <a:t> </a:t>
            </a:r>
            <a:r>
              <a:rPr lang="en-US" dirty="0">
                <a:latin typeface="+mj-lt"/>
              </a:rPr>
              <a:t>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041" y="4168561"/>
            <a:ext cx="888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+mj-lt"/>
              </a:rPr>
              <a:t>atau</a:t>
            </a:r>
            <a:r>
              <a:rPr lang="en-US" sz="2400" dirty="0">
                <a:latin typeface="+mj-lt"/>
              </a:rPr>
              <a:t>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279576" y="4797152"/>
                <a:ext cx="5760640" cy="8830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</m:num>
                          <m:den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𝑝𝑙</m:t>
                                </m:r>
                              </m:sub>
                            </m:s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800" dirty="0"/>
                          <m:t>)</m:t>
                        </m:r>
                      </m:e>
                      <m:sup>
                        <m:f>
                          <m:f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𝜐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</m:num>
                          <m:den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𝑝𝑙</m:t>
                                </m:r>
                              </m:sub>
                            </m:s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800" dirty="0"/>
                          <m:t>)</m:t>
                        </m:r>
                      </m:e>
                      <m:sup>
                        <m:f>
                          <m:f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𝜐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2800" dirty="0"/>
                  <a:t> . . 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</m:num>
                          <m:den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𝑝𝑙</m:t>
                                </m:r>
                              </m:sub>
                            </m:s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800" dirty="0"/>
                          <m:t>)</m:t>
                        </m:r>
                      </m:e>
                      <m:sup>
                        <m:f>
                          <m:f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𝜐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576" y="4797152"/>
                <a:ext cx="5760640" cy="88306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2294838" y="5748065"/>
                <a:ext cx="3119900" cy="9362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𝑝𝑙</m:t>
                        </m:r>
                      </m:sub>
                    </m:sSub>
                  </m:oMath>
                </a14:m>
                <a:r>
                  <a:rPr lang="en-US" sz="28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𝜐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𝜐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4838" y="5748065"/>
                <a:ext cx="3119900" cy="93628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123892" y="5901515"/>
                <a:ext cx="194421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𝜐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dirty="0"/>
                  <a:t>-1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3892" y="5901515"/>
                <a:ext cx="1944215" cy="523220"/>
              </a:xfrm>
              <a:prstGeom prst="rect">
                <a:avLst/>
              </a:prstGeom>
              <a:blipFill>
                <a:blip r:embed="rId19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1946200"/>
      </p:ext>
    </p:extLst>
  </p:cSld>
  <p:clrMapOvr>
    <a:masterClrMapping/>
  </p:clrMapOvr>
  <p:transition spd="slow">
    <p:push dir="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10637"/>
            <a:ext cx="11074400" cy="1143000"/>
          </a:xfrm>
        </p:spPr>
        <p:txBody>
          <a:bodyPr>
            <a:normAutofit fontScale="90000"/>
          </a:bodyPr>
          <a:lstStyle/>
          <a:p>
            <a:r>
              <a:rPr lang="en-US" sz="5400" b="1" dirty="0" err="1"/>
              <a:t>Uji</a:t>
            </a:r>
            <a:r>
              <a:rPr lang="en-US" sz="5400" b="1" dirty="0"/>
              <a:t> </a:t>
            </a:r>
            <a:r>
              <a:rPr lang="en-US" sz="5400" b="1" dirty="0" err="1"/>
              <a:t>Kesamaan</a:t>
            </a:r>
            <a:r>
              <a:rPr lang="en-US" sz="5400" b="1" dirty="0"/>
              <a:t> </a:t>
            </a:r>
            <a:r>
              <a:rPr lang="en-US" sz="5400" b="1" dirty="0" err="1"/>
              <a:t>Beberapa</a:t>
            </a:r>
            <a:r>
              <a:rPr lang="en-US" sz="5400" b="1" dirty="0"/>
              <a:t> </a:t>
            </a:r>
            <a:r>
              <a:rPr lang="en-US" sz="5400" b="1" dirty="0" err="1"/>
              <a:t>Matriks</a:t>
            </a:r>
            <a:r>
              <a:rPr lang="en-US" sz="5400" b="1" dirty="0"/>
              <a:t> </a:t>
            </a:r>
            <a:r>
              <a:rPr lang="en-US" sz="5400" b="1" dirty="0" err="1"/>
              <a:t>Kovariansi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1"/>
              <p:cNvSpPr>
                <a:spLocks noChangeArrowheads="1"/>
              </p:cNvSpPr>
              <p:nvPr/>
            </p:nvSpPr>
            <p:spPr bwMode="auto">
              <a:xfrm>
                <a:off x="609600" y="2013870"/>
                <a:ext cx="11498084" cy="1450408"/>
              </a:xfrm>
              <a:prstGeom prst="rect">
                <a:avLst/>
              </a:prstGeom>
              <a:solidFill>
                <a:srgbClr val="F8F9FA"/>
              </a:solidFill>
              <a:ln>
                <a:noFill/>
              </a:ln>
              <a:effectLst/>
              <a:extLs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0" tIns="-17457" rIns="0" bIns="-17457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+mj-lt"/>
                  </a:rPr>
                  <a:t>Box (1949, 1950) </a:t>
                </a:r>
                <a:r>
                  <a:rPr kumimoji="0" lang="en-US" altLang="en-US" sz="2400" b="0" i="0" u="none" strike="noStrike" cap="none" normalizeH="0" baseline="0" dirty="0" err="1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+mj-lt"/>
                  </a:rPr>
                  <a:t>memberikan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+mj-lt"/>
                  </a:rPr>
                  <a:t> </a:t>
                </a:r>
                <a:r>
                  <a:rPr kumimoji="0" lang="en-US" altLang="en-US" sz="2400" b="0" i="0" u="none" strike="noStrike" cap="none" normalizeH="0" baseline="0" dirty="0" err="1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+mj-lt"/>
                  </a:rPr>
                  <a:t>pendekatan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+mj-lt"/>
                  </a:rPr>
                  <a:t>  </a:t>
                </a:r>
                <a:r>
                  <a:rPr kumimoji="0" lang="en-US" altLang="en-US" sz="2400" b="0" i="0" u="none" strike="noStrike" cap="none" normalizeH="0" baseline="0" dirty="0" err="1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+mj-lt"/>
                  </a:rPr>
                  <a:t>untuk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+mj-lt"/>
                  </a:rPr>
                  <a:t> </a:t>
                </a:r>
                <a:r>
                  <a:rPr kumimoji="0" lang="en-US" altLang="en-US" sz="2400" b="0" i="0" u="none" strike="noStrike" cap="none" normalizeH="0" baseline="0" dirty="0" err="1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+mj-lt"/>
                  </a:rPr>
                  <a:t>statistik</a:t>
                </a:r>
                <a:r>
                  <a:rPr kumimoji="0" lang="en-US" altLang="en-US" sz="2400" b="0" i="0" u="none" strike="noStrike" cap="none" normalizeH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+mj-lt"/>
                  </a:rPr>
                  <a:t> </a:t>
                </a:r>
                <a:r>
                  <a:rPr kumimoji="0" lang="en-US" altLang="en-US" sz="2400" b="0" i="0" u="none" strike="noStrike" cap="none" normalizeH="0" dirty="0" err="1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+mj-lt"/>
                  </a:rPr>
                  <a:t>uji</a:t>
                </a:r>
                <a:r>
                  <a:rPr kumimoji="0" lang="en-US" altLang="en-US" sz="2400" b="0" i="0" u="none" strike="noStrike" cap="none" normalizeH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+mj-lt"/>
                  </a:rPr>
                  <a:t>  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+mj-lt"/>
                  </a:rPr>
                  <a:t>M </a:t>
                </a:r>
                <a:r>
                  <a:rPr kumimoji="0" lang="en-US" altLang="en-US" sz="2400" b="0" i="0" u="none" strike="noStrike" cap="none" normalizeH="0" baseline="0" dirty="0" err="1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+mj-lt"/>
                  </a:rPr>
                  <a:t>terhadap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+mj-lt"/>
                  </a:rPr>
                  <a:t> </a:t>
                </a:r>
                <a:r>
                  <a:rPr kumimoji="0" lang="en-US" altLang="en-US" sz="2400" b="0" i="0" u="none" strike="noStrike" cap="none" normalizeH="0" baseline="0" dirty="0" err="1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+mj-lt"/>
                  </a:rPr>
                  <a:t>istribusi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+mj-lt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222222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222222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kumimoji="0" lang="en-US" alt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222222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+mj-lt"/>
                  </a:rPr>
                  <a:t> </a:t>
                </a:r>
                <a:r>
                  <a:rPr kumimoji="0" lang="en-US" altLang="en-US" sz="2400" b="0" i="0" u="none" strike="noStrike" cap="none" normalizeH="0" baseline="0" dirty="0" err="1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+mj-lt"/>
                  </a:rPr>
                  <a:t>dan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+mj-lt"/>
                  </a:rPr>
                  <a:t> F.</a:t>
                </a:r>
                <a:r>
                  <a:rPr kumimoji="0" lang="en-US" altLang="en-US" sz="2400" b="0" i="0" u="none" strike="noStrike" cap="none" normalizeH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+mj-lt"/>
                  </a:rPr>
                  <a:t>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400" b="0" i="0" u="none" strike="noStrike" cap="none" normalizeH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+mj-lt"/>
                  </a:rPr>
                  <a:t> 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+mj-lt"/>
                  </a:rPr>
                  <a:t>Salah </a:t>
                </a:r>
                <a:r>
                  <a:rPr kumimoji="0" lang="en-US" altLang="en-US" sz="2400" b="0" i="0" u="none" strike="noStrike" cap="none" normalizeH="0" baseline="0" dirty="0" err="1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+mj-lt"/>
                  </a:rPr>
                  <a:t>satunya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+mj-lt"/>
                  </a:rPr>
                  <a:t>  </a:t>
                </a:r>
                <a:r>
                  <a:rPr kumimoji="0" lang="en-US" altLang="en-US" sz="2400" b="0" i="0" u="none" strike="noStrike" cap="none" normalizeH="0" baseline="0" dirty="0" err="1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+mj-lt"/>
                  </a:rPr>
                  <a:t>disebut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+mj-lt"/>
                  </a:rPr>
                  <a:t> </a:t>
                </a:r>
                <a:r>
                  <a:rPr kumimoji="0" lang="en-US" altLang="en-US" sz="2400" b="0" i="0" u="none" strike="noStrike" cap="none" normalizeH="0" baseline="0" dirty="0" err="1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+mj-lt"/>
                  </a:rPr>
                  <a:t>sebagai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+mj-lt"/>
                  </a:rPr>
                  <a:t> </a:t>
                </a:r>
                <a:r>
                  <a:rPr kumimoji="0" lang="en-US" altLang="en-US" sz="2400" b="0" i="0" u="none" strike="noStrike" cap="none" normalizeH="0" baseline="0" dirty="0" err="1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+mj-lt"/>
                  </a:rPr>
                  <a:t>uji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+mj-lt"/>
                  </a:rPr>
                  <a:t>-M Box. </a:t>
                </a:r>
                <a:r>
                  <a:rPr kumimoji="0" lang="en-US" altLang="en-US" sz="2400" b="0" i="0" u="none" strike="noStrike" cap="none" normalizeH="0" baseline="0" dirty="0" err="1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+mj-lt"/>
                  </a:rPr>
                  <a:t>Untuk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+mj-lt"/>
                  </a:rPr>
                  <a:t> </a:t>
                </a:r>
                <a:r>
                  <a:rPr kumimoji="0" lang="en-US" altLang="en-US" sz="2400" b="0" i="0" u="none" strike="noStrike" cap="none" normalizeH="0" baseline="0" dirty="0" err="1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+mj-lt"/>
                  </a:rPr>
                  <a:t>pendekatan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+mj-lt"/>
                  </a:rPr>
                  <a:t> </a:t>
                </a:r>
                <a:r>
                  <a:rPr kumimoji="0" lang="en-US" altLang="en-US" sz="2400" b="0" i="0" u="none" strike="noStrike" cap="none" normalizeH="0" baseline="0" dirty="0" err="1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+mj-lt"/>
                  </a:rPr>
                  <a:t>terhadap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+mj-lt"/>
                  </a:rPr>
                  <a:t> </a:t>
                </a:r>
                <a:r>
                  <a:rPr kumimoji="0" lang="en-US" altLang="en-US" sz="2400" b="0" i="0" u="none" strike="noStrike" cap="none" normalizeH="0" baseline="0" dirty="0" err="1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+mj-lt"/>
                  </a:rPr>
                  <a:t>distribusi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+mj-lt"/>
                  </a:rPr>
                  <a:t> 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+mj-lt"/>
                  </a:rPr>
                  <a:t> </a:t>
                </a:r>
                <a:r>
                  <a:rPr kumimoji="0" lang="en-US" altLang="en-US" sz="2400" b="0" i="0" u="none" strike="noStrike" cap="none" normalizeH="0" baseline="0" dirty="0" err="1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+mj-lt"/>
                  </a:rPr>
                  <a:t>distribusi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+mj-lt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400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400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en-US" sz="2400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+mj-lt"/>
                  </a:rPr>
                  <a:t> , </a:t>
                </a:r>
                <a:r>
                  <a:rPr kumimoji="0" lang="en-US" altLang="en-US" sz="2400" b="0" i="0" u="none" strike="noStrike" cap="none" normalizeH="0" baseline="0" dirty="0" err="1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+mj-lt"/>
                  </a:rPr>
                  <a:t>hitung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latin typeface="+mj-lt"/>
                  </a:rPr>
                  <a:t> :</a:t>
                </a:r>
                <a:endParaRPr lang="en-US" altLang="en-US" sz="2400" dirty="0">
                  <a:solidFill>
                    <a:srgbClr val="222222"/>
                  </a:solidFill>
                  <a:latin typeface="+mj-lt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j-lt"/>
                </a:endParaRPr>
              </a:p>
            </p:txBody>
          </p:sp>
        </mc:Choice>
        <mc:Fallback xmlns="">
          <p:sp>
            <p:nvSpPr>
              <p:cNvPr id="5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600" y="2013870"/>
                <a:ext cx="11498084" cy="1450408"/>
              </a:xfrm>
              <a:prstGeom prst="rect">
                <a:avLst/>
              </a:prstGeom>
              <a:blipFill>
                <a:blip r:embed="rId3"/>
                <a:stretch>
                  <a:fillRect l="-1591" t="-6303" r="-53"/>
                </a:stretch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07368" y="3468397"/>
                <a:ext cx="4634602" cy="7716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  <m:e>
                            <m:f>
                              <m:fPr>
                                <m:ctrlP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2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𝜐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 − </m:t>
                            </m:r>
                            <m:f>
                              <m:fPr>
                                <m:ctrlP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nary>
                                  <m:naryPr>
                                    <m:chr m:val="∑"/>
                                    <m:ctrlP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sz="24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𝜐</m:t>
                                        </m:r>
                                      </m:e>
                                      <m:sub>
                                        <m:r>
                                          <a:rPr lang="en-US" sz="2400" b="0" i="1" dirty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den>
                            </m:f>
                          </m:e>
                        </m:nary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+3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6(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+1)(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−1)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368" y="3468397"/>
                <a:ext cx="4634602" cy="7716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92854" y="4384669"/>
                <a:ext cx="5210529" cy="710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=−2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  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854" y="4384669"/>
                <a:ext cx="5210529" cy="71025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78340" y="5089370"/>
                <a:ext cx="409964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+mj-lt"/>
                  </a:rPr>
                  <a:t>Jika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latin typeface="+mj-lt"/>
                  </a:rPr>
                  <a:t>,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𝜐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latin typeface="+mj-lt"/>
                  </a:rPr>
                  <a:t>, . . .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𝜐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latin typeface="+mj-lt"/>
                  </a:rPr>
                  <a:t>=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𝜐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,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𝑚𝑎𝑘𝑎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: </m:t>
                    </m:r>
                  </m:oMath>
                </a14:m>
                <a:endParaRPr lang="en-US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340" y="5089370"/>
                <a:ext cx="4099648" cy="461665"/>
              </a:xfrm>
              <a:prstGeom prst="rect">
                <a:avLst/>
              </a:prstGeom>
              <a:blipFill>
                <a:blip r:embed="rId9"/>
                <a:stretch>
                  <a:fillRect l="-2229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67581" y="5696828"/>
                <a:ext cx="2588594" cy="7160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+1)(2</m:t>
                        </m:r>
                        <m:sSup>
                          <m:sSup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+3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−1)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𝜐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+1)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81" y="5696828"/>
                <a:ext cx="2588594" cy="716030"/>
              </a:xfrm>
              <a:prstGeom prst="rect">
                <a:avLst/>
              </a:prstGeom>
              <a:blipFill>
                <a:blip r:embed="rId10"/>
                <a:stretch>
                  <a:fillRect b="-1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353008" y="5320202"/>
                <a:ext cx="4150432" cy="10490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  <a:latin typeface="+mj-lt"/>
                  </a:rPr>
                  <a:t>Kriteria </a:t>
                </a:r>
                <a:r>
                  <a:rPr lang="en-US" sz="2400" dirty="0" err="1">
                    <a:solidFill>
                      <a:srgbClr val="FF0000"/>
                    </a:solidFill>
                    <a:latin typeface="+mj-lt"/>
                  </a:rPr>
                  <a:t>uji</a:t>
                </a:r>
                <a:r>
                  <a:rPr lang="en-US" sz="2400" dirty="0">
                    <a:solidFill>
                      <a:srgbClr val="FF0000"/>
                    </a:solidFill>
                    <a:latin typeface="+mj-lt"/>
                  </a:rPr>
                  <a:t> :</a:t>
                </a:r>
              </a:p>
              <a:p>
                <a:r>
                  <a:rPr lang="en-US" sz="2400" dirty="0" err="1">
                    <a:latin typeface="+mj-lt"/>
                  </a:rPr>
                  <a:t>Tolak</a:t>
                </a:r>
                <a:r>
                  <a:rPr lang="en-US" sz="24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jika</a:t>
                </a:r>
                <a:r>
                  <a:rPr lang="en-US" sz="2400" dirty="0">
                    <a:latin typeface="+mj-lt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+1)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3008" y="5320202"/>
                <a:ext cx="4150432" cy="1049070"/>
              </a:xfrm>
              <a:prstGeom prst="rect">
                <a:avLst/>
              </a:prstGeom>
              <a:blipFill>
                <a:blip r:embed="rId11"/>
                <a:stretch>
                  <a:fillRect l="-2203" t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1645140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800" y="332656"/>
            <a:ext cx="11074400" cy="1143000"/>
          </a:xfrm>
        </p:spPr>
        <p:txBody>
          <a:bodyPr>
            <a:normAutofit fontScale="90000"/>
          </a:bodyPr>
          <a:lstStyle/>
          <a:p>
            <a:r>
              <a:rPr lang="en-US" sz="4800" b="1" dirty="0" err="1"/>
              <a:t>Uji</a:t>
            </a:r>
            <a:r>
              <a:rPr lang="en-US" sz="4800" b="1" dirty="0"/>
              <a:t> </a:t>
            </a:r>
            <a:r>
              <a:rPr lang="en-US" sz="4800" b="1" dirty="0" err="1"/>
              <a:t>Kesamaan</a:t>
            </a:r>
            <a:r>
              <a:rPr lang="en-US" sz="4800" b="1" dirty="0"/>
              <a:t> </a:t>
            </a:r>
            <a:r>
              <a:rPr lang="en-US" sz="4800" b="1" dirty="0" err="1"/>
              <a:t>Beberapa</a:t>
            </a:r>
            <a:r>
              <a:rPr lang="en-US" sz="4800" b="1" dirty="0"/>
              <a:t> </a:t>
            </a:r>
            <a:r>
              <a:rPr lang="en-US" sz="4800" b="1" dirty="0" err="1"/>
              <a:t>Matriks</a:t>
            </a:r>
            <a:r>
              <a:rPr lang="en-US" sz="4800" b="1" dirty="0"/>
              <a:t> </a:t>
            </a:r>
            <a:r>
              <a:rPr lang="en-US" sz="4800" b="1" dirty="0" err="1"/>
              <a:t>Kovariansi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767408" y="1844824"/>
                <a:ext cx="7199150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+mj-lt"/>
                  </a:rPr>
                  <a:t>Untuk </a:t>
                </a:r>
                <a:r>
                  <a:rPr lang="en-US" sz="2400" dirty="0" err="1">
                    <a:latin typeface="+mj-lt"/>
                  </a:rPr>
                  <a:t>pendekatan</a:t>
                </a:r>
                <a:r>
                  <a:rPr lang="en-US" sz="2400" dirty="0">
                    <a:latin typeface="+mj-lt"/>
                  </a:rPr>
                  <a:t> statistic </a:t>
                </a:r>
                <a:r>
                  <a:rPr lang="en-US" sz="2400" dirty="0" err="1">
                    <a:latin typeface="+mj-lt"/>
                  </a:rPr>
                  <a:t>uji</a:t>
                </a:r>
                <a:r>
                  <a:rPr lang="en-US" sz="2400" dirty="0">
                    <a:latin typeface="+mj-lt"/>
                  </a:rPr>
                  <a:t> M </a:t>
                </a:r>
                <a:r>
                  <a:rPr lang="en-US" sz="2400" dirty="0" err="1">
                    <a:latin typeface="+mj-lt"/>
                  </a:rPr>
                  <a:t>ke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distribusi</a:t>
                </a:r>
                <a:r>
                  <a:rPr lang="en-US" sz="2400" dirty="0">
                    <a:latin typeface="+mj-lt"/>
                  </a:rPr>
                  <a:t> F :</a:t>
                </a:r>
              </a:p>
              <a:p>
                <a:r>
                  <a:rPr lang="en-US" sz="2400" dirty="0" err="1">
                    <a:latin typeface="+mj-lt"/>
                  </a:rPr>
                  <a:t>Hitung</a:t>
                </a:r>
                <a:r>
                  <a:rPr lang="en-US" sz="24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seperti</a:t>
                </a:r>
                <a:r>
                  <a:rPr lang="en-US" sz="2400" dirty="0">
                    <a:latin typeface="+mj-lt"/>
                  </a:rPr>
                  <a:t> di </a:t>
                </a:r>
                <a:r>
                  <a:rPr lang="en-US" sz="2400" dirty="0" err="1">
                    <a:latin typeface="+mj-lt"/>
                  </a:rPr>
                  <a:t>atas</a:t>
                </a:r>
                <a:r>
                  <a:rPr lang="en-US" sz="2400" dirty="0">
                    <a:latin typeface="+mj-lt"/>
                  </a:rPr>
                  <a:t>, </a:t>
                </a:r>
                <a:r>
                  <a:rPr lang="en-US" sz="2400" dirty="0" err="1">
                    <a:latin typeface="+mj-lt"/>
                  </a:rPr>
                  <a:t>dan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hitung</a:t>
                </a:r>
                <a:r>
                  <a:rPr lang="en-US" sz="24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sebagai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berikut</a:t>
                </a:r>
                <a:r>
                  <a:rPr lang="en-US" sz="2400" dirty="0">
                    <a:latin typeface="+mj-lt"/>
                  </a:rPr>
                  <a:t> :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08" y="1844824"/>
                <a:ext cx="7199150" cy="830997"/>
              </a:xfrm>
              <a:prstGeom prst="rect">
                <a:avLst/>
              </a:prstGeom>
              <a:blipFill>
                <a:blip r:embed="rId2"/>
                <a:stretch>
                  <a:fillRect l="-1355" t="-5882" r="-254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67408" y="2780928"/>
                <a:ext cx="4581703" cy="77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−1)(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+2)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6(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  <m:e>
                            <m:f>
                              <m:f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Sup>
                                  <m:sSubSup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𝜐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den>
                            </m:f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nary>
                                      <m:naryPr>
                                        <m:chr m:val="∑"/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𝜐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</m:nary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nary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08" y="2780928"/>
                <a:ext cx="4581703" cy="77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7058393" y="3933056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67408" y="3577276"/>
                <a:ext cx="409964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+mj-lt"/>
                  </a:rPr>
                  <a:t>Jika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latin typeface="+mj-lt"/>
                  </a:rPr>
                  <a:t>,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𝜐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latin typeface="+mj-lt"/>
                  </a:rPr>
                  <a:t>, . . .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𝜐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latin typeface="+mj-lt"/>
                  </a:rPr>
                  <a:t>=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𝜐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,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𝑚𝑎𝑘𝑎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: </m:t>
                    </m:r>
                  </m:oMath>
                </a14:m>
                <a:endParaRPr lang="en-US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08" y="3577276"/>
                <a:ext cx="4099648" cy="461665"/>
              </a:xfrm>
              <a:prstGeom prst="rect">
                <a:avLst/>
              </a:prstGeom>
              <a:blipFill>
                <a:blip r:embed="rId5"/>
                <a:stretch>
                  <a:fillRect l="-2381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77819" y="4038941"/>
                <a:ext cx="2962542" cy="6687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−1)(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+2)(</m:t>
                        </m:r>
                        <m:sSup>
                          <m:sSup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+1)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sSup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𝜐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819" y="4038941"/>
                <a:ext cx="2962542" cy="668709"/>
              </a:xfrm>
              <a:prstGeom prst="rect">
                <a:avLst/>
              </a:prstGeom>
              <a:blipFill>
                <a:blip r:embed="rId6"/>
                <a:stretch>
                  <a:fillRect b="-9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764861" y="4796965"/>
            <a:ext cx="18284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+mj-lt"/>
              </a:rPr>
              <a:t>Hitung</a:t>
            </a:r>
            <a:r>
              <a:rPr lang="en-US" sz="2400" dirty="0">
                <a:latin typeface="+mj-lt"/>
              </a:rPr>
              <a:t>  </a:t>
            </a:r>
            <a:r>
              <a:rPr lang="en-US" sz="2400" dirty="0" err="1">
                <a:latin typeface="+mj-lt"/>
              </a:rPr>
              <a:t>juga</a:t>
            </a:r>
            <a:r>
              <a:rPr lang="en-US" sz="2400" dirty="0">
                <a:latin typeface="+mj-lt"/>
              </a:rPr>
              <a:t>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32293" y="5397866"/>
                <a:ext cx="303685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b="0" i="1" dirty="0">
                    <a:latin typeface="+mj-lt"/>
                  </a:rPr>
                  <a:t>= 1/2</a:t>
                </a:r>
                <a:r>
                  <a:rPr lang="en-US" sz="2400" i="1" dirty="0">
                    <a:latin typeface="+mj-lt"/>
                  </a:rPr>
                  <a:t>(k-1)p(p+1</a:t>
                </a:r>
                <a:r>
                  <a:rPr lang="en-US" dirty="0"/>
                  <a:t>)       ; 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293" y="5397866"/>
                <a:ext cx="3036857" cy="461665"/>
              </a:xfrm>
              <a:prstGeom prst="rect">
                <a:avLst/>
              </a:prstGeom>
              <a:blipFill>
                <a:blip r:embed="rId7"/>
                <a:stretch>
                  <a:fillRect t="-10526" r="-120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740361" y="5258630"/>
                <a:ext cx="6725624" cy="6756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+2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    ;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1−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2 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  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 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2400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1−</m:t>
                            </m:r>
                          </m:sub>
                        </m:s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2 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0361" y="5258630"/>
                <a:ext cx="6725624" cy="675698"/>
              </a:xfrm>
              <a:prstGeom prst="rect">
                <a:avLst/>
              </a:prstGeom>
              <a:blipFill>
                <a:blip r:embed="rId8"/>
                <a:stretch>
                  <a:fillRect b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32293" y="6237748"/>
                <a:ext cx="6642011" cy="5182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Jika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sSubSup>
                      <m:sSubSup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1  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2400" dirty="0"/>
                  <a:t>, </a:t>
                </a:r>
                <a:r>
                  <a:rPr lang="en-US" sz="2400" dirty="0" err="1"/>
                  <a:t>maka</a:t>
                </a:r>
                <a:r>
                  <a:rPr lang="en-US" sz="2400" dirty="0"/>
                  <a:t>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=−2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 ln M   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sz="2400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sSub>
                          <m:sSub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1 , 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293" y="6237748"/>
                <a:ext cx="6642011" cy="518283"/>
              </a:xfrm>
              <a:prstGeom prst="rect">
                <a:avLst/>
              </a:prstGeom>
              <a:blipFill>
                <a:blip r:embed="rId10"/>
                <a:stretch>
                  <a:fillRect l="-1376" t="-8235" b="-1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4853527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767408" y="2276872"/>
                <a:ext cx="5665654" cy="23124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Jika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1  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maka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func>
                      </m:num>
                      <m:den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(1+2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den>
                    </m:f>
                  </m:oMath>
                </a14:m>
                <a:r>
                  <a:rPr lang="en-US" dirty="0"/>
                  <a:t>     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US" sz="240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1 , 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endParaRPr lang="en-US" sz="2400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sz="2400" dirty="0" err="1">
                    <a:solidFill>
                      <a:srgbClr val="FF0000"/>
                    </a:solidFill>
                  </a:rPr>
                  <a:t>Kriteria</a:t>
                </a:r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FF0000"/>
                    </a:solidFill>
                  </a:rPr>
                  <a:t>Uji</a:t>
                </a:r>
                <a:r>
                  <a:rPr lang="en-US" sz="2400" dirty="0"/>
                  <a:t> : Tolak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jika</a:t>
                </a:r>
                <a:r>
                  <a:rPr lang="en-US" sz="2400" dirty="0"/>
                  <a:t>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400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; 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1 , 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08" y="2276872"/>
                <a:ext cx="5665654" cy="2312428"/>
              </a:xfrm>
              <a:prstGeom prst="rect">
                <a:avLst/>
              </a:prstGeom>
              <a:blipFill>
                <a:blip r:embed="rId2"/>
                <a:stretch>
                  <a:fillRect l="-1722" t="-1847" b="-29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b="1" dirty="0" err="1"/>
              <a:t>Uji</a:t>
            </a:r>
            <a:r>
              <a:rPr lang="en-US" sz="4800" b="1" dirty="0"/>
              <a:t> </a:t>
            </a:r>
            <a:r>
              <a:rPr lang="en-US" sz="4800" b="1" dirty="0" err="1"/>
              <a:t>Kesamaan</a:t>
            </a:r>
            <a:r>
              <a:rPr lang="en-US" sz="4800" b="1" dirty="0"/>
              <a:t> </a:t>
            </a:r>
            <a:r>
              <a:rPr lang="en-US" sz="4800" b="1" dirty="0" err="1"/>
              <a:t>Beberapa</a:t>
            </a:r>
            <a:r>
              <a:rPr lang="en-US" sz="4800" b="1" dirty="0"/>
              <a:t> </a:t>
            </a:r>
            <a:r>
              <a:rPr lang="en-US" sz="4800" b="1" dirty="0" err="1"/>
              <a:t>Matriks</a:t>
            </a:r>
            <a:r>
              <a:rPr lang="en-US" sz="4800" b="1" dirty="0"/>
              <a:t> </a:t>
            </a:r>
            <a:r>
              <a:rPr lang="en-US" sz="4800" b="1" dirty="0" err="1"/>
              <a:t>Kovariansi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600815"/>
      </p:ext>
    </p:extLst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408" y="704088"/>
            <a:ext cx="10916592" cy="1143000"/>
          </a:xfrm>
        </p:spPr>
        <p:txBody>
          <a:bodyPr>
            <a:normAutofit/>
          </a:bodyPr>
          <a:lstStyle/>
          <a:p>
            <a:r>
              <a:rPr lang="en-US" sz="3600" b="1" dirty="0" err="1">
                <a:latin typeface="Calibri" panose="020F0502020204030204" pitchFamily="34" charset="0"/>
                <a:cs typeface="Calibri" panose="020F0502020204030204" pitchFamily="34" charset="0"/>
              </a:rPr>
              <a:t>Contoh</a:t>
            </a: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b="1" dirty="0" err="1">
                <a:latin typeface="Calibri" panose="020F0502020204030204" pitchFamily="34" charset="0"/>
                <a:cs typeface="Calibri" panose="020F0502020204030204" pitchFamily="34" charset="0"/>
              </a:rPr>
              <a:t>Uji</a:t>
            </a: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Kesamaan</a:t>
            </a: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b="1" dirty="0" err="1">
                <a:latin typeface="Calibri" panose="020F0502020204030204" pitchFamily="34" charset="0"/>
                <a:cs typeface="Calibri" panose="020F0502020204030204" pitchFamily="34" charset="0"/>
              </a:rPr>
              <a:t>Dua</a:t>
            </a: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b="1" dirty="0" err="1">
                <a:latin typeface="Calibri" panose="020F0502020204030204" pitchFamily="34" charset="0"/>
                <a:cs typeface="Calibri" panose="020F0502020204030204" pitchFamily="34" charset="0"/>
              </a:rPr>
              <a:t>Matriks</a:t>
            </a: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b="1" dirty="0" err="1">
                <a:latin typeface="Calibri" panose="020F0502020204030204" pitchFamily="34" charset="0"/>
                <a:cs typeface="Calibri" panose="020F0502020204030204" pitchFamily="34" charset="0"/>
              </a:rPr>
              <a:t>Covariansi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055440" y="2204864"/>
                <a:ext cx="10628560" cy="43008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+mj-lt"/>
                  </a:rPr>
                  <a:t>Akan </a:t>
                </a:r>
                <a:r>
                  <a:rPr lang="en-US" sz="2400" dirty="0" err="1">
                    <a:latin typeface="+mj-lt"/>
                  </a:rPr>
                  <a:t>diuji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b="1" dirty="0" err="1">
                    <a:latin typeface="+mj-lt"/>
                  </a:rPr>
                  <a:t>hipotesis</a:t>
                </a:r>
                <a:r>
                  <a:rPr lang="en-US" sz="2400" b="1" dirty="0">
                    <a:latin typeface="+mj-lt"/>
                  </a:rPr>
                  <a:t> 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latin typeface="+mj-lt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𝜮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𝜮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400" b="1" dirty="0">
                    <a:latin typeface="+mj-lt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melawan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latin typeface="+mj-lt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𝜮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𝜮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sz="2400" dirty="0">
                  <a:latin typeface="+mj-lt"/>
                </a:endParaRPr>
              </a:p>
              <a:p>
                <a:r>
                  <a:rPr lang="en-US" sz="2400" dirty="0" err="1">
                    <a:latin typeface="+mj-lt"/>
                  </a:rPr>
                  <a:t>untuk</a:t>
                </a:r>
                <a:r>
                  <a:rPr lang="en-US" sz="2400" dirty="0">
                    <a:latin typeface="+mj-lt"/>
                  </a:rPr>
                  <a:t> data </a:t>
                </a:r>
                <a:r>
                  <a:rPr lang="en-US" sz="2400" dirty="0" err="1">
                    <a:latin typeface="+mj-lt"/>
                  </a:rPr>
                  <a:t>penelitian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psikologis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dari</a:t>
                </a:r>
                <a:r>
                  <a:rPr lang="en-US" sz="2400" dirty="0">
                    <a:latin typeface="+mj-lt"/>
                  </a:rPr>
                  <a:t> Tabel 5.1 (</a:t>
                </a:r>
                <a:r>
                  <a:rPr lang="en-US" sz="2400" dirty="0" err="1">
                    <a:latin typeface="+mj-lt"/>
                  </a:rPr>
                  <a:t>Rencher</a:t>
                </a:r>
                <a:r>
                  <a:rPr lang="en-US" sz="2400" dirty="0">
                    <a:latin typeface="+mj-lt"/>
                  </a:rPr>
                  <a:t>), </a:t>
                </a:r>
                <a:r>
                  <a:rPr lang="en-US" sz="2400" dirty="0" err="1">
                    <a:latin typeface="+mj-lt"/>
                  </a:rPr>
                  <a:t>dengan</a:t>
                </a:r>
                <a:r>
                  <a:rPr lang="en-US" sz="2400" dirty="0">
                    <a:latin typeface="+mj-lt"/>
                  </a:rPr>
                  <a:t> :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dan</a:t>
                </a:r>
                <a:r>
                  <a:rPr lang="en-US" sz="2400" dirty="0">
                    <a:latin typeface="+mj-lt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𝑝𝑙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seperti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tercantum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dlm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contoh</a:t>
                </a:r>
                <a:r>
                  <a:rPr lang="en-US" sz="2400" dirty="0">
                    <a:latin typeface="+mj-lt"/>
                  </a:rPr>
                  <a:t> 5.4.2</a:t>
                </a:r>
              </a:p>
              <a:p>
                <a:r>
                  <a:rPr lang="en-US" sz="2400" b="1" dirty="0" err="1">
                    <a:latin typeface="+mj-lt"/>
                  </a:rPr>
                  <a:t>Statistik</a:t>
                </a:r>
                <a:r>
                  <a:rPr lang="en-US" sz="2400" b="1" dirty="0">
                    <a:latin typeface="+mj-lt"/>
                  </a:rPr>
                  <a:t> </a:t>
                </a:r>
                <a:r>
                  <a:rPr lang="en-US" sz="2400" b="1" dirty="0" err="1">
                    <a:latin typeface="+mj-lt"/>
                  </a:rPr>
                  <a:t>uji</a:t>
                </a:r>
                <a:r>
                  <a:rPr lang="en-US" sz="2400" b="1" dirty="0">
                    <a:latin typeface="+mj-lt"/>
                  </a:rPr>
                  <a:t> </a:t>
                </a:r>
                <a:r>
                  <a:rPr lang="en-US" sz="2400" dirty="0">
                    <a:latin typeface="+mj-lt"/>
                  </a:rPr>
                  <a:t>: </a:t>
                </a:r>
                <a:r>
                  <a:rPr lang="en-US" sz="2400" dirty="0" err="1">
                    <a:latin typeface="+mj-lt"/>
                  </a:rPr>
                  <a:t>untuk</a:t>
                </a:r>
                <a:r>
                  <a:rPr lang="en-US" sz="2400" dirty="0">
                    <a:latin typeface="+mj-lt"/>
                  </a:rPr>
                  <a:t> k=2, </a:t>
                </a:r>
                <a:r>
                  <a:rPr lang="en-US" sz="2400" dirty="0" err="1">
                    <a:latin typeface="+mj-lt"/>
                  </a:rPr>
                  <a:t>maka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Statistik</a:t>
                </a:r>
                <a:r>
                  <a:rPr lang="en-US" sz="2400" dirty="0">
                    <a:latin typeface="+mj-lt"/>
                  </a:rPr>
                  <a:t> Box M </a:t>
                </a:r>
                <a:r>
                  <a:rPr lang="en-US" sz="2400" dirty="0" err="1">
                    <a:latin typeface="+mj-lt"/>
                  </a:rPr>
                  <a:t>dapat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dituliskan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sbb</a:t>
                </a:r>
                <a:r>
                  <a:rPr lang="en-US" sz="2400" dirty="0">
                    <a:latin typeface="+mj-lt"/>
                  </a:rPr>
                  <a:t> : 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func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𝜐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𝜐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en-US" sz="2400" dirty="0">
                    <a:latin typeface="+mj-lt"/>
                  </a:rPr>
                  <a:t>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𝜐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𝜐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>
                    <a:latin typeface="+mj-lt"/>
                  </a:rPr>
                  <a:t>ln 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𝑝𝑙</m:t>
                        </m:r>
                      </m:sub>
                    </m:sSub>
                  </m:oMath>
                </a14:m>
                <a:r>
                  <a:rPr lang="en-US" sz="2400" dirty="0">
                    <a:latin typeface="+mj-lt"/>
                  </a:rPr>
                  <a:t>|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e>
                          </m:d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7917,7</m:t>
                                  </m:r>
                                </m:e>
                              </m:d>
                            </m:e>
                          </m:func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e>
                          </m:d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58958,1</m:t>
                                  </m:r>
                                </m:e>
                              </m:d>
                            </m:e>
                          </m:func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31+31)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⁡(27325,2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>
                  <a:latin typeface="+mj-lt"/>
                </a:endParaRPr>
              </a:p>
              <a:p>
                <a:r>
                  <a:rPr lang="en-US" sz="2400" dirty="0">
                    <a:latin typeface="+mj-lt"/>
                  </a:rPr>
                  <a:t>   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=−7,2803</m:t>
                    </m:r>
                  </m:oMath>
                </a14:m>
                <a:endParaRPr lang="en-US" sz="2400" b="0" dirty="0">
                  <a:latin typeface="+mj-lt"/>
                </a:endParaRPr>
              </a:p>
              <a:p>
                <a:r>
                  <a:rPr lang="en-US" sz="2400" i="1" dirty="0">
                    <a:latin typeface="+mj-lt"/>
                  </a:rPr>
                  <a:t>-2 ln M = </a:t>
                </a:r>
                <a:r>
                  <a:rPr lang="en-US" sz="2400" b="1" i="1" dirty="0">
                    <a:latin typeface="+mj-lt"/>
                  </a:rPr>
                  <a:t>14,561</a:t>
                </a:r>
                <a:r>
                  <a:rPr lang="en-US" sz="2400" i="1" dirty="0">
                    <a:latin typeface="+mj-lt"/>
                  </a:rPr>
                  <a:t>   </a:t>
                </a:r>
                <a:r>
                  <a:rPr lang="en-US" sz="2400" dirty="0">
                    <a:latin typeface="+mj-lt"/>
                  </a:rPr>
                  <a:t>Dari </a:t>
                </a:r>
                <a:r>
                  <a:rPr lang="en-US" sz="2400" dirty="0" err="1">
                    <a:latin typeface="+mj-lt"/>
                  </a:rPr>
                  <a:t>Tabel</a:t>
                </a:r>
                <a:r>
                  <a:rPr lang="en-US" sz="2400" dirty="0">
                    <a:latin typeface="+mj-lt"/>
                  </a:rPr>
                  <a:t> A.14 </a:t>
                </a:r>
                <a:r>
                  <a:rPr lang="en-US" sz="2400" dirty="0" err="1">
                    <a:latin typeface="+mj-lt"/>
                  </a:rPr>
                  <a:t>didapat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nilai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kritis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sebesar</a:t>
                </a:r>
                <a:r>
                  <a:rPr lang="en-US" sz="2400" dirty="0">
                    <a:latin typeface="+mj-lt"/>
                  </a:rPr>
                  <a:t>  </a:t>
                </a:r>
                <a:r>
                  <a:rPr lang="en-US" sz="2400" b="1" dirty="0">
                    <a:latin typeface="+mj-lt"/>
                  </a:rPr>
                  <a:t>19,74</a:t>
                </a:r>
              </a:p>
              <a:p>
                <a:endParaRPr lang="en-US" sz="2400" b="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440" y="2204864"/>
                <a:ext cx="10628560" cy="4300857"/>
              </a:xfrm>
              <a:prstGeom prst="rect">
                <a:avLst/>
              </a:prstGeom>
              <a:blipFill>
                <a:blip r:embed="rId2"/>
                <a:stretch>
                  <a:fillRect l="-860" t="-11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3468760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err="1">
                <a:latin typeface="Calibri" panose="020F0502020204030204" pitchFamily="34" charset="0"/>
                <a:cs typeface="Calibri" panose="020F0502020204030204" pitchFamily="34" charset="0"/>
              </a:rPr>
              <a:t>Contoh</a:t>
            </a: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b="1" dirty="0" err="1">
                <a:latin typeface="Calibri" panose="020F0502020204030204" pitchFamily="34" charset="0"/>
                <a:cs typeface="Calibri" panose="020F0502020204030204" pitchFamily="34" charset="0"/>
              </a:rPr>
              <a:t>Uji</a:t>
            </a: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Kesamaan</a:t>
            </a: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b="1" dirty="0" err="1">
                <a:latin typeface="Calibri" panose="020F0502020204030204" pitchFamily="34" charset="0"/>
                <a:cs typeface="Calibri" panose="020F0502020204030204" pitchFamily="34" charset="0"/>
              </a:rPr>
              <a:t>Dua</a:t>
            </a: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b="1" dirty="0" err="1">
                <a:latin typeface="Calibri" panose="020F0502020204030204" pitchFamily="34" charset="0"/>
                <a:cs typeface="Calibri" panose="020F0502020204030204" pitchFamily="34" charset="0"/>
              </a:rPr>
              <a:t>Matriks</a:t>
            </a: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b="1" dirty="0" err="1">
                <a:latin typeface="Calibri" panose="020F0502020204030204" pitchFamily="34" charset="0"/>
                <a:cs typeface="Calibri" panose="020F0502020204030204" pitchFamily="34" charset="0"/>
              </a:rPr>
              <a:t>Covariansi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479376" y="2132856"/>
                <a:ext cx="11204624" cy="15408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Untuk </a:t>
                </a: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pendekatan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ke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Chi </a:t>
                </a: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Kuadrat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akan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dihitung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nilai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sehingga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didapat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2+1</m:t>
                            </m:r>
                          </m:e>
                        </m:d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[2</m:t>
                        </m:r>
                        <m:d>
                          <m:d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b="0" i="1" dirty="0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4</m:t>
                                </m:r>
                              </m:e>
                              <m:sup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+3</m:t>
                        </m:r>
                        <m:d>
                          <m:d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4</m:t>
                            </m:r>
                          </m:e>
                        </m:d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−1]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6(2)(31)(4+1)</m:t>
                        </m:r>
                      </m:den>
                    </m:f>
                    <m:r>
                      <a:rPr lang="en-US" sz="2400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=0,06935</m:t>
                    </m:r>
                  </m:oMath>
                </a14:m>
                <a:endParaRPr lang="en-US" sz="2400" b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=−2(1−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)ln M=</a:t>
                </a:r>
                <a:r>
                  <a:rPr lang="en-US" sz="2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13,551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. Dari </a:t>
                </a: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Tabel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Chi </a:t>
                </a: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Kuadrat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didapat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nilai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𝜒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0,05 (10)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=</a:t>
                </a:r>
                <a:r>
                  <a:rPr lang="en-US" sz="2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18,307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376" y="2132856"/>
                <a:ext cx="11204624" cy="1540871"/>
              </a:xfrm>
              <a:prstGeom prst="rect">
                <a:avLst/>
              </a:prstGeom>
              <a:blipFill>
                <a:blip r:embed="rId2"/>
                <a:stretch>
                  <a:fillRect l="-871" t="-3162" b="-5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91134" y="4091922"/>
                <a:ext cx="9043181" cy="27660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Untuk </a:t>
                </a: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pendekatan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ke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distribusi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F, </a:t>
                </a: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dihitung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C</m:t>
                        </m:r>
                      </m:e>
                      <m:sub>
                        <m:r>
                          <a:rPr lang="en-US" sz="2400" b="0" i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2400" b="0" i="0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(4−1)(4+2)</m:t>
                        </m:r>
                      </m:num>
                      <m:den>
                        <m:r>
                          <a:rPr lang="en-US" sz="2400" b="0" i="0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6(2−1)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240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fPr>
                          <m:num>
                            <m:r>
                              <a:rPr lang="en-US" sz="2400" b="0" i="0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2400" i="1" dirty="0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0" dirty="0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31</m:t>
                                </m:r>
                              </m:e>
                              <m:sup>
                                <m:r>
                                  <a:rPr lang="en-US" sz="2400" b="0" i="0" dirty="0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sz="2400" b="0" i="0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+</m:t>
                        </m:r>
                        <m:f>
                          <m:f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fPr>
                          <m:num>
                            <m:r>
                              <a:rPr lang="en-US" sz="2400" i="0" dirty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0" dirty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31</m:t>
                                </m:r>
                              </m:e>
                              <m:sup>
                                <m:r>
                                  <a:rPr lang="en-US" sz="2400" i="0" dirty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sz="2400" b="0" i="0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fPr>
                          <m:num>
                            <m:r>
                              <a:rPr lang="en-US" sz="2400" b="0" i="0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2400" b="0" i="1" dirty="0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0" dirty="0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(31+31)</m:t>
                                </m:r>
                              </m:e>
                              <m:sup>
                                <m:r>
                                  <a:rPr lang="en-US" sz="2400" b="0" i="0" dirty="0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en-US" sz="24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=0,005463  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;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(2-1)(4)(4+1)=10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10+2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|0,005463−</m:t>
                        </m:r>
                        <m:sSup>
                          <m:sSup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0,06935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lang="en-US" sz="24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=18377,7          ;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1−0,06935−</m:t>
                        </m:r>
                        <m:f>
                          <m:f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fPr>
                          <m:num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18377,7</m:t>
                            </m:r>
                          </m:den>
                        </m:f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10</m:t>
                        </m:r>
                      </m:den>
                    </m:f>
                    <m:r>
                      <a:rPr lang="en-US" sz="2400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=0,0930</m:t>
                    </m:r>
                  </m:oMath>
                </a14:m>
                <a:endParaRPr lang="en-US" sz="2400" b="0" i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400" i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2400" i="1" dirty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en-US" sz="2400" i="1" dirty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1−0,06935−</m:t>
                          </m:r>
                          <m:f>
                            <m:f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18377,7</m:t>
                              </m:r>
                            </m:den>
                          </m:f>
                        </m:num>
                        <m:den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18377,7</m:t>
                          </m:r>
                        </m:den>
                      </m:f>
                      <m:r>
                        <a:rPr lang="en-US" sz="2400" i="1" dirty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5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,0634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𝑥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10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−5</m:t>
                          </m:r>
                        </m:sup>
                      </m:sSup>
                    </m:oMath>
                  </m:oMathPara>
                </a14:m>
                <a:endParaRPr lang="en-US" sz="2400" i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34" y="4091922"/>
                <a:ext cx="9043181" cy="2766078"/>
              </a:xfrm>
              <a:prstGeom prst="rect">
                <a:avLst/>
              </a:prstGeom>
              <a:blipFill>
                <a:blip r:embed="rId7"/>
                <a:stretch>
                  <a:fillRect l="-1079" t="-1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0305303"/>
      </p:ext>
    </p:extLst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sz="3600" dirty="0"/>
            </a:br>
            <a:r>
              <a:rPr lang="en-US" sz="3600" b="1" dirty="0" err="1"/>
              <a:t>Contoh</a:t>
            </a:r>
            <a:r>
              <a:rPr lang="en-US" sz="3600" dirty="0"/>
              <a:t> </a:t>
            </a:r>
            <a:r>
              <a:rPr lang="en-US" sz="3600" b="1" dirty="0" err="1">
                <a:latin typeface="Calibri" panose="020F0502020204030204" pitchFamily="34" charset="0"/>
                <a:cs typeface="Calibri" panose="020F0502020204030204" pitchFamily="34" charset="0"/>
              </a:rPr>
              <a:t>Uji</a:t>
            </a: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Kesamaan</a:t>
            </a: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b="1" dirty="0" err="1">
                <a:latin typeface="Calibri" panose="020F0502020204030204" pitchFamily="34" charset="0"/>
                <a:cs typeface="Calibri" panose="020F0502020204030204" pitchFamily="34" charset="0"/>
              </a:rPr>
              <a:t>Dua</a:t>
            </a: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b="1" dirty="0" err="1">
                <a:latin typeface="Calibri" panose="020F0502020204030204" pitchFamily="34" charset="0"/>
                <a:cs typeface="Calibri" panose="020F0502020204030204" pitchFamily="34" charset="0"/>
              </a:rPr>
              <a:t>Matriks</a:t>
            </a: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b="1" dirty="0" err="1">
                <a:latin typeface="Calibri" panose="020F0502020204030204" pitchFamily="34" charset="0"/>
                <a:cs typeface="Calibri" panose="020F0502020204030204" pitchFamily="34" charset="0"/>
              </a:rPr>
              <a:t>Covarians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49391" y="2276872"/>
                <a:ext cx="10985893" cy="4855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+mj-lt"/>
                  </a:rPr>
                  <a:t>Dari </a:t>
                </a:r>
                <a:r>
                  <a:rPr lang="en-US" sz="2400" dirty="0" err="1">
                    <a:latin typeface="+mj-lt"/>
                  </a:rPr>
                  <a:t>hasil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perhitungan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didapat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nilai</a:t>
                </a:r>
                <a:r>
                  <a:rPr lang="en-US" sz="2400" dirty="0">
                    <a:latin typeface="+mj-lt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+mj-lt"/>
                  </a:rPr>
                  <a:t>&gt;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2400" dirty="0">
                    <a:latin typeface="+mj-lt"/>
                  </a:rPr>
                  <a:t> , </a:t>
                </a:r>
                <a:r>
                  <a:rPr lang="en-US" sz="2400" dirty="0" err="1">
                    <a:latin typeface="+mj-lt"/>
                  </a:rPr>
                  <a:t>sehingga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digunakan</a:t>
                </a:r>
                <a:r>
                  <a:rPr lang="en-US" sz="2400" dirty="0">
                    <a:latin typeface="+mj-lt"/>
                  </a:rPr>
                  <a:t>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=−2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latin typeface="+mj-lt"/>
                  </a:rPr>
                  <a:t>ln M=1,354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391" y="2276872"/>
                <a:ext cx="10985893" cy="485518"/>
              </a:xfrm>
              <a:prstGeom prst="rect">
                <a:avLst/>
              </a:prstGeom>
              <a:blipFill>
                <a:blip r:embed="rId4"/>
                <a:stretch>
                  <a:fillRect l="-888" t="-5063" b="-291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49391" y="3192174"/>
                <a:ext cx="10755765" cy="15858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+mj-lt"/>
                  </a:rPr>
                  <a:t>Dari table </a:t>
                </a:r>
                <a:r>
                  <a:rPr lang="en-US" sz="2400" dirty="0" err="1">
                    <a:latin typeface="+mj-lt"/>
                  </a:rPr>
                  <a:t>Distribusi</a:t>
                </a:r>
                <a:r>
                  <a:rPr lang="en-US" sz="2400" dirty="0">
                    <a:latin typeface="+mj-lt"/>
                  </a:rPr>
                  <a:t> F </a:t>
                </a:r>
                <a:r>
                  <a:rPr lang="en-US" sz="2400" dirty="0" err="1">
                    <a:latin typeface="+mj-lt"/>
                  </a:rPr>
                  <a:t>didapat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nilai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kritis</a:t>
                </a:r>
                <a:r>
                  <a:rPr lang="en-US" sz="24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0,05 ;10,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sz="2400" dirty="0">
                    <a:latin typeface="+mj-lt"/>
                  </a:rPr>
                  <a:t>=1,83,</a:t>
                </a:r>
              </a:p>
              <a:p>
                <a:endParaRPr lang="en-US" sz="2400" dirty="0">
                  <a:latin typeface="+mj-lt"/>
                </a:endParaRPr>
              </a:p>
              <a:p>
                <a:r>
                  <a:rPr lang="en-US" sz="2400" dirty="0" err="1">
                    <a:latin typeface="+mj-lt"/>
                  </a:rPr>
                  <a:t>Sehingga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untuk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ketiga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statistik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uji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nilainya</a:t>
                </a:r>
                <a:r>
                  <a:rPr lang="en-US" sz="2400" dirty="0">
                    <a:latin typeface="+mj-lt"/>
                  </a:rPr>
                  <a:t> &lt; </a:t>
                </a:r>
                <a:r>
                  <a:rPr lang="en-US" sz="2400" dirty="0" err="1">
                    <a:latin typeface="+mj-lt"/>
                  </a:rPr>
                  <a:t>dari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nilai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kritis</a:t>
                </a:r>
                <a:r>
                  <a:rPr lang="en-US" sz="2400" dirty="0">
                    <a:latin typeface="+mj-lt"/>
                  </a:rPr>
                  <a:t>, </a:t>
                </a:r>
                <a:r>
                  <a:rPr lang="en-US" sz="2400" dirty="0" err="1">
                    <a:latin typeface="+mj-lt"/>
                  </a:rPr>
                  <a:t>maka</a:t>
                </a:r>
                <a:r>
                  <a:rPr lang="en-US" sz="24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diterima</a:t>
                </a:r>
                <a:r>
                  <a:rPr lang="en-US" sz="2400" dirty="0">
                    <a:latin typeface="+mj-lt"/>
                  </a:rPr>
                  <a:t>, </a:t>
                </a:r>
                <a:r>
                  <a:rPr lang="en-US" sz="2400" dirty="0" err="1">
                    <a:latin typeface="+mj-lt"/>
                  </a:rPr>
                  <a:t>artinya</a:t>
                </a:r>
                <a:endParaRPr lang="en-US" sz="2400" dirty="0">
                  <a:latin typeface="+mj-lt"/>
                </a:endParaRPr>
              </a:p>
              <a:p>
                <a:r>
                  <a:rPr lang="en-US" sz="2400" dirty="0" err="1">
                    <a:latin typeface="+mj-lt"/>
                  </a:rPr>
                  <a:t>kedua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populasi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mempunyai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matriks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covarians</a:t>
                </a:r>
                <a:r>
                  <a:rPr lang="en-US" sz="2400" dirty="0">
                    <a:latin typeface="+mj-lt"/>
                  </a:rPr>
                  <a:t> yang </a:t>
                </a:r>
                <a:r>
                  <a:rPr lang="en-US" sz="2400" dirty="0" err="1">
                    <a:latin typeface="+mj-lt"/>
                  </a:rPr>
                  <a:t>homogen</a:t>
                </a:r>
                <a:endParaRPr lang="en-US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391" y="3192174"/>
                <a:ext cx="10755765" cy="1585883"/>
              </a:xfrm>
              <a:prstGeom prst="rect">
                <a:avLst/>
              </a:prstGeom>
              <a:blipFill>
                <a:blip r:embed="rId5"/>
                <a:stretch>
                  <a:fillRect l="-907" t="-2692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8279308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5371</TotalTime>
  <Words>2572</Words>
  <Application>Microsoft Office PowerPoint</Application>
  <PresentationFormat>Widescreen</PresentationFormat>
  <Paragraphs>447</Paragraphs>
  <Slides>35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Aptos</vt:lpstr>
      <vt:lpstr>Aptos Display</vt:lpstr>
      <vt:lpstr>Arial</vt:lpstr>
      <vt:lpstr>Calibri</vt:lpstr>
      <vt:lpstr>Cambria Math</vt:lpstr>
      <vt:lpstr>Wingdings 2</vt:lpstr>
      <vt:lpstr>Wingdings 3</vt:lpstr>
      <vt:lpstr>Office Theme</vt:lpstr>
      <vt:lpstr>Uji Rata-rata dan Uji Variansi  1 Populasi</vt:lpstr>
      <vt:lpstr>FISH BONE</vt:lpstr>
      <vt:lpstr>Uji Hipotesis Rata-rata Data Univariat (σ diketahui)</vt:lpstr>
      <vt:lpstr>PowerPoint Presentation</vt:lpstr>
      <vt:lpstr>Uji Hipotesis Rata-rata Data Multivariat (Σ diketahui)</vt:lpstr>
      <vt:lpstr>Uji Hipotesis Rata-rata Data Multivariat (Σ tidak diketahui)</vt:lpstr>
      <vt:lpstr>Univariat vs. Multivariat</vt:lpstr>
      <vt:lpstr>PowerPoint Presentation</vt:lpstr>
      <vt:lpstr>Uji Matriks Kovariansi </vt:lpstr>
      <vt:lpstr>Pendekatan x^2 dengan statistik u</vt:lpstr>
      <vt:lpstr>STUDI KASUS</vt:lpstr>
      <vt:lpstr>Uji Rata-rata Data Univariat (σ diketahui)</vt:lpstr>
      <vt:lpstr>Uji Rata-rata Data Univariat (σ tak diketahui)</vt:lpstr>
      <vt:lpstr>Uji Rata-rata Data Multivariat (Σ diketahui)</vt:lpstr>
      <vt:lpstr>Uji Rata-rata Data Multivariat (Σ diketahui)</vt:lpstr>
      <vt:lpstr>Uji Rata-rata Data Multivariat (Σ tak diketahui)</vt:lpstr>
      <vt:lpstr>Uji Rata-rata Data Multivariat (Σ tak diketahui)</vt:lpstr>
      <vt:lpstr>Uji Variansi Data Univariat</vt:lpstr>
      <vt:lpstr>Uji Variansi Data Multivariat</vt:lpstr>
      <vt:lpstr>PowerPoint Presentation</vt:lpstr>
      <vt:lpstr>Uji Rata-rata dan Uji Variansi  2 Populasi</vt:lpstr>
      <vt:lpstr>Hirarki Uji Dua Populasi</vt:lpstr>
      <vt:lpstr>Uji Rata-rata Data Univariat Tak berpasangan</vt:lpstr>
      <vt:lpstr>Uji Rata-rata Data Univariat Berpasangan</vt:lpstr>
      <vt:lpstr>Uji Rata-rata Data Multivariat Tak berpasangan</vt:lpstr>
      <vt:lpstr>Uji Rata-rata Data Multivariat Berpasangan</vt:lpstr>
      <vt:lpstr>Uji Kesamaan Matriks Kovariansi</vt:lpstr>
      <vt:lpstr>Pendekatan x^2 dengan statistik u</vt:lpstr>
      <vt:lpstr>Uji Kesamaan Beberapa Matriks Kovariansi</vt:lpstr>
      <vt:lpstr>Uji Kesamaan Beberapa Matriks Kovariansi</vt:lpstr>
      <vt:lpstr>Uji Kesamaan Beberapa Matriks Kovariansi</vt:lpstr>
      <vt:lpstr>Uji Kesamaan Beberapa Matriks Kovariansi</vt:lpstr>
      <vt:lpstr>Contoh Uji Kesamaan Dua Matriks Covariansi</vt:lpstr>
      <vt:lpstr>Contoh Uji Kesamaan Dua Matriks Covariansi</vt:lpstr>
      <vt:lpstr> Contoh Uji Kesamaan Dua Matriks Covarians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Adri Arisena</cp:lastModifiedBy>
  <cp:revision>181</cp:revision>
  <dcterms:created xsi:type="dcterms:W3CDTF">2017-03-12T20:23:09Z</dcterms:created>
  <dcterms:modified xsi:type="dcterms:W3CDTF">2024-10-21T02:40:39Z</dcterms:modified>
</cp:coreProperties>
</file>