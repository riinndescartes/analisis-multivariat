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9" r:id="rId13"/>
    <p:sldId id="268" r:id="rId14"/>
    <p:sldId id="271" r:id="rId1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 autoAdjust="0"/>
  </p:normalViewPr>
  <p:slideViewPr>
    <p:cSldViewPr>
      <p:cViewPr varScale="1">
        <p:scale>
          <a:sx n="65" d="100"/>
          <a:sy n="65" d="100"/>
        </p:scale>
        <p:origin x="14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F09B947-F4A7-4150-B3B3-2B41E7789585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93EF5C1-CA17-4602-A38F-890328E7B8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245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EA8674FA-643A-4B42-AC01-DA6CF9C088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DF5F1-BD33-46A9-9112-71E58FAFD3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05B50FF-F4AA-4C6D-AB4E-FAB9AAAB25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34E76-1607-4589-A0C5-9639EB23589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8DE35-8AF8-4385-A472-9372D5693D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05E4-D019-43B5-8D3F-F86683573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2237-D2E7-464F-84F0-8F48FEC904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85BE8-7BAC-4D57-AE89-CDF1B68D77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A57C8A0A-7010-43F3-AE47-FCF39B5980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AE379-7CCB-4168-8071-614BF34010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4E67E-13DE-4F7D-A0D0-D3B668A694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828800"/>
            <a:ext cx="7696200" cy="3657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56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83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376B304-1E86-4C5A-A103-9597C9E9A6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CA3CE8FA-E98B-4565-A65C-B59557290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 b="1" dirty="0"/>
              <a:t>DISTRIBUSI NORMAL MULTIVARIAT</a:t>
            </a:r>
          </a:p>
          <a:p>
            <a:pPr>
              <a:lnSpc>
                <a:spcPct val="80000"/>
              </a:lnSpc>
            </a:pPr>
            <a:endParaRPr lang="en-US" sz="2400" b="1" dirty="0"/>
          </a:p>
          <a:p>
            <a:pPr>
              <a:lnSpc>
                <a:spcPct val="80000"/>
              </a:lnSpc>
            </a:pPr>
            <a:r>
              <a:rPr lang="en-US" sz="2400" b="1" dirty="0"/>
              <a:t> </a:t>
            </a:r>
            <a:endParaRPr lang="en-US" sz="2800" b="1" dirty="0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PENGANTAR  MULTIVARIAT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DISTRIBUSI NORMAL MULTIVARIAT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sv-SE" sz="2400" dirty="0"/>
              <a:t>Fungsi densitas normal ganda (</a:t>
            </a:r>
            <a:r>
              <a:rPr lang="sv-SE" sz="2400" i="1" dirty="0"/>
              <a:t>multivariate normal</a:t>
            </a:r>
            <a:r>
              <a:rPr lang="sv-SE" sz="2400" dirty="0"/>
              <a:t>) adalah generalisasi dari fungsi densitas </a:t>
            </a:r>
            <a:r>
              <a:rPr lang="sv-SE" sz="2400" i="1" dirty="0"/>
              <a:t>univariate</a:t>
            </a:r>
            <a:r>
              <a:rPr lang="sv-SE" sz="2400" dirty="0"/>
              <a:t> normal dengan p </a:t>
            </a:r>
            <a:r>
              <a:rPr lang="en-US" sz="2400" dirty="0">
                <a:sym typeface="Symbol" pitchFamily="18" charset="2"/>
              </a:rPr>
              <a:t></a:t>
            </a:r>
            <a:r>
              <a:rPr lang="sv-SE" sz="2400" dirty="0"/>
              <a:t> 2 dimensi. </a:t>
            </a:r>
          </a:p>
          <a:p>
            <a:pPr>
              <a:lnSpc>
                <a:spcPct val="80000"/>
              </a:lnSpc>
            </a:pPr>
            <a:r>
              <a:rPr lang="sv-SE" sz="2400" dirty="0"/>
              <a:t>Fungsi densitas dari peubah acak X yang berdistribusi normal dengan rata-rata </a:t>
            </a:r>
            <a:r>
              <a:rPr lang="en-US" sz="2400" dirty="0">
                <a:sym typeface="Symbol" pitchFamily="18" charset="2"/>
              </a:rPr>
              <a:t></a:t>
            </a:r>
            <a:r>
              <a:rPr lang="sv-SE" sz="2400" dirty="0"/>
              <a:t> dan varians </a:t>
            </a:r>
            <a:r>
              <a:rPr lang="en-US" sz="2400" dirty="0">
                <a:sym typeface="Symbol" pitchFamily="18" charset="2"/>
              </a:rPr>
              <a:t></a:t>
            </a:r>
            <a:r>
              <a:rPr lang="sv-SE" sz="2400" baseline="30000" dirty="0"/>
              <a:t>2</a:t>
            </a:r>
            <a:r>
              <a:rPr lang="sv-SE" sz="2400" dirty="0"/>
              <a:t> adalah :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endParaRPr 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sv-SE" sz="2400"/>
              <a:t>   dimana  </a:t>
            </a:r>
            <a:r>
              <a:rPr lang="sv-SE" sz="2400" dirty="0"/>
              <a:t>-</a:t>
            </a:r>
            <a:r>
              <a:rPr lang="en-US" sz="2400" dirty="0">
                <a:sym typeface="Symbol" pitchFamily="18" charset="2"/>
              </a:rPr>
              <a:t></a:t>
            </a:r>
            <a:r>
              <a:rPr lang="sv-SE" sz="2400" dirty="0"/>
              <a:t> &lt; x &lt; </a:t>
            </a:r>
            <a:r>
              <a:rPr lang="en-US" sz="2400" dirty="0">
                <a:sym typeface="Symbol" pitchFamily="18" charset="2"/>
              </a:rPr>
              <a:t></a:t>
            </a:r>
            <a:r>
              <a:rPr lang="en-US" sz="2400" dirty="0"/>
              <a:t> </a:t>
            </a:r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13668" name="Object 4"/>
          <p:cNvGraphicFramePr>
            <a:graphicFrameLocks noChangeAspect="1"/>
          </p:cNvGraphicFramePr>
          <p:nvPr/>
        </p:nvGraphicFramePr>
        <p:xfrm>
          <a:off x="1039813" y="3287713"/>
          <a:ext cx="45497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431640" progId="Equation.3">
                  <p:embed/>
                </p:oleObj>
              </mc:Choice>
              <mc:Fallback>
                <p:oleObj name="Equation" r:id="rId2" imgW="241272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3" y="3287713"/>
                        <a:ext cx="4549775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828800"/>
            <a:ext cx="5029200" cy="3657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sv-SE" sz="2400" dirty="0"/>
              <a:t>Plot dari fungsi di atas akan menghasilkan kurva berbentuk genta yang memiliki ciri-ciri sebagai berikut: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000" dirty="0" err="1"/>
              <a:t>Simetrik</a:t>
            </a:r>
            <a:r>
              <a:rPr lang="en-US" sz="2000" dirty="0"/>
              <a:t> </a:t>
            </a:r>
            <a:r>
              <a:rPr lang="en-US" sz="2000" dirty="0" err="1"/>
              <a:t>terhadap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rata-rata (</a:t>
            </a:r>
            <a:r>
              <a:rPr lang="en-US" sz="2000" dirty="0">
                <a:sym typeface="Symbol" pitchFamily="18" charset="2"/>
              </a:rPr>
              <a:t></a:t>
            </a:r>
            <a:r>
              <a:rPr lang="en-US" sz="2000" dirty="0"/>
              <a:t>) </a:t>
            </a:r>
            <a:endParaRPr lang="sv-SE" sz="2000" dirty="0"/>
          </a:p>
          <a:p>
            <a:pPr lvl="1">
              <a:lnSpc>
                <a:spcPct val="90000"/>
              </a:lnSpc>
            </a:pPr>
            <a:r>
              <a:rPr lang="sv-SE" sz="2000" dirty="0"/>
              <a:t>Mean, median, modus berada pada titik yang sama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P (</a:t>
            </a:r>
            <a:r>
              <a:rPr lang="en-US" sz="2000" dirty="0">
                <a:sym typeface="Symbol" pitchFamily="18" charset="2"/>
              </a:rPr>
              <a:t></a:t>
            </a:r>
            <a:r>
              <a:rPr lang="en-US" sz="2000" dirty="0"/>
              <a:t>  - </a:t>
            </a:r>
            <a:r>
              <a:rPr lang="en-US" sz="2000" dirty="0">
                <a:sym typeface="Symbol" pitchFamily="18" charset="2"/>
              </a:rPr>
              <a:t></a:t>
            </a:r>
            <a:r>
              <a:rPr lang="en-US" sz="2000" dirty="0"/>
              <a:t>  &lt; x &lt; </a:t>
            </a:r>
            <a:r>
              <a:rPr lang="en-US" sz="2000" dirty="0">
                <a:sym typeface="Symbol" pitchFamily="18" charset="2"/>
              </a:rPr>
              <a:t></a:t>
            </a:r>
            <a:r>
              <a:rPr lang="en-US" sz="2000" dirty="0"/>
              <a:t> + </a:t>
            </a:r>
            <a:r>
              <a:rPr lang="en-US" sz="2000" dirty="0">
                <a:sym typeface="Symbol" pitchFamily="18" charset="2"/>
              </a:rPr>
              <a:t></a:t>
            </a:r>
            <a:r>
              <a:rPr lang="en-US" sz="2000" dirty="0"/>
              <a:t> ) = 0.683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P (</a:t>
            </a:r>
            <a:r>
              <a:rPr lang="en-US" sz="2000" dirty="0">
                <a:sym typeface="Symbol" pitchFamily="18" charset="2"/>
              </a:rPr>
              <a:t></a:t>
            </a:r>
            <a:r>
              <a:rPr lang="en-US" sz="2000" dirty="0"/>
              <a:t> - 2</a:t>
            </a:r>
            <a:r>
              <a:rPr lang="en-US" sz="2000" dirty="0">
                <a:sym typeface="Symbol" pitchFamily="18" charset="2"/>
              </a:rPr>
              <a:t> </a:t>
            </a:r>
            <a:r>
              <a:rPr lang="en-US" sz="2000" dirty="0"/>
              <a:t> &lt; x &lt; </a:t>
            </a:r>
            <a:r>
              <a:rPr lang="en-US" sz="2000" dirty="0">
                <a:sym typeface="Symbol" pitchFamily="18" charset="2"/>
              </a:rPr>
              <a:t></a:t>
            </a:r>
            <a:r>
              <a:rPr lang="en-US" sz="2000" dirty="0"/>
              <a:t> + 2</a:t>
            </a:r>
            <a:r>
              <a:rPr lang="en-US" sz="2000" dirty="0">
                <a:sym typeface="Symbol" pitchFamily="18" charset="2"/>
              </a:rPr>
              <a:t></a:t>
            </a:r>
            <a:r>
              <a:rPr lang="en-US" sz="2000" dirty="0"/>
              <a:t> ) = 0.954</a:t>
            </a:r>
          </a:p>
        </p:txBody>
      </p:sp>
      <p:sp>
        <p:nvSpPr>
          <p:cNvPr id="114693" name="Rectangle 5"/>
          <p:cNvSpPr>
            <a:spLocks noChangeArrowheads="1"/>
          </p:cNvSpPr>
          <p:nvPr/>
        </p:nvSpPr>
        <p:spPr bwMode="auto">
          <a:xfrm>
            <a:off x="0" y="2571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14692" name="Object 4"/>
          <p:cNvGraphicFramePr>
            <a:graphicFrameLocks noChangeAspect="1"/>
          </p:cNvGraphicFramePr>
          <p:nvPr/>
        </p:nvGraphicFramePr>
        <p:xfrm>
          <a:off x="5791200" y="2438400"/>
          <a:ext cx="29718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2647950" imgH="1714500" progId="Excel.Sheet.8">
                  <p:embed/>
                </p:oleObj>
              </mc:Choice>
              <mc:Fallback>
                <p:oleObj name="Chart" r:id="rId2" imgW="2647950" imgH="1714500" progId="Excel.Sheet.8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438400"/>
                        <a:ext cx="2971800" cy="213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314325"/>
            <a:ext cx="81534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DISTRIBUSI NORMAL UNIVARIAT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981200"/>
            <a:ext cx="7772400" cy="45720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/>
              <a:t>densitas</a:t>
            </a:r>
            <a:r>
              <a:rPr lang="en-US" sz="2000" dirty="0"/>
              <a:t> </a:t>
            </a:r>
            <a:r>
              <a:rPr lang="en-US" sz="2000" dirty="0" err="1"/>
              <a:t>bersama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p </a:t>
            </a:r>
            <a:r>
              <a:rPr lang="en-US" sz="2000" dirty="0" err="1"/>
              <a:t>peubah</a:t>
            </a:r>
            <a:r>
              <a:rPr lang="en-US" sz="2000" dirty="0"/>
              <a:t> </a:t>
            </a:r>
            <a:r>
              <a:rPr lang="en-US" sz="2000" dirty="0" err="1"/>
              <a:t>acak</a:t>
            </a:r>
            <a:r>
              <a:rPr lang="en-US" sz="2000" dirty="0"/>
              <a:t> yang </a:t>
            </a:r>
            <a:r>
              <a:rPr lang="en-US" sz="2000" dirty="0" err="1"/>
              <a:t>berdistribusi</a:t>
            </a:r>
            <a:r>
              <a:rPr lang="en-US" sz="2000" dirty="0"/>
              <a:t> normal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saling</a:t>
            </a:r>
            <a:r>
              <a:rPr lang="en-US" sz="2000" dirty="0"/>
              <a:t> </a:t>
            </a:r>
            <a:r>
              <a:rPr lang="en-US" sz="2000" dirty="0" err="1"/>
              <a:t>bebas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:</a:t>
            </a:r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dirty="0" err="1"/>
              <a:t>Bentuk</a:t>
            </a:r>
            <a:r>
              <a:rPr lang="en-US" sz="2000" dirty="0"/>
              <a:t> [ (xi - </a:t>
            </a:r>
            <a:r>
              <a:rPr lang="en-US" sz="2000" dirty="0">
                <a:sym typeface="Symbol" pitchFamily="18" charset="2"/>
              </a:rPr>
              <a:t></a:t>
            </a:r>
            <a:r>
              <a:rPr lang="en-US" sz="2000" dirty="0"/>
              <a:t>)/</a:t>
            </a:r>
            <a:r>
              <a:rPr lang="en-US" sz="2000" dirty="0">
                <a:sym typeface="Symbol" pitchFamily="18" charset="2"/>
              </a:rPr>
              <a:t></a:t>
            </a:r>
            <a:r>
              <a:rPr lang="en-US" sz="2000" dirty="0"/>
              <a:t>]</a:t>
            </a:r>
            <a:r>
              <a:rPr lang="en-US" sz="2000" baseline="30000" dirty="0"/>
              <a:t>2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eksponen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/>
              <a:t>distribusi</a:t>
            </a:r>
            <a:r>
              <a:rPr lang="en-US" sz="2000" dirty="0"/>
              <a:t>  normal </a:t>
            </a:r>
            <a:r>
              <a:rPr lang="en-US" sz="2000" dirty="0" err="1"/>
              <a:t>mengukur</a:t>
            </a:r>
            <a:r>
              <a:rPr lang="en-US" sz="2000" dirty="0"/>
              <a:t> </a:t>
            </a:r>
            <a:r>
              <a:rPr lang="en-US" sz="2000" dirty="0" err="1"/>
              <a:t>jarak</a:t>
            </a:r>
            <a:r>
              <a:rPr lang="en-US" sz="2000" dirty="0"/>
              <a:t> </a:t>
            </a:r>
            <a:r>
              <a:rPr lang="en-US" sz="2000" dirty="0" err="1"/>
              <a:t>kuadrat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x</a:t>
            </a:r>
            <a:r>
              <a:rPr lang="en-US" sz="2000" baseline="-25000" dirty="0"/>
              <a:t>i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>
                <a:sym typeface="Symbol" pitchFamily="18" charset="2"/>
              </a:rPr>
              <a:t></a:t>
            </a:r>
            <a:r>
              <a:rPr lang="en-US" sz="2000" baseline="-25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unit </a:t>
            </a:r>
            <a:r>
              <a:rPr lang="en-US" sz="2000" dirty="0" err="1"/>
              <a:t>simpangan</a:t>
            </a:r>
            <a:r>
              <a:rPr lang="en-US" sz="2000" dirty="0"/>
              <a:t> </a:t>
            </a:r>
            <a:r>
              <a:rPr lang="en-US" sz="2000" dirty="0" err="1"/>
              <a:t>baku</a:t>
            </a:r>
            <a:r>
              <a:rPr lang="en-US" sz="2000" dirty="0"/>
              <a:t>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</a:t>
            </a:r>
          </a:p>
          <a:p>
            <a:pPr>
              <a:lnSpc>
                <a:spcPct val="80000"/>
              </a:lnSpc>
            </a:pP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digeneralisasikan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vektor</a:t>
            </a:r>
            <a:r>
              <a:rPr lang="en-US" sz="2000" dirty="0"/>
              <a:t>  </a:t>
            </a:r>
            <a:r>
              <a:rPr lang="en-US" sz="2000" b="1" u="sng" dirty="0"/>
              <a:t>x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pengamatan</a:t>
            </a:r>
            <a:r>
              <a:rPr lang="en-US" sz="2000" dirty="0"/>
              <a:t> </a:t>
            </a:r>
            <a:r>
              <a:rPr lang="en-US" sz="2000" dirty="0" err="1"/>
              <a:t>beberapa</a:t>
            </a:r>
            <a:r>
              <a:rPr lang="en-US" sz="2000" dirty="0"/>
              <a:t> </a:t>
            </a:r>
            <a:r>
              <a:rPr lang="en-US" sz="2000" dirty="0" err="1"/>
              <a:t>peubah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sv-SE" sz="2000" dirty="0"/>
              <a:t>	(</a:t>
            </a:r>
            <a:r>
              <a:rPr lang="sv-SE" sz="2000" b="1" u="sng" dirty="0"/>
              <a:t>x</a:t>
            </a:r>
            <a:r>
              <a:rPr lang="sv-SE" sz="2000" dirty="0"/>
              <a:t> - </a:t>
            </a:r>
            <a:r>
              <a:rPr lang="en-US" sz="2000" u="sng" dirty="0">
                <a:sym typeface="Symbol" pitchFamily="18" charset="2"/>
              </a:rPr>
              <a:t></a:t>
            </a:r>
            <a:r>
              <a:rPr lang="sv-SE" sz="2000" dirty="0"/>
              <a:t>)’ </a:t>
            </a:r>
            <a:r>
              <a:rPr lang="en-US" sz="2000" dirty="0">
                <a:sym typeface="Symbol" pitchFamily="18" charset="2"/>
              </a:rPr>
              <a:t></a:t>
            </a:r>
            <a:r>
              <a:rPr lang="sv-SE" sz="2000" baseline="30000" dirty="0"/>
              <a:t>-1</a:t>
            </a:r>
            <a:r>
              <a:rPr lang="sv-SE" sz="2000" dirty="0"/>
              <a:t> (</a:t>
            </a:r>
            <a:r>
              <a:rPr lang="sv-SE" sz="2000" b="1" u="sng" dirty="0"/>
              <a:t>x</a:t>
            </a:r>
            <a:r>
              <a:rPr lang="sv-SE" sz="2000" dirty="0"/>
              <a:t> - </a:t>
            </a:r>
            <a:r>
              <a:rPr lang="en-US" sz="2000" u="sng" dirty="0">
                <a:sym typeface="Symbol" pitchFamily="18" charset="2"/>
              </a:rPr>
              <a:t></a:t>
            </a:r>
            <a:r>
              <a:rPr lang="sv-SE" sz="2000" dirty="0"/>
              <a:t>)</a:t>
            </a:r>
            <a:endParaRPr lang="en-US" sz="2000" dirty="0"/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0" y="31575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8077200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DISTRIBUSI NORMAL MULTIVARIAT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371600" y="2717750"/>
                <a:ext cx="4680577" cy="5239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𝐸𝑥𝑝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717750"/>
                <a:ext cx="4680577" cy="523926"/>
              </a:xfrm>
              <a:prstGeom prst="rect">
                <a:avLst/>
              </a:prstGeom>
              <a:blipFill>
                <a:blip r:embed="rId2"/>
                <a:stretch>
                  <a:fillRect l="-130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828800"/>
            <a:ext cx="5105400" cy="3657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umum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/>
              <a:t>densitas</a:t>
            </a:r>
            <a:r>
              <a:rPr lang="en-US" sz="2000" dirty="0"/>
              <a:t> normal </a:t>
            </a:r>
            <a:r>
              <a:rPr lang="en-US" sz="2000" dirty="0" err="1"/>
              <a:t>bersama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p </a:t>
            </a:r>
            <a:r>
              <a:rPr lang="en-US" sz="2000" dirty="0" err="1"/>
              <a:t>peubah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ditulis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berikut</a:t>
            </a:r>
            <a:r>
              <a:rPr lang="en-US" sz="2000" dirty="0"/>
              <a:t> : </a:t>
            </a:r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dirty="0" err="1"/>
              <a:t>dimana</a:t>
            </a:r>
            <a:r>
              <a:rPr lang="en-US" sz="2000" dirty="0"/>
              <a:t> -</a:t>
            </a:r>
            <a:r>
              <a:rPr lang="en-US" sz="2000" dirty="0">
                <a:sym typeface="Symbol" pitchFamily="18" charset="2"/>
              </a:rPr>
              <a:t></a:t>
            </a:r>
            <a:r>
              <a:rPr lang="en-US" sz="2000" dirty="0"/>
              <a:t> &lt; xi</a:t>
            </a:r>
            <a:r>
              <a:rPr lang="en-US" sz="2000" b="1" dirty="0"/>
              <a:t> &lt; </a:t>
            </a:r>
            <a:r>
              <a:rPr lang="en-US" sz="2000" dirty="0">
                <a:sym typeface="Symbol" pitchFamily="18" charset="2"/>
              </a:rPr>
              <a:t></a:t>
            </a:r>
            <a:r>
              <a:rPr lang="en-US" sz="2000" b="1" dirty="0"/>
              <a:t> , </a:t>
            </a:r>
            <a:r>
              <a:rPr lang="en-US" sz="2000" dirty="0" err="1"/>
              <a:t>i</a:t>
            </a:r>
            <a:r>
              <a:rPr lang="en-US" sz="2000" dirty="0"/>
              <a:t> = 1,2,...p. </a:t>
            </a:r>
          </a:p>
          <a:p>
            <a:pPr>
              <a:lnSpc>
                <a:spcPct val="80000"/>
              </a:lnSpc>
            </a:pP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/>
              <a:t>densitas</a:t>
            </a:r>
            <a:r>
              <a:rPr lang="en-US" sz="2000" dirty="0"/>
              <a:t>  normal </a:t>
            </a:r>
            <a:r>
              <a:rPr lang="en-US" sz="2000" dirty="0" err="1"/>
              <a:t>berdimensi</a:t>
            </a:r>
            <a:r>
              <a:rPr lang="en-US" sz="2000" dirty="0"/>
              <a:t> p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ditulis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N</a:t>
            </a:r>
            <a:r>
              <a:rPr lang="en-US" sz="2000" baseline="-25000" dirty="0"/>
              <a:t>p</a:t>
            </a:r>
            <a:r>
              <a:rPr lang="en-US" sz="2000" dirty="0"/>
              <a:t>(</a:t>
            </a:r>
            <a:r>
              <a:rPr lang="en-US" sz="2000" dirty="0">
                <a:sym typeface="Symbol" pitchFamily="18" charset="2"/>
              </a:rPr>
              <a:t></a:t>
            </a:r>
            <a:r>
              <a:rPr lang="en-US" sz="2000" dirty="0"/>
              <a:t>,</a:t>
            </a:r>
            <a:r>
              <a:rPr lang="en-US" sz="2000" dirty="0">
                <a:sym typeface="Symbol" pitchFamily="18" charset="2"/>
              </a:rPr>
              <a:t></a:t>
            </a:r>
            <a:r>
              <a:rPr lang="en-US" sz="2000" dirty="0"/>
              <a:t>) yang analog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kasus</a:t>
            </a:r>
            <a:r>
              <a:rPr lang="en-US" sz="2000" dirty="0"/>
              <a:t> </a:t>
            </a:r>
            <a:r>
              <a:rPr lang="en-US" sz="2000" i="1" dirty="0"/>
              <a:t>univariate</a:t>
            </a:r>
            <a:r>
              <a:rPr lang="en-US" sz="2000" dirty="0"/>
              <a:t>.</a:t>
            </a:r>
          </a:p>
        </p:txBody>
      </p:sp>
      <p:sp>
        <p:nvSpPr>
          <p:cNvPr id="116741" name="Rectangle 5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16740" name="Object 4"/>
          <p:cNvGraphicFramePr>
            <a:graphicFrameLocks noChangeAspect="1"/>
          </p:cNvGraphicFramePr>
          <p:nvPr/>
        </p:nvGraphicFramePr>
        <p:xfrm>
          <a:off x="1152525" y="2709863"/>
          <a:ext cx="44100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35300" imgH="495300" progId="Equation.3">
                  <p:embed/>
                </p:oleObj>
              </mc:Choice>
              <mc:Fallback>
                <p:oleObj name="Equation" r:id="rId2" imgW="3035300" imgH="4953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25" y="2709863"/>
                        <a:ext cx="4410075" cy="719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3" name="Rectangle 7"/>
          <p:cNvSpPr>
            <a:spLocks noChangeArrowheads="1"/>
          </p:cNvSpPr>
          <p:nvPr/>
        </p:nvSpPr>
        <p:spPr bwMode="auto">
          <a:xfrm>
            <a:off x="0" y="22479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16742" name="Object 6"/>
          <p:cNvGraphicFramePr>
            <a:graphicFrameLocks noChangeAspect="1"/>
          </p:cNvGraphicFramePr>
          <p:nvPr/>
        </p:nvGraphicFramePr>
        <p:xfrm>
          <a:off x="5638800" y="2246313"/>
          <a:ext cx="3276600" cy="232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029200" imgH="3436200" progId="">
                  <p:embed/>
                </p:oleObj>
              </mc:Choice>
              <mc:Fallback>
                <p:oleObj r:id="rId4" imgW="5029200" imgH="34362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246313"/>
                        <a:ext cx="3276600" cy="2325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74638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DISTRIBUSI NORMAL MULTIVARIAT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8077200" cy="13255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Countur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DISTRIBUSI NORMAL MULTIVARIAT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41696" y="19812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 err="1"/>
              <a:t>Eksponen</a:t>
            </a:r>
            <a:r>
              <a:rPr lang="en-US" sz="2400" dirty="0"/>
              <a:t> (x - </a:t>
            </a:r>
            <a:r>
              <a:rPr lang="en-US" sz="2400" dirty="0">
                <a:sym typeface="Symbol" pitchFamily="18" charset="2"/>
              </a:rPr>
              <a:t></a:t>
            </a:r>
            <a:r>
              <a:rPr lang="en-US" sz="2400" dirty="0"/>
              <a:t>)’ </a:t>
            </a:r>
            <a:r>
              <a:rPr lang="en-US" sz="2400" dirty="0">
                <a:sym typeface="Symbol" pitchFamily="18" charset="2"/>
              </a:rPr>
              <a:t></a:t>
            </a:r>
            <a:r>
              <a:rPr lang="en-US" sz="2400" baseline="30000" dirty="0"/>
              <a:t>-1</a:t>
            </a:r>
            <a:r>
              <a:rPr lang="en-US" sz="2400" dirty="0"/>
              <a:t> (x - </a:t>
            </a:r>
            <a:r>
              <a:rPr lang="en-US" sz="2400" dirty="0">
                <a:sym typeface="Symbol" pitchFamily="18" charset="2"/>
              </a:rPr>
              <a:t></a:t>
            </a:r>
            <a:r>
              <a:rPr lang="en-US" sz="2400" dirty="0"/>
              <a:t>)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densitas</a:t>
            </a:r>
            <a:r>
              <a:rPr lang="en-US" sz="2400" dirty="0"/>
              <a:t>  normal </a:t>
            </a:r>
            <a:r>
              <a:rPr lang="en-US" sz="2400" dirty="0" err="1"/>
              <a:t>multivariat</a:t>
            </a:r>
            <a:r>
              <a:rPr lang="en-US" sz="2400" dirty="0"/>
              <a:t> </a:t>
            </a:r>
            <a:r>
              <a:rPr lang="en-US" sz="2400" dirty="0" err="1"/>
              <a:t>memperlihatkan</a:t>
            </a:r>
            <a:r>
              <a:rPr lang="en-US" sz="2400" dirty="0"/>
              <a:t> </a:t>
            </a:r>
            <a:r>
              <a:rPr lang="en-US" sz="2400" dirty="0" err="1"/>
              <a:t>persamaan</a:t>
            </a:r>
            <a:r>
              <a:rPr lang="en-US" sz="2400" dirty="0"/>
              <a:t> ellipsoid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ruang</a:t>
            </a:r>
            <a:r>
              <a:rPr lang="en-US" sz="2400" dirty="0"/>
              <a:t> </a:t>
            </a:r>
            <a:r>
              <a:rPr lang="en-US" sz="2400" dirty="0" err="1"/>
              <a:t>peubah</a:t>
            </a:r>
            <a:r>
              <a:rPr lang="en-US" sz="2400" dirty="0"/>
              <a:t> </a:t>
            </a:r>
            <a:r>
              <a:rPr lang="en-US" sz="2400" dirty="0" err="1"/>
              <a:t>berdimensi</a:t>
            </a:r>
            <a:r>
              <a:rPr lang="en-US" sz="2400" dirty="0"/>
              <a:t> p.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ditulis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persamaan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konstanta</a:t>
            </a:r>
            <a:r>
              <a:rPr lang="en-US" sz="2400" dirty="0"/>
              <a:t> </a:t>
            </a:r>
            <a:r>
              <a:rPr lang="en-US" sz="2400" dirty="0" err="1"/>
              <a:t>positif</a:t>
            </a:r>
            <a:r>
              <a:rPr lang="en-US" sz="2400" dirty="0"/>
              <a:t> c.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sv-SE" sz="2400" dirty="0"/>
              <a:t>	( </a:t>
            </a:r>
            <a:r>
              <a:rPr lang="sv-SE" sz="2400" b="1" dirty="0"/>
              <a:t>x</a:t>
            </a:r>
            <a:r>
              <a:rPr lang="sv-SE" sz="2400" dirty="0"/>
              <a:t> - </a:t>
            </a:r>
            <a:r>
              <a:rPr lang="en-US" sz="2400" b="1" dirty="0">
                <a:sym typeface="Symbol" pitchFamily="18" charset="2"/>
              </a:rPr>
              <a:t></a:t>
            </a:r>
            <a:r>
              <a:rPr lang="sv-SE" sz="2400" dirty="0"/>
              <a:t> )’ </a:t>
            </a:r>
            <a:r>
              <a:rPr lang="en-US" sz="2400" dirty="0">
                <a:sym typeface="Symbol" pitchFamily="18" charset="2"/>
              </a:rPr>
              <a:t></a:t>
            </a:r>
            <a:r>
              <a:rPr lang="sv-SE" sz="2400" baseline="30000" dirty="0"/>
              <a:t>-1</a:t>
            </a:r>
            <a:r>
              <a:rPr lang="sv-SE" sz="2400" dirty="0"/>
              <a:t> (</a:t>
            </a:r>
            <a:r>
              <a:rPr lang="sv-SE" sz="2400" b="1" dirty="0"/>
              <a:t>x</a:t>
            </a:r>
            <a:r>
              <a:rPr lang="sv-SE" sz="2400" dirty="0"/>
              <a:t> - </a:t>
            </a:r>
            <a:r>
              <a:rPr lang="en-US" sz="2400" b="1" dirty="0">
                <a:sym typeface="Symbol" pitchFamily="18" charset="2"/>
              </a:rPr>
              <a:t></a:t>
            </a:r>
            <a:r>
              <a:rPr lang="sv-SE" sz="2400" dirty="0"/>
              <a:t> )  = c</a:t>
            </a:r>
            <a:r>
              <a:rPr lang="sv-SE" sz="2400" baseline="30000" dirty="0"/>
              <a:t>2</a:t>
            </a:r>
          </a:p>
          <a:p>
            <a:pPr>
              <a:lnSpc>
                <a:spcPct val="90000"/>
              </a:lnSpc>
              <a:buFontTx/>
              <a:buNone/>
            </a:pPr>
            <a:endParaRPr lang="sv-SE" sz="2400" baseline="30000" dirty="0"/>
          </a:p>
          <a:p>
            <a:pPr>
              <a:lnSpc>
                <a:spcPct val="90000"/>
              </a:lnSpc>
            </a:pPr>
            <a:r>
              <a:rPr lang="sv-SE" sz="2400" dirty="0"/>
              <a:t>Dengan pusat ellips adalah </a:t>
            </a:r>
            <a:r>
              <a:rPr lang="en-US" sz="2400" b="1" dirty="0">
                <a:sym typeface="Symbol" pitchFamily="18" charset="2"/>
              </a:rPr>
              <a:t></a:t>
            </a:r>
            <a:r>
              <a:rPr lang="sv-SE" sz="2400" dirty="0"/>
              <a:t> dan absis  </a:t>
            </a:r>
            <a:r>
              <a:rPr lang="en-US" sz="2400" dirty="0">
                <a:sym typeface="Symbol" pitchFamily="18" charset="2"/>
              </a:rPr>
              <a:t></a:t>
            </a:r>
            <a:r>
              <a:rPr lang="sv-SE" sz="2400" dirty="0"/>
              <a:t> c </a:t>
            </a:r>
            <a:r>
              <a:rPr lang="en-US" sz="2400" dirty="0">
                <a:sym typeface="Symbol" pitchFamily="18" charset="2"/>
              </a:rPr>
              <a:t></a:t>
            </a:r>
            <a:r>
              <a:rPr lang="sv-SE" sz="2400" dirty="0"/>
              <a:t> </a:t>
            </a:r>
            <a:r>
              <a:rPr lang="en-US" sz="2400" dirty="0">
                <a:sym typeface="Symbol" pitchFamily="18" charset="2"/>
              </a:rPr>
              <a:t></a:t>
            </a:r>
            <a:r>
              <a:rPr lang="sv-SE" sz="2400" baseline="-25000" dirty="0"/>
              <a:t>i</a:t>
            </a:r>
            <a:r>
              <a:rPr lang="sv-SE" sz="2400" dirty="0"/>
              <a:t> </a:t>
            </a:r>
            <a:r>
              <a:rPr lang="sv-SE" sz="2400" b="1" dirty="0"/>
              <a:t>e</a:t>
            </a:r>
            <a:r>
              <a:rPr lang="sv-SE" sz="2400" baseline="-25000" dirty="0"/>
              <a:t>i </a:t>
            </a:r>
            <a:r>
              <a:rPr lang="sv-SE" sz="2400" dirty="0"/>
              <a:t>  dimana, </a:t>
            </a: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ym typeface="Symbol" pitchFamily="18" charset="2"/>
              </a:rPr>
              <a:t>	</a:t>
            </a:r>
            <a:r>
              <a:rPr lang="sv-SE" sz="2400" dirty="0"/>
              <a:t> </a:t>
            </a:r>
            <a:r>
              <a:rPr lang="sv-SE" sz="2400" b="1" dirty="0"/>
              <a:t>e</a:t>
            </a:r>
            <a:r>
              <a:rPr lang="sv-SE" sz="2400" baseline="-25000" dirty="0"/>
              <a:t>i</a:t>
            </a:r>
            <a:r>
              <a:rPr lang="sv-SE" sz="2400" dirty="0"/>
              <a:t>  = </a:t>
            </a:r>
            <a:r>
              <a:rPr lang="en-US" sz="2400" dirty="0">
                <a:sym typeface="Symbol" pitchFamily="18" charset="2"/>
              </a:rPr>
              <a:t></a:t>
            </a:r>
            <a:r>
              <a:rPr lang="sv-SE" sz="2400" baseline="-25000" dirty="0"/>
              <a:t>i</a:t>
            </a:r>
            <a:r>
              <a:rPr lang="sv-SE" sz="2400" dirty="0"/>
              <a:t> </a:t>
            </a:r>
            <a:r>
              <a:rPr lang="sv-SE" sz="2400" b="1" dirty="0"/>
              <a:t>e</a:t>
            </a:r>
            <a:r>
              <a:rPr lang="sv-SE" sz="2400" baseline="-25000" dirty="0"/>
              <a:t>i</a:t>
            </a:r>
            <a:r>
              <a:rPr lang="sv-SE" sz="2400" dirty="0"/>
              <a:t>  ,  i = 1,2,...p.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95701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   </a:t>
            </a:r>
            <a:r>
              <a:rPr lang="en-US" dirty="0" err="1"/>
              <a:t>Sifat-sifat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Normal </a:t>
            </a:r>
            <a:r>
              <a:rPr lang="en-US" dirty="0" err="1"/>
              <a:t>Multivariat</a:t>
            </a:r>
            <a:endParaRPr lang="en-US" dirty="0"/>
          </a:p>
        </p:txBody>
      </p:sp>
      <p:sp>
        <p:nvSpPr>
          <p:cNvPr id="1187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447800"/>
            <a:ext cx="7772400" cy="458451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sv-SE" sz="2400" dirty="0"/>
              <a:t>Kombinasi linier dari semua komponen peubah X juga berdistribusi normal.  Jika </a:t>
            </a:r>
            <a:r>
              <a:rPr lang="sv-SE" sz="2400" b="1" dirty="0"/>
              <a:t>X</a:t>
            </a:r>
            <a:r>
              <a:rPr lang="sv-SE" sz="2400" baseline="-25000" dirty="0"/>
              <a:t>p</a:t>
            </a:r>
            <a:r>
              <a:rPr lang="sv-SE" sz="2400" dirty="0"/>
              <a:t> </a:t>
            </a:r>
            <a:r>
              <a:rPr lang="en-US" sz="2400" dirty="0">
                <a:sym typeface="Symbol" pitchFamily="18" charset="2"/>
              </a:rPr>
              <a:t></a:t>
            </a:r>
            <a:r>
              <a:rPr lang="sv-SE" sz="2400" dirty="0"/>
              <a:t> N</a:t>
            </a:r>
            <a:r>
              <a:rPr lang="sv-SE" sz="2400" baseline="-25000" dirty="0"/>
              <a:t>p</a:t>
            </a:r>
            <a:r>
              <a:rPr lang="sv-SE" sz="2400" dirty="0"/>
              <a:t> ( </a:t>
            </a:r>
            <a:r>
              <a:rPr lang="en-US" sz="2400" u="sng" dirty="0">
                <a:sym typeface="Symbol" pitchFamily="18" charset="2"/>
              </a:rPr>
              <a:t></a:t>
            </a:r>
            <a:r>
              <a:rPr lang="sv-SE" sz="2400" dirty="0"/>
              <a:t> , </a:t>
            </a:r>
            <a:r>
              <a:rPr lang="en-US" sz="2400" dirty="0">
                <a:sym typeface="Symbol" pitchFamily="18" charset="2"/>
              </a:rPr>
              <a:t></a:t>
            </a:r>
            <a:r>
              <a:rPr lang="sv-SE" sz="2400" dirty="0"/>
              <a:t> ) , maka kombinasi linear 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sv-SE" sz="2400" dirty="0"/>
              <a:t>	</a:t>
            </a:r>
            <a:r>
              <a:rPr lang="sv-SE" sz="2400" b="1" u="sng" dirty="0"/>
              <a:t>a</a:t>
            </a:r>
            <a:r>
              <a:rPr lang="sv-SE" sz="2400" dirty="0"/>
              <a:t>’</a:t>
            </a:r>
            <a:r>
              <a:rPr lang="sv-SE" sz="2400" b="1" u="sng" dirty="0"/>
              <a:t>X</a:t>
            </a:r>
            <a:r>
              <a:rPr lang="sv-SE" sz="2400" dirty="0"/>
              <a:t> = a</a:t>
            </a:r>
            <a:r>
              <a:rPr lang="sv-SE" sz="2400" baseline="-25000" dirty="0"/>
              <a:t>1</a:t>
            </a:r>
            <a:r>
              <a:rPr lang="sv-SE" sz="2400" dirty="0"/>
              <a:t> X</a:t>
            </a:r>
            <a:r>
              <a:rPr lang="sv-SE" sz="2400" baseline="-25000" dirty="0"/>
              <a:t>1</a:t>
            </a:r>
            <a:r>
              <a:rPr lang="sv-SE" sz="2400" dirty="0"/>
              <a:t> + a</a:t>
            </a:r>
            <a:r>
              <a:rPr lang="sv-SE" sz="2400" baseline="-25000" dirty="0"/>
              <a:t>2</a:t>
            </a:r>
            <a:r>
              <a:rPr lang="sv-SE" sz="2400" dirty="0"/>
              <a:t> X</a:t>
            </a:r>
            <a:r>
              <a:rPr lang="sv-SE" sz="2400" baseline="-25000" dirty="0"/>
              <a:t>2</a:t>
            </a:r>
            <a:r>
              <a:rPr lang="sv-SE" sz="2400" dirty="0"/>
              <a:t> +...+ a</a:t>
            </a:r>
            <a:r>
              <a:rPr lang="sv-SE" sz="2400" baseline="-25000" dirty="0"/>
              <a:t>p</a:t>
            </a:r>
            <a:r>
              <a:rPr lang="sv-SE" sz="2400" dirty="0"/>
              <a:t> X</a:t>
            </a:r>
            <a:r>
              <a:rPr lang="sv-SE" sz="2400" baseline="-25000" dirty="0"/>
              <a:t>p</a:t>
            </a:r>
            <a:r>
              <a:rPr lang="sv-SE" sz="2400" dirty="0"/>
              <a:t> berdistribusi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sv-SE" sz="2400" dirty="0"/>
              <a:t>	N ( </a:t>
            </a:r>
            <a:r>
              <a:rPr lang="sv-SE" sz="2400" b="1" u="sng" dirty="0"/>
              <a:t>a</a:t>
            </a:r>
            <a:r>
              <a:rPr lang="sv-SE" sz="2400" dirty="0"/>
              <a:t>’ </a:t>
            </a:r>
            <a:r>
              <a:rPr lang="en-US" sz="2400" b="1" u="sng" dirty="0">
                <a:sym typeface="Symbol" pitchFamily="18" charset="2"/>
              </a:rPr>
              <a:t></a:t>
            </a:r>
            <a:r>
              <a:rPr lang="sv-SE" sz="2400" b="1" dirty="0"/>
              <a:t> </a:t>
            </a:r>
            <a:r>
              <a:rPr lang="sv-SE" sz="2400" dirty="0"/>
              <a:t>, </a:t>
            </a:r>
            <a:r>
              <a:rPr lang="sv-SE" sz="2400" b="1" u="sng" dirty="0"/>
              <a:t>a</a:t>
            </a:r>
            <a:r>
              <a:rPr lang="sv-SE" sz="2400" dirty="0"/>
              <a:t>’ </a:t>
            </a:r>
            <a:r>
              <a:rPr lang="en-US" sz="2400" dirty="0">
                <a:sym typeface="Symbol" pitchFamily="18" charset="2"/>
              </a:rPr>
              <a:t></a:t>
            </a:r>
            <a:r>
              <a:rPr lang="sv-SE" sz="2400" dirty="0"/>
              <a:t> </a:t>
            </a:r>
            <a:r>
              <a:rPr lang="sv-SE" sz="2400" b="1" u="sng" dirty="0"/>
              <a:t>a</a:t>
            </a:r>
            <a:r>
              <a:rPr lang="sv-SE" sz="2400" dirty="0"/>
              <a:t> ) </a:t>
            </a:r>
          </a:p>
          <a:p>
            <a:pPr>
              <a:lnSpc>
                <a:spcPct val="90000"/>
              </a:lnSpc>
            </a:pP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u="sng" dirty="0" err="1"/>
              <a:t>X</a:t>
            </a:r>
            <a:r>
              <a:rPr lang="en-US" sz="2400" baseline="-25000" dirty="0" err="1"/>
              <a:t>p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</a:t>
            </a:r>
            <a:r>
              <a:rPr lang="en-US" sz="2400" dirty="0"/>
              <a:t> N</a:t>
            </a:r>
            <a:r>
              <a:rPr lang="en-US" sz="2400" baseline="-25000" dirty="0"/>
              <a:t>p</a:t>
            </a:r>
            <a:r>
              <a:rPr lang="en-US" sz="2400" dirty="0"/>
              <a:t>  ( </a:t>
            </a:r>
            <a:r>
              <a:rPr lang="en-US" sz="2400" u="sng" dirty="0">
                <a:sym typeface="Symbol" pitchFamily="18" charset="2"/>
              </a:rPr>
              <a:t></a:t>
            </a:r>
            <a:r>
              <a:rPr lang="en-US" sz="2400" dirty="0"/>
              <a:t> , </a:t>
            </a:r>
            <a:r>
              <a:rPr lang="en-US" sz="2400" dirty="0">
                <a:sym typeface="Symbol" pitchFamily="18" charset="2"/>
              </a:rPr>
              <a:t></a:t>
            </a:r>
            <a:r>
              <a:rPr lang="en-US" sz="2400" dirty="0"/>
              <a:t> )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anak</a:t>
            </a:r>
            <a:r>
              <a:rPr lang="en-US" sz="2400" dirty="0"/>
              <a:t> </a:t>
            </a:r>
            <a:r>
              <a:rPr lang="en-US" sz="2400" dirty="0" err="1"/>
              <a:t>gugus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X </a:t>
            </a:r>
            <a:r>
              <a:rPr lang="en-US" sz="2400" dirty="0" err="1"/>
              <a:t>juga</a:t>
            </a:r>
            <a:r>
              <a:rPr lang="en-US" sz="2400" dirty="0"/>
              <a:t> </a:t>
            </a:r>
            <a:r>
              <a:rPr lang="en-US" sz="2400" dirty="0" err="1"/>
              <a:t>berdistribusi</a:t>
            </a:r>
            <a:r>
              <a:rPr lang="en-US" sz="2400" dirty="0"/>
              <a:t> normal </a:t>
            </a:r>
          </a:p>
          <a:p>
            <a:pPr>
              <a:lnSpc>
                <a:spcPct val="90000"/>
              </a:lnSpc>
            </a:pPr>
            <a:r>
              <a:rPr lang="sv-SE" sz="2400" dirty="0"/>
              <a:t>Jika </a:t>
            </a:r>
            <a:r>
              <a:rPr lang="sv-SE" sz="2400" u="sng" dirty="0"/>
              <a:t>X</a:t>
            </a:r>
            <a:r>
              <a:rPr lang="sv-SE" sz="2400" baseline="-25000" dirty="0"/>
              <a:t>1</a:t>
            </a:r>
            <a:r>
              <a:rPr lang="sv-SE" sz="2400" dirty="0"/>
              <a:t> dan </a:t>
            </a:r>
            <a:r>
              <a:rPr lang="sv-SE" sz="2400" u="sng" dirty="0"/>
              <a:t>X</a:t>
            </a:r>
            <a:r>
              <a:rPr lang="sv-SE" sz="2400" baseline="-25000" dirty="0"/>
              <a:t>2</a:t>
            </a:r>
            <a:r>
              <a:rPr lang="sv-SE" sz="2400" dirty="0"/>
              <a:t> saling bebas, dan berdistribusi N</a:t>
            </a:r>
            <a:r>
              <a:rPr lang="sv-SE" sz="2400" baseline="-25000" dirty="0"/>
              <a:t>q1</a:t>
            </a:r>
            <a:r>
              <a:rPr lang="sv-SE" sz="2400" dirty="0"/>
              <a:t> (</a:t>
            </a:r>
            <a:r>
              <a:rPr lang="en-US" sz="2400" u="sng" dirty="0">
                <a:sym typeface="Symbol" pitchFamily="18" charset="2"/>
              </a:rPr>
              <a:t></a:t>
            </a:r>
            <a:r>
              <a:rPr lang="sv-SE" sz="2400" baseline="-25000" dirty="0"/>
              <a:t>1</a:t>
            </a:r>
            <a:r>
              <a:rPr lang="sv-SE" sz="2400" dirty="0"/>
              <a:t>, </a:t>
            </a:r>
            <a:r>
              <a:rPr lang="en-US" sz="2400" dirty="0">
                <a:sym typeface="Symbol" pitchFamily="18" charset="2"/>
              </a:rPr>
              <a:t></a:t>
            </a:r>
            <a:r>
              <a:rPr lang="sv-SE" sz="2400" baseline="-25000" dirty="0"/>
              <a:t>11</a:t>
            </a:r>
            <a:r>
              <a:rPr lang="sv-SE" sz="2400" dirty="0"/>
              <a:t>) dan N</a:t>
            </a:r>
            <a:r>
              <a:rPr lang="sv-SE" sz="2400" baseline="-25000" dirty="0"/>
              <a:t>q2</a:t>
            </a:r>
            <a:r>
              <a:rPr lang="sv-SE" sz="2400" dirty="0"/>
              <a:t> (</a:t>
            </a:r>
            <a:r>
              <a:rPr lang="en-US" sz="2400" dirty="0">
                <a:sym typeface="Symbol" pitchFamily="18" charset="2"/>
              </a:rPr>
              <a:t></a:t>
            </a:r>
            <a:r>
              <a:rPr lang="sv-SE" sz="2400" baseline="-25000" dirty="0"/>
              <a:t>2</a:t>
            </a:r>
            <a:r>
              <a:rPr lang="sv-SE" sz="2400" dirty="0"/>
              <a:t>, </a:t>
            </a:r>
            <a:r>
              <a:rPr lang="en-US" sz="2400" dirty="0">
                <a:sym typeface="Symbol" pitchFamily="18" charset="2"/>
              </a:rPr>
              <a:t></a:t>
            </a:r>
            <a:r>
              <a:rPr lang="sv-SE" sz="2400" baseline="-25000" dirty="0"/>
              <a:t>22</a:t>
            </a:r>
            <a:r>
              <a:rPr lang="sv-SE" sz="2400" dirty="0"/>
              <a:t>) maka distriusi bersyarat [</a:t>
            </a:r>
            <a:r>
              <a:rPr lang="sv-SE" sz="2400" u="sng" dirty="0"/>
              <a:t>X</a:t>
            </a:r>
            <a:r>
              <a:rPr lang="sv-SE" sz="2400" baseline="-25000" dirty="0"/>
              <a:t>1</a:t>
            </a:r>
            <a:r>
              <a:rPr lang="sv-SE" sz="2400" dirty="0"/>
              <a:t>/ </a:t>
            </a:r>
            <a:r>
              <a:rPr lang="sv-SE" sz="2400" u="sng" dirty="0"/>
              <a:t>X</a:t>
            </a:r>
            <a:r>
              <a:rPr lang="sv-SE" sz="2400" baseline="-25000" dirty="0"/>
              <a:t>2</a:t>
            </a:r>
            <a:r>
              <a:rPr lang="sv-SE" sz="2400" dirty="0"/>
              <a:t>] adalah normal ganda : </a:t>
            </a:r>
            <a:endParaRPr lang="en-US" sz="2400" dirty="0"/>
          </a:p>
        </p:txBody>
      </p:sp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187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330707"/>
              </p:ext>
            </p:extLst>
          </p:nvPr>
        </p:nvGraphicFramePr>
        <p:xfrm>
          <a:off x="2362200" y="5105400"/>
          <a:ext cx="317182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800" imgH="508000" progId="Equation.3">
                  <p:embed/>
                </p:oleObj>
              </mc:Choice>
              <mc:Fallback>
                <p:oleObj name="Equation" r:id="rId2" imgW="1574800" imgH="5080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105400"/>
                        <a:ext cx="3171825" cy="1019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1981200"/>
            <a:ext cx="7772400" cy="4572000"/>
          </a:xfrm>
        </p:spPr>
        <p:txBody>
          <a:bodyPr/>
          <a:lstStyle/>
          <a:p>
            <a:r>
              <a:rPr lang="en-US" dirty="0" err="1"/>
              <a:t>Jika</a:t>
            </a:r>
            <a:r>
              <a:rPr lang="en-US" dirty="0"/>
              <a:t> X ~ Np  (</a:t>
            </a:r>
            <a:r>
              <a:rPr lang="en-US" dirty="0">
                <a:sym typeface="Symbol" pitchFamily="18" charset="2"/>
              </a:rPr>
              <a:t></a:t>
            </a:r>
            <a:r>
              <a:rPr lang="en-US" dirty="0"/>
              <a:t>,</a:t>
            </a:r>
            <a:r>
              <a:rPr lang="en-US" dirty="0">
                <a:sym typeface="Symbol" pitchFamily="18" charset="2"/>
              </a:rPr>
              <a:t></a:t>
            </a:r>
            <a:r>
              <a:rPr lang="en-US" dirty="0"/>
              <a:t>)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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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</a:t>
            </a:r>
            <a:r>
              <a:rPr lang="en-US" dirty="0"/>
              <a:t> &gt; 0 </a:t>
            </a:r>
            <a:r>
              <a:rPr lang="en-US" dirty="0" err="1"/>
              <a:t>maka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(x - </a:t>
            </a:r>
            <a:r>
              <a:rPr lang="en-US" dirty="0">
                <a:sym typeface="Symbol" pitchFamily="18" charset="2"/>
              </a:rPr>
              <a:t></a:t>
            </a:r>
            <a:r>
              <a:rPr lang="en-US" dirty="0"/>
              <a:t>)’ </a:t>
            </a:r>
            <a:r>
              <a:rPr lang="en-US" dirty="0">
                <a:sym typeface="Symbol" pitchFamily="18" charset="2"/>
              </a:rPr>
              <a:t></a:t>
            </a:r>
            <a:r>
              <a:rPr lang="en-US" baseline="30000" dirty="0"/>
              <a:t>-1</a:t>
            </a:r>
            <a:r>
              <a:rPr lang="en-US" dirty="0"/>
              <a:t> (x - </a:t>
            </a:r>
            <a:r>
              <a:rPr lang="en-US" dirty="0">
                <a:sym typeface="Symbol" pitchFamily="18" charset="2"/>
              </a:rPr>
              <a:t></a:t>
            </a:r>
            <a:r>
              <a:rPr lang="en-US" dirty="0"/>
              <a:t>) ~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χ</a:t>
            </a:r>
            <a:r>
              <a:rPr lang="en-US" baseline="-25000" dirty="0"/>
              <a:t>(p)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χ</a:t>
            </a:r>
            <a:r>
              <a:rPr lang="en-US" dirty="0"/>
              <a:t> </a:t>
            </a:r>
            <a:r>
              <a:rPr lang="en-US" baseline="-25000" dirty="0"/>
              <a:t>p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chi </a:t>
            </a:r>
            <a:r>
              <a:rPr lang="en-US" dirty="0" err="1"/>
              <a:t>kuadrat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p.</a:t>
            </a:r>
            <a:endParaRPr lang="en-US" b="1" dirty="0"/>
          </a:p>
          <a:p>
            <a:pPr lvl="1"/>
            <a:r>
              <a:rPr lang="en-US" dirty="0" err="1"/>
              <a:t>Selang</a:t>
            </a:r>
            <a:r>
              <a:rPr lang="en-US" dirty="0"/>
              <a:t> </a:t>
            </a:r>
            <a:r>
              <a:rPr lang="en-US" dirty="0" err="1"/>
              <a:t>kepercayaan</a:t>
            </a:r>
            <a:r>
              <a:rPr lang="en-US" dirty="0"/>
              <a:t> (1-</a:t>
            </a:r>
            <a:r>
              <a:rPr lang="en-US" dirty="0">
                <a:sym typeface="Symbol" pitchFamily="18" charset="2"/>
              </a:rPr>
              <a:t>)100%</a:t>
            </a:r>
            <a:r>
              <a:rPr lang="en-US" b="1" dirty="0"/>
              <a:t> </a:t>
            </a:r>
            <a:r>
              <a:rPr lang="en-US" b="1" dirty="0">
                <a:sym typeface="Symbol" pitchFamily="18" charset="2"/>
              </a:rPr>
              <a:t></a:t>
            </a:r>
            <a:r>
              <a:rPr lang="en-US" b="1" dirty="0"/>
              <a:t>  </a:t>
            </a:r>
          </a:p>
          <a:p>
            <a:pPr lvl="1">
              <a:buFontTx/>
              <a:buNone/>
            </a:pPr>
            <a:r>
              <a:rPr lang="en-US" b="1" dirty="0"/>
              <a:t>	(</a:t>
            </a:r>
            <a:r>
              <a:rPr lang="en-US" b="1" u="sng" dirty="0"/>
              <a:t>x</a:t>
            </a:r>
            <a:r>
              <a:rPr lang="en-US" b="1" dirty="0"/>
              <a:t>-</a:t>
            </a:r>
            <a:r>
              <a:rPr lang="en-US" b="1" u="sng" dirty="0">
                <a:sym typeface="Symbol" pitchFamily="18" charset="2"/>
              </a:rPr>
              <a:t></a:t>
            </a:r>
            <a:r>
              <a:rPr lang="en-US" b="1" dirty="0"/>
              <a:t>)’</a:t>
            </a:r>
            <a:r>
              <a:rPr lang="en-US" b="1" dirty="0">
                <a:sym typeface="Symbol" pitchFamily="18" charset="2"/>
              </a:rPr>
              <a:t></a:t>
            </a:r>
            <a:r>
              <a:rPr lang="en-US" b="1" baseline="30000" dirty="0"/>
              <a:t>-1</a:t>
            </a:r>
            <a:r>
              <a:rPr lang="en-US" b="1" dirty="0"/>
              <a:t>(</a:t>
            </a:r>
            <a:r>
              <a:rPr lang="en-US" b="1" u="sng" dirty="0"/>
              <a:t>x</a:t>
            </a:r>
            <a:r>
              <a:rPr lang="en-US" b="1" dirty="0"/>
              <a:t>-</a:t>
            </a:r>
            <a:r>
              <a:rPr lang="en-US" b="1" u="sng" dirty="0">
                <a:sym typeface="Symbol" pitchFamily="18" charset="2"/>
              </a:rPr>
              <a:t></a:t>
            </a:r>
            <a:r>
              <a:rPr lang="en-US" b="1" dirty="0"/>
              <a:t>) ≤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χ</a:t>
            </a:r>
            <a:r>
              <a:rPr lang="en-US" b="1" baseline="-25000" dirty="0"/>
              <a:t>(</a:t>
            </a:r>
            <a:r>
              <a:rPr lang="en-US" b="1" baseline="-25000" dirty="0">
                <a:sym typeface="Symbol" pitchFamily="18" charset="2"/>
              </a:rPr>
              <a:t></a:t>
            </a:r>
            <a:r>
              <a:rPr lang="en-US" b="1" baseline="-25000" dirty="0"/>
              <a:t>, p)</a:t>
            </a:r>
            <a:r>
              <a:rPr lang="en-US" b="1" baseline="30000" dirty="0"/>
              <a:t>2</a:t>
            </a:r>
            <a:r>
              <a:rPr lang="en-US" dirty="0"/>
              <a:t> 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  DISTRIBUSI NORMAL MULTIVARIAT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828800"/>
            <a:ext cx="7696200" cy="41910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20000"/>
              </a:lnSpc>
              <a:buFontTx/>
              <a:buNone/>
            </a:pP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tahapan</a:t>
            </a:r>
            <a:r>
              <a:rPr lang="en-US" sz="2400" dirty="0"/>
              <a:t> yang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menyusun</a:t>
            </a:r>
            <a:r>
              <a:rPr lang="en-US" sz="2400" dirty="0"/>
              <a:t> Plot </a:t>
            </a:r>
            <a:r>
              <a:rPr lang="en-US" sz="2400" dirty="0" err="1"/>
              <a:t>Kuantil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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:</a:t>
            </a:r>
          </a:p>
          <a:p>
            <a:pPr marL="981075" lvl="1" indent="-533400" algn="just">
              <a:lnSpc>
                <a:spcPct val="80000"/>
              </a:lnSpc>
              <a:buFontTx/>
              <a:buAutoNum type="arabicPeriod"/>
            </a:pPr>
            <a:r>
              <a:rPr lang="en-US" sz="2000" dirty="0" err="1"/>
              <a:t>Hitung</a:t>
            </a:r>
            <a:r>
              <a:rPr lang="en-US" sz="2000" dirty="0"/>
              <a:t>:</a:t>
            </a:r>
          </a:p>
          <a:p>
            <a:pPr marL="981075" lvl="1" indent="-533400" algn="just">
              <a:lnSpc>
                <a:spcPct val="80000"/>
              </a:lnSpc>
              <a:buFontTx/>
              <a:buAutoNum type="arabicPeriod"/>
            </a:pPr>
            <a:r>
              <a:rPr lang="en-US" sz="2000" dirty="0" err="1"/>
              <a:t>Beri</a:t>
            </a:r>
            <a:r>
              <a:rPr lang="en-US" sz="2000" dirty="0"/>
              <a:t> </a:t>
            </a:r>
            <a:r>
              <a:rPr lang="en-US" sz="2000" dirty="0" err="1"/>
              <a:t>peringkat</a:t>
            </a:r>
            <a:r>
              <a:rPr lang="en-US" sz="2000" dirty="0"/>
              <a:t> k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i="1" dirty="0"/>
              <a:t>d</a:t>
            </a:r>
            <a:r>
              <a:rPr lang="en-US" sz="2000" i="1" baseline="-25000" dirty="0"/>
              <a:t>i</a:t>
            </a:r>
            <a:r>
              <a:rPr lang="en-US" sz="2000" i="1" baseline="30000" dirty="0"/>
              <a:t>2</a:t>
            </a:r>
            <a:r>
              <a:rPr lang="en-US" sz="2000" dirty="0"/>
              <a:t>  </a:t>
            </a:r>
          </a:p>
          <a:p>
            <a:pPr marL="981075" lvl="1" indent="-533400" algn="just">
              <a:lnSpc>
                <a:spcPct val="80000"/>
              </a:lnSpc>
              <a:buFontTx/>
              <a:buAutoNum type="arabicPeriod"/>
            </a:pPr>
            <a:r>
              <a:rPr lang="en-US" sz="2000" dirty="0" err="1"/>
              <a:t>Carilah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kuantil</a:t>
            </a:r>
            <a:r>
              <a:rPr lang="en-US" sz="2000" dirty="0"/>
              <a:t> chi-</a:t>
            </a:r>
            <a:r>
              <a:rPr lang="en-US" sz="2000" dirty="0" err="1"/>
              <a:t>kuadrat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(k–1/2)/n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derajat</a:t>
            </a:r>
            <a:r>
              <a:rPr lang="en-US" sz="2000" dirty="0"/>
              <a:t> </a:t>
            </a:r>
            <a:r>
              <a:rPr lang="en-US" sz="2000" dirty="0" err="1"/>
              <a:t>bebas</a:t>
            </a:r>
            <a:r>
              <a:rPr lang="en-US" sz="2000" dirty="0"/>
              <a:t> p, </a:t>
            </a:r>
            <a:r>
              <a:rPr lang="en-US" sz="2000" dirty="0" err="1"/>
              <a:t>misal</a:t>
            </a:r>
            <a:r>
              <a:rPr lang="en-US" sz="2000" dirty="0"/>
              <a:t>   </a:t>
            </a:r>
          </a:p>
          <a:p>
            <a:pPr marL="981075" lvl="1" indent="-533400" algn="just">
              <a:lnSpc>
                <a:spcPct val="80000"/>
              </a:lnSpc>
              <a:buFontTx/>
              <a:buAutoNum type="arabicPeriod"/>
            </a:pPr>
            <a:endParaRPr lang="en-US" sz="2400" dirty="0"/>
          </a:p>
          <a:p>
            <a:pPr marL="981075" lvl="1" indent="-533400" algn="just">
              <a:lnSpc>
                <a:spcPct val="80000"/>
              </a:lnSpc>
              <a:buFontTx/>
              <a:buAutoNum type="arabicPeriod"/>
            </a:pPr>
            <a:endParaRPr lang="en-US" sz="2000" dirty="0"/>
          </a:p>
          <a:p>
            <a:pPr marL="981075" lvl="1" indent="-533400" algn="just">
              <a:lnSpc>
                <a:spcPct val="80000"/>
              </a:lnSpc>
              <a:buFontTx/>
              <a:buAutoNum type="arabicPeriod"/>
            </a:pPr>
            <a:r>
              <a:rPr lang="en-US" sz="2000" dirty="0" err="1"/>
              <a:t>Buat</a:t>
            </a:r>
            <a:r>
              <a:rPr lang="en-US" sz="2000" dirty="0"/>
              <a:t> plot </a:t>
            </a:r>
            <a:r>
              <a:rPr lang="en-US" sz="2000" i="1" dirty="0"/>
              <a:t>d</a:t>
            </a:r>
            <a:r>
              <a:rPr lang="en-US" sz="2000" i="1" baseline="-25000" dirty="0"/>
              <a:t>i</a:t>
            </a:r>
            <a:r>
              <a:rPr lang="en-US" sz="2000" i="1" baseline="30000" dirty="0"/>
              <a:t>2</a:t>
            </a:r>
            <a:r>
              <a:rPr lang="en-US" sz="2000" dirty="0"/>
              <a:t> 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</a:p>
          <a:p>
            <a:pPr marL="981075" lvl="1" indent="-533400" algn="just">
              <a:lnSpc>
                <a:spcPct val="80000"/>
              </a:lnSpc>
              <a:buFontTx/>
              <a:buAutoNum type="arabicPeriod"/>
            </a:pPr>
            <a:endParaRPr lang="en-US" sz="2000" dirty="0"/>
          </a:p>
          <a:p>
            <a:pPr marL="981075" lvl="1" indent="-533400" algn="just">
              <a:lnSpc>
                <a:spcPct val="80000"/>
              </a:lnSpc>
              <a:buFontTx/>
              <a:buAutoNum type="arabicPeriod"/>
            </a:pPr>
            <a:r>
              <a:rPr lang="en-US" sz="2000" dirty="0" err="1"/>
              <a:t>Jika</a:t>
            </a:r>
            <a:r>
              <a:rPr lang="en-US" sz="2000" dirty="0"/>
              <a:t> plot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membentuk</a:t>
            </a:r>
            <a:r>
              <a:rPr lang="en-US" sz="2000" dirty="0"/>
              <a:t> </a:t>
            </a:r>
            <a:r>
              <a:rPr lang="en-US" sz="2000" dirty="0" err="1"/>
              <a:t>garis</a:t>
            </a:r>
            <a:r>
              <a:rPr lang="en-US" sz="2000" dirty="0"/>
              <a:t> </a:t>
            </a:r>
            <a:r>
              <a:rPr lang="en-US" sz="2000" dirty="0" err="1"/>
              <a:t>lurus</a:t>
            </a:r>
            <a:r>
              <a:rPr lang="en-US" sz="2000" dirty="0"/>
              <a:t> </a:t>
            </a:r>
            <a:r>
              <a:rPr lang="en-US" sz="2000" dirty="0" err="1"/>
              <a:t>maka</a:t>
            </a:r>
            <a:r>
              <a:rPr lang="en-US" sz="2000" dirty="0"/>
              <a:t> data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berdistribusi</a:t>
            </a:r>
            <a:r>
              <a:rPr lang="en-US" sz="2000" dirty="0"/>
              <a:t> normal </a:t>
            </a:r>
            <a:r>
              <a:rPr lang="en-US" sz="2000" dirty="0" err="1"/>
              <a:t>multivariat</a:t>
            </a:r>
            <a:r>
              <a:rPr lang="en-US" sz="2000" dirty="0"/>
              <a:t> p.</a:t>
            </a:r>
          </a:p>
          <a:p>
            <a:pPr marL="981075" lvl="1" indent="-533400" algn="just">
              <a:lnSpc>
                <a:spcPct val="80000"/>
              </a:lnSpc>
              <a:buFontTx/>
              <a:buAutoNum type="arabicPeriod"/>
            </a:pPr>
            <a:endParaRPr lang="en-US" sz="2000" dirty="0"/>
          </a:p>
          <a:p>
            <a:pPr marL="0" lvl="1" indent="0" algn="just">
              <a:lnSpc>
                <a:spcPct val="80000"/>
              </a:lnSpc>
              <a:buNone/>
            </a:pPr>
            <a:r>
              <a:rPr lang="sv-SE" sz="2000" dirty="0"/>
              <a:t>Namun demikian untuk lebih menyakinkan dapat dilakukan dengan menghitung nilai korelasi Pearson antara nilai kuantil Chi Kuadrat dengan </a:t>
            </a:r>
            <a:r>
              <a:rPr lang="en-US" sz="2000" i="1" dirty="0"/>
              <a:t>d</a:t>
            </a:r>
            <a:r>
              <a:rPr lang="en-US" sz="2000" i="1" baseline="-25000" dirty="0"/>
              <a:t>i</a:t>
            </a:r>
            <a:r>
              <a:rPr lang="en-US" sz="2000" i="1" baseline="30000" dirty="0"/>
              <a:t>2</a:t>
            </a:r>
            <a:r>
              <a:rPr lang="en-US" sz="2000" dirty="0"/>
              <a:t> . </a:t>
            </a:r>
            <a:r>
              <a:rPr lang="en-US" sz="2000" dirty="0" err="1"/>
              <a:t>Apabila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korelasi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nyata</a:t>
            </a:r>
            <a:r>
              <a:rPr lang="en-US" sz="2000" dirty="0"/>
              <a:t> (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korelasi</a:t>
            </a:r>
            <a:r>
              <a:rPr lang="en-US" sz="2000" dirty="0"/>
              <a:t> </a:t>
            </a:r>
            <a:r>
              <a:rPr lang="en-US" sz="2000" dirty="0" err="1"/>
              <a:t>tabel</a:t>
            </a:r>
            <a:r>
              <a:rPr lang="en-US" sz="2000" dirty="0"/>
              <a:t>), </a:t>
            </a:r>
            <a:r>
              <a:rPr lang="en-US" sz="2000" dirty="0" err="1"/>
              <a:t>maka</a:t>
            </a:r>
            <a:r>
              <a:rPr lang="en-US" sz="2000" dirty="0"/>
              <a:t> data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mengikuti</a:t>
            </a:r>
            <a:r>
              <a:rPr lang="en-US" sz="2000" dirty="0"/>
              <a:t> </a:t>
            </a:r>
            <a:r>
              <a:rPr lang="en-US" sz="2000" dirty="0" err="1"/>
              <a:t>distribusi</a:t>
            </a:r>
            <a:r>
              <a:rPr lang="en-US" sz="2000" dirty="0"/>
              <a:t> normal multivariate.</a:t>
            </a:r>
          </a:p>
        </p:txBody>
      </p:sp>
      <p:sp>
        <p:nvSpPr>
          <p:cNvPr id="121861" name="Rectangle 5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218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621579"/>
              </p:ext>
            </p:extLst>
          </p:nvPr>
        </p:nvGraphicFramePr>
        <p:xfrm>
          <a:off x="2703513" y="2442724"/>
          <a:ext cx="2255837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266400" progId="Equation.3">
                  <p:embed/>
                </p:oleObj>
              </mc:Choice>
              <mc:Fallback>
                <p:oleObj name="Equation" r:id="rId2" imgW="1549080" imgH="266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13" y="2442724"/>
                        <a:ext cx="2255837" cy="3889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218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106475"/>
              </p:ext>
            </p:extLst>
          </p:nvPr>
        </p:nvGraphicFramePr>
        <p:xfrm>
          <a:off x="4267200" y="3158304"/>
          <a:ext cx="103663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431640" progId="Equation.3">
                  <p:embed/>
                </p:oleObj>
              </mc:Choice>
              <mc:Fallback>
                <p:oleObj name="Equation" r:id="rId4" imgW="711000" imgH="4316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158304"/>
                        <a:ext cx="1036638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732834"/>
              </p:ext>
            </p:extLst>
          </p:nvPr>
        </p:nvGraphicFramePr>
        <p:xfrm>
          <a:off x="4083050" y="3745735"/>
          <a:ext cx="901700" cy="541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1000" imgH="431640" progId="Equation.3">
                  <p:embed/>
                </p:oleObj>
              </mc:Choice>
              <mc:Fallback>
                <p:oleObj name="Equation" r:id="rId6" imgW="711000" imgH="431640" progId="Equation.3">
                  <p:embed/>
                  <p:pic>
                    <p:nvPicPr>
                      <p:cNvPr id="1218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3745735"/>
                        <a:ext cx="901700" cy="5412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Eksplorasi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Normal </a:t>
            </a:r>
            <a:r>
              <a:rPr lang="en-US" dirty="0" err="1"/>
              <a:t>Multivariat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Contoh kasus</a:t>
            </a:r>
          </a:p>
        </p:txBody>
      </p:sp>
      <p:graphicFrame>
        <p:nvGraphicFramePr>
          <p:cNvPr id="127274" name="Group 2346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615947194"/>
              </p:ext>
            </p:extLst>
          </p:nvPr>
        </p:nvGraphicFramePr>
        <p:xfrm>
          <a:off x="685800" y="1828800"/>
          <a:ext cx="7696200" cy="4236403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02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i-FI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Obs</a:t>
                      </a:r>
                      <a:endParaRPr kumimoji="0" lang="fi-FI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1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</a:t>
                      </a:r>
                      <a:r>
                        <a:rPr kumimoji="0" lang="en-US" sz="1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US" sz="1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p(k)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χ</a:t>
                      </a:r>
                      <a:r>
                        <a:rPr kumimoji="0" lang="en-US" sz="1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(4)</a:t>
                      </a:r>
                      <a:r>
                        <a:rPr kumimoji="0" lang="en-US" sz="1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i-FI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fi-FI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8.25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7.94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6.71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6.64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11.22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10.61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2.55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2.19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0.22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2.72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0.41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2.44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2.74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0.47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3.56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3.81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4.49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3.16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1.64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0.16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1.02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2.79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2.50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0.28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3.17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0.59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5.06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0.13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0.55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4.82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5.75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828800"/>
            <a:ext cx="3505200" cy="4343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/>
              <a:t>Korelasi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d</a:t>
            </a:r>
            <a:r>
              <a:rPr lang="en-US" sz="2400" baseline="-25000" dirty="0"/>
              <a:t>i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kuantil</a:t>
            </a:r>
            <a:r>
              <a:rPr lang="en-US" sz="2400" dirty="0"/>
              <a:t> chi-</a:t>
            </a:r>
            <a:r>
              <a:rPr lang="en-US" sz="2400" dirty="0" err="1"/>
              <a:t>kuadrat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0.941</a:t>
            </a:r>
          </a:p>
          <a:p>
            <a:pPr>
              <a:lnSpc>
                <a:spcPct val="90000"/>
              </a:lnSpc>
            </a:pPr>
            <a:r>
              <a:rPr lang="en-US" sz="2400" dirty="0" err="1"/>
              <a:t>Bandingkan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table Correlation Coefficient Test for Normality (Johnson, </a:t>
            </a:r>
            <a:r>
              <a:rPr lang="en-US" sz="2400" dirty="0" err="1"/>
              <a:t>hal</a:t>
            </a:r>
            <a:r>
              <a:rPr lang="en-US" sz="2400" dirty="0"/>
              <a:t> 181),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besar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tabel</a:t>
            </a:r>
            <a:r>
              <a:rPr lang="en-US" sz="2400" dirty="0"/>
              <a:t> </a:t>
            </a:r>
            <a:r>
              <a:rPr lang="en-US" sz="2400" dirty="0" err="1"/>
              <a:t>berarti</a:t>
            </a:r>
            <a:r>
              <a:rPr lang="en-US" sz="2400" dirty="0"/>
              <a:t> normal multivariate. </a:t>
            </a:r>
            <a:r>
              <a:rPr lang="en-US" sz="2400" dirty="0" err="1"/>
              <a:t>Ternyata</a:t>
            </a:r>
            <a:r>
              <a:rPr lang="en-US" sz="2400" dirty="0"/>
              <a:t> 0,941&gt;0,9126</a:t>
            </a:r>
          </a:p>
        </p:txBody>
      </p:sp>
      <p:sp>
        <p:nvSpPr>
          <p:cNvPr id="128005" name="Rectangle 5"/>
          <p:cNvSpPr>
            <a:spLocks noChangeArrowheads="1"/>
          </p:cNvSpPr>
          <p:nvPr/>
        </p:nvSpPr>
        <p:spPr bwMode="auto">
          <a:xfrm>
            <a:off x="0" y="17573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74638"/>
            <a:ext cx="81534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Eksplorasi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Normal </a:t>
            </a:r>
            <a:r>
              <a:rPr lang="en-US" dirty="0" err="1"/>
              <a:t>Multivariat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751107" y="5181600"/>
            <a:ext cx="39356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Dari scatter plot </a:t>
            </a:r>
            <a:r>
              <a:rPr lang="en-US" dirty="0" err="1">
                <a:solidFill>
                  <a:srgbClr val="FF0000"/>
                </a:solidFill>
              </a:rPr>
              <a:t>nampak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pencaran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titik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menyebar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hampir</a:t>
            </a:r>
            <a:r>
              <a:rPr lang="en-US" dirty="0">
                <a:solidFill>
                  <a:srgbClr val="FF0000"/>
                </a:solidFill>
              </a:rPr>
              <a:t> di </a:t>
            </a:r>
            <a:r>
              <a:rPr lang="en-US" dirty="0" err="1">
                <a:solidFill>
                  <a:srgbClr val="FF0000"/>
                </a:solidFill>
              </a:rPr>
              <a:t>sekitar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 err="1">
                <a:solidFill>
                  <a:srgbClr val="FF0000"/>
                </a:solidFill>
              </a:rPr>
              <a:t>garis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lurus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sehingga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dpt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dikatakan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bahwa</a:t>
            </a:r>
            <a:r>
              <a:rPr lang="en-US" dirty="0">
                <a:solidFill>
                  <a:srgbClr val="FF0000"/>
                </a:solidFill>
              </a:rPr>
              <a:t> data </a:t>
            </a:r>
            <a:r>
              <a:rPr lang="en-US" dirty="0" err="1">
                <a:solidFill>
                  <a:srgbClr val="FF0000"/>
                </a:solidFill>
              </a:rPr>
              <a:t>berdistribusi</a:t>
            </a:r>
            <a:r>
              <a:rPr lang="en-US" dirty="0">
                <a:solidFill>
                  <a:srgbClr val="FF0000"/>
                </a:solidFill>
              </a:rPr>
              <a:t> normal</a:t>
            </a:r>
          </a:p>
          <a:p>
            <a:r>
              <a:rPr lang="en-US" dirty="0" err="1">
                <a:solidFill>
                  <a:srgbClr val="FF0000"/>
                </a:solidFill>
              </a:rPr>
              <a:t>multivariat</a:t>
            </a:r>
            <a:r>
              <a:rPr lang="en-US" dirty="0">
                <a:solidFill>
                  <a:srgbClr val="FF0000"/>
                </a:solidFill>
              </a:rPr>
              <a:t>  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90516"/>
            <a:ext cx="4198667" cy="37910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Tabel</a:t>
            </a:r>
            <a:r>
              <a:rPr lang="en-US" dirty="0"/>
              <a:t> Q-Q Plot </a:t>
            </a:r>
            <a:r>
              <a:rPr lang="en-US" dirty="0" err="1"/>
              <a:t>Korelasi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14400" y="1828800"/>
            <a:ext cx="365404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9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Penanganan</a:t>
            </a:r>
            <a:r>
              <a:rPr lang="en-US" dirty="0"/>
              <a:t> </a:t>
            </a:r>
            <a:r>
              <a:rPr lang="en-US" dirty="0" err="1"/>
              <a:t>Masalah</a:t>
            </a:r>
            <a:endParaRPr lang="en-US" dirty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Jika</a:t>
            </a:r>
            <a:r>
              <a:rPr lang="en-US" dirty="0"/>
              <a:t> data </a:t>
            </a:r>
            <a:r>
              <a:rPr lang="en-US" dirty="0" err="1"/>
              <a:t>tidak</a:t>
            </a:r>
            <a:r>
              <a:rPr lang="en-US" dirty="0"/>
              <a:t> normal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didekati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, </a:t>
            </a:r>
            <a:r>
              <a:rPr lang="en-US" dirty="0" err="1"/>
              <a:t>misal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Box-Cox</a:t>
            </a:r>
          </a:p>
          <a:p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eksplorasi</a:t>
            </a:r>
            <a:r>
              <a:rPr lang="en-US" dirty="0"/>
              <a:t> </a:t>
            </a:r>
            <a:r>
              <a:rPr lang="en-US" dirty="0" err="1"/>
              <a:t>pengamatan-pengamatan</a:t>
            </a:r>
            <a:r>
              <a:rPr lang="en-US" dirty="0"/>
              <a:t> </a:t>
            </a:r>
            <a:r>
              <a:rPr lang="en-US" dirty="0" err="1"/>
              <a:t>ekstrem</a:t>
            </a:r>
            <a:r>
              <a:rPr lang="en-US" dirty="0"/>
              <a:t>, </a:t>
            </a:r>
            <a:r>
              <a:rPr lang="en-US" dirty="0" err="1"/>
              <a:t>buat</a:t>
            </a:r>
            <a:r>
              <a:rPr lang="en-US" dirty="0"/>
              <a:t> box-plot </a:t>
            </a:r>
            <a:r>
              <a:rPr lang="en-US" dirty="0" err="1"/>
              <a:t>untuk</a:t>
            </a:r>
            <a:r>
              <a:rPr lang="en-US" dirty="0"/>
              <a:t> data d</a:t>
            </a:r>
            <a:r>
              <a:rPr lang="en-US" baseline="-25000" dirty="0"/>
              <a:t>i</a:t>
            </a:r>
            <a:r>
              <a:rPr lang="en-US" baseline="30000" dirty="0"/>
              <a:t>2</a:t>
            </a:r>
            <a:r>
              <a:rPr lang="en-US" dirty="0"/>
              <a:t> (</a:t>
            </a:r>
            <a:r>
              <a:rPr lang="en-US" dirty="0" err="1"/>
              <a:t>aturan</a:t>
            </a:r>
            <a:r>
              <a:rPr lang="en-US" dirty="0"/>
              <a:t> main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/>
              <a:t>univariat)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Metoda</a:t>
            </a:r>
            <a:r>
              <a:rPr lang="en-GB" dirty="0"/>
              <a:t> </a:t>
            </a:r>
            <a:r>
              <a:rPr lang="en-GB" dirty="0" err="1"/>
              <a:t>uji</a:t>
            </a:r>
            <a:r>
              <a:rPr lang="en-GB" dirty="0"/>
              <a:t> </a:t>
            </a:r>
            <a:r>
              <a:rPr lang="en-GB" dirty="0" err="1"/>
              <a:t>sebaran</a:t>
            </a:r>
            <a:r>
              <a:rPr lang="en-GB" dirty="0"/>
              <a:t> normal </a:t>
            </a:r>
            <a:r>
              <a:rPr lang="en-GB" dirty="0" err="1"/>
              <a:t>lainnya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Shapiro Wilks</a:t>
            </a:r>
          </a:p>
          <a:p>
            <a:r>
              <a:rPr lang="en-GB" dirty="0" err="1"/>
              <a:t>Kolomogorov</a:t>
            </a:r>
            <a:r>
              <a:rPr lang="en-GB" dirty="0"/>
              <a:t> Smirnov</a:t>
            </a:r>
          </a:p>
          <a:p>
            <a:r>
              <a:rPr lang="fi-FI" dirty="0"/>
              <a:t>Mardia Skewness dan Mardia Kurtosis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17119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9893</TotalTime>
  <Words>912</Words>
  <Application>Microsoft Office PowerPoint</Application>
  <PresentationFormat>On-screen Show (4:3)</PresentationFormat>
  <Paragraphs>235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Arial</vt:lpstr>
      <vt:lpstr>Cambria Math</vt:lpstr>
      <vt:lpstr>Comic Sans MS</vt:lpstr>
      <vt:lpstr>Franklin Gothic Book</vt:lpstr>
      <vt:lpstr>Perpetua</vt:lpstr>
      <vt:lpstr>Symbol</vt:lpstr>
      <vt:lpstr>Times New Roman</vt:lpstr>
      <vt:lpstr>Wingdings</vt:lpstr>
      <vt:lpstr>Wingdings 2</vt:lpstr>
      <vt:lpstr>Equity</vt:lpstr>
      <vt:lpstr>Equation</vt:lpstr>
      <vt:lpstr>Chart</vt:lpstr>
      <vt:lpstr>PENGANTAR  MULTIVARIAT</vt:lpstr>
      <vt:lpstr>DISTRIBUSI NORMAL MULTIVARIAT</vt:lpstr>
      <vt:lpstr>DISTRIBUSI NORMAL UNIVARIAT</vt:lpstr>
      <vt:lpstr>DISTRIBUSI NORMAL MULTIVARIAT</vt:lpstr>
      <vt:lpstr>DISTRIBUSI NORMAL MULTIVARIAT</vt:lpstr>
      <vt:lpstr>Countur  DISTRIBUSI NORMAL MULTIVARIAT</vt:lpstr>
      <vt:lpstr>   Sifat-sifat Distribusi Normal Multivariat</vt:lpstr>
      <vt:lpstr>  DISTRIBUSI NORMAL MULTIVARIAT</vt:lpstr>
      <vt:lpstr>Eksplorasi Distribusi Normal Multivariat</vt:lpstr>
      <vt:lpstr>Contoh kasus</vt:lpstr>
      <vt:lpstr>Eksplorasi Distribusi Normal Multivariat</vt:lpstr>
      <vt:lpstr>Tabel Q-Q Plot Korelasi</vt:lpstr>
      <vt:lpstr>Penanganan Masalah</vt:lpstr>
      <vt:lpstr>Metoda uji sebaran normal lainnya</vt:lpstr>
    </vt:vector>
  </TitlesOfParts>
  <Company>IMSJAYA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IMS</dc:creator>
  <cp:lastModifiedBy>Adri Arisena</cp:lastModifiedBy>
  <cp:revision>56</cp:revision>
  <cp:lastPrinted>1601-01-01T00:00:00Z</cp:lastPrinted>
  <dcterms:created xsi:type="dcterms:W3CDTF">2006-09-17T13:59:13Z</dcterms:created>
  <dcterms:modified xsi:type="dcterms:W3CDTF">2024-10-14T02:25:18Z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