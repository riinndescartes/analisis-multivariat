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3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5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7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2.xml" ContentType="application/vnd.openxmlformats-officedocument.drawingml.diagramData+xml"/>
  <Override PartName="/ppt/diagrams/data30.xml" ContentType="application/vnd.openxmlformats-officedocument.drawingml.diagramData+xml"/>
  <Override PartName="/ppt/diagrams/data6.xml" ContentType="application/vnd.openxmlformats-officedocument.drawingml.diagramData+xml"/>
  <Override PartName="/ppt/diagrams/data8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4" r:id="rId1"/>
  </p:sldMasterIdLst>
  <p:notesMasterIdLst>
    <p:notesMasterId r:id="rId39"/>
  </p:notesMasterIdLst>
  <p:handoutMasterIdLst>
    <p:handoutMasterId r:id="rId40"/>
  </p:handoutMasterIdLst>
  <p:sldIdLst>
    <p:sldId id="256" r:id="rId2"/>
    <p:sldId id="299" r:id="rId3"/>
    <p:sldId id="300" r:id="rId4"/>
    <p:sldId id="356" r:id="rId5"/>
    <p:sldId id="339" r:id="rId6"/>
    <p:sldId id="355" r:id="rId7"/>
    <p:sldId id="340" r:id="rId8"/>
    <p:sldId id="344" r:id="rId9"/>
    <p:sldId id="341" r:id="rId10"/>
    <p:sldId id="345" r:id="rId11"/>
    <p:sldId id="342" r:id="rId12"/>
    <p:sldId id="343" r:id="rId13"/>
    <p:sldId id="347" r:id="rId14"/>
    <p:sldId id="348" r:id="rId15"/>
    <p:sldId id="354" r:id="rId16"/>
    <p:sldId id="349" r:id="rId17"/>
    <p:sldId id="350" r:id="rId18"/>
    <p:sldId id="353" r:id="rId19"/>
    <p:sldId id="352" r:id="rId20"/>
    <p:sldId id="351" r:id="rId21"/>
    <p:sldId id="364" r:id="rId22"/>
    <p:sldId id="365" r:id="rId23"/>
    <p:sldId id="358" r:id="rId24"/>
    <p:sldId id="359" r:id="rId25"/>
    <p:sldId id="360" r:id="rId26"/>
    <p:sldId id="361" r:id="rId27"/>
    <p:sldId id="374" r:id="rId28"/>
    <p:sldId id="362" r:id="rId29"/>
    <p:sldId id="363" r:id="rId30"/>
    <p:sldId id="366" r:id="rId31"/>
    <p:sldId id="367" r:id="rId32"/>
    <p:sldId id="368" r:id="rId33"/>
    <p:sldId id="369" r:id="rId34"/>
    <p:sldId id="370" r:id="rId35"/>
    <p:sldId id="371" r:id="rId36"/>
    <p:sldId id="372" r:id="rId37"/>
    <p:sldId id="373" r:id="rId38"/>
  </p:sldIdLst>
  <p:sldSz cx="9144000" cy="6858000" type="screen4x3"/>
  <p:notesSz cx="9313863" cy="6858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  <a:srgbClr val="0099FF"/>
    <a:srgbClr val="FFFF99"/>
    <a:srgbClr val="33CCFF"/>
    <a:srgbClr val="CC99FF"/>
    <a:srgbClr val="FF3399"/>
    <a:srgbClr val="CC6600"/>
    <a:srgbClr val="00FFCC"/>
    <a:srgbClr val="FF9900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434" autoAdjust="0"/>
  </p:normalViewPr>
  <p:slideViewPr>
    <p:cSldViewPr>
      <p:cViewPr varScale="1">
        <p:scale>
          <a:sx n="64" d="100"/>
          <a:sy n="64" d="100"/>
        </p:scale>
        <p:origin x="150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image" Target="../media/image53.png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diagrams/_rels/data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80.pn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7A22449-9966-4641-B137-A15D61E699FE}" type="doc">
      <dgm:prSet loTypeId="urn:microsoft.com/office/officeart/2005/8/layout/process2" loCatId="process" qsTypeId="urn:microsoft.com/office/officeart/2005/8/quickstyle/simple1" qsCatId="simple" csTypeId="urn:microsoft.com/office/officeart/2005/8/colors/accent3_5" csCatId="accent3" phldr="1"/>
      <dgm:spPr/>
    </dgm:pt>
    <mc:AlternateContent xmlns:mc="http://schemas.openxmlformats.org/markup-compatibility/2006" xmlns:a14="http://schemas.microsoft.com/office/drawing/2010/main">
      <mc:Choice Requires="a14">
        <dgm:pt modelId="{91C1A240-9ABA-45AE-8FEC-6495E23619E9}">
          <dgm:prSet phldrT="[Text]" custT="1"/>
          <dgm:spPr/>
          <dgm:t>
            <a:bodyPr/>
            <a:lstStyle/>
            <a:p>
              <a:r>
                <a:rPr lang="en-US" sz="2400" b="0" dirty="0" smtClean="0">
                  <a:solidFill>
                    <a:schemeClr val="tx1"/>
                  </a:solidFill>
                </a:rPr>
                <a:t>Statistik </a:t>
              </a:r>
              <a14:m>
                <m:oMath xmlns:m="http://schemas.openxmlformats.org/officeDocument/2006/math">
                  <m:sSup>
                    <m:sSupPr>
                      <m:ctrlP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𝑇</m:t>
                      </m:r>
                    </m:e>
                    <m: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2</m:t>
                      </m:r>
                    </m:sup>
                  </m:sSup>
                </m:oMath>
              </a14:m>
              <a:r>
                <a:rPr lang="en-US" sz="2400" dirty="0" smtClean="0">
                  <a:solidFill>
                    <a:schemeClr val="tx1"/>
                  </a:solidFill>
                </a:rPr>
                <a:t> </a:t>
              </a:r>
              <a:r>
                <a:rPr lang="en-US" sz="2400" dirty="0" err="1" smtClean="0">
                  <a:solidFill>
                    <a:schemeClr val="tx1"/>
                  </a:solidFill>
                </a:rPr>
                <a:t>untuk</a:t>
              </a:r>
              <a:r>
                <a:rPr lang="en-US" sz="2400" dirty="0" smtClean="0">
                  <a:solidFill>
                    <a:schemeClr val="tx1"/>
                  </a:solidFill>
                </a:rPr>
                <a:t> </a:t>
              </a:r>
              <a:r>
                <a:rPr lang="en-US" sz="2400" dirty="0" err="1" smtClean="0">
                  <a:solidFill>
                    <a:schemeClr val="tx1"/>
                  </a:solidFill>
                </a:rPr>
                <a:t>uji</a:t>
              </a:r>
              <a:r>
                <a:rPr lang="en-US" sz="2400" dirty="0" smtClean="0">
                  <a:solidFill>
                    <a:schemeClr val="tx1"/>
                  </a:solidFill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</a:rPr>
                <a:t>beda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US" sz="2400" dirty="0" smtClean="0">
                  <a:solidFill>
                    <a:schemeClr val="tx1"/>
                  </a:solidFill>
                </a:rPr>
                <a:t>rata-rata </a:t>
              </a:r>
              <a:r>
                <a:rPr lang="en-US" sz="2400" b="1" dirty="0" err="1">
                  <a:solidFill>
                    <a:schemeClr val="tx1"/>
                  </a:solidFill>
                </a:rPr>
                <a:t>dua</a:t>
              </a:r>
              <a:r>
                <a:rPr lang="en-US" sz="2400" b="1" dirty="0">
                  <a:solidFill>
                    <a:schemeClr val="tx1"/>
                  </a:solidFill>
                </a:rPr>
                <a:t> </a:t>
              </a:r>
              <a:r>
                <a:rPr lang="en-US" sz="2400" b="1" dirty="0" err="1" smtClean="0">
                  <a:solidFill>
                    <a:schemeClr val="tx1"/>
                  </a:solidFill>
                </a:rPr>
                <a:t>populasi</a:t>
              </a:r>
              <a:r>
                <a:rPr lang="en-US" sz="2400" dirty="0" smtClean="0">
                  <a:solidFill>
                    <a:schemeClr val="tx1"/>
                  </a:solidFill>
                </a:rPr>
                <a:t>:</a:t>
              </a:r>
            </a:p>
            <a:p>
              <a:r>
                <a:rPr lang="en-US" sz="2400" dirty="0" smtClean="0">
                  <a:solidFill>
                    <a:schemeClr val="tx1"/>
                  </a:solidFill>
                </a:rPr>
                <a:t>  </a:t>
              </a:r>
              <a14:m>
                <m:oMath xmlns:m="http://schemas.openxmlformats.org/officeDocument/2006/math">
                  <m:sSup>
                    <m:sSupPr>
                      <m:ctrlP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/>
                        </a:rPr>
                        <m:t>𝑻</m:t>
                      </m:r>
                    </m:e>
                    <m:sup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/>
                        </a:rPr>
                        <m:t>𝟐</m:t>
                      </m:r>
                    </m:sup>
                  </m:sSup>
                  <m:r>
                    <a:rPr lang="en-US" sz="2400" b="1" i="1" smtClean="0">
                      <a:solidFill>
                        <a:schemeClr val="tx1"/>
                      </a:solidFill>
                      <a:latin typeface="Cambria Math"/>
                    </a:rPr>
                    <m:t>=</m:t>
                  </m:r>
                  <m:sSup>
                    <m:sSupPr>
                      <m:ctrlP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</m:ctrlPr>
                    </m:sSupPr>
                    <m:e>
                      <m:d>
                        <m:d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24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</m:e>
                              </m:acc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</m:e>
                              </m:acc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</m:e>
                    <m:sup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𝒕</m:t>
                      </m:r>
                    </m:sup>
                  </m:sSup>
                  <m:sSup>
                    <m:sSupPr>
                      <m:ctrlP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</m:ctrlPr>
                    </m:sSupPr>
                    <m:e>
                      <m:d>
                        <m:d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𝒏</m:t>
                                      </m:r>
                                    </m:e>
                                    <m:sub>
                                      <m:r>
                                        <a:rPr lang="en-US" sz="24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𝟏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𝒏</m:t>
                                      </m:r>
                                    </m:e>
                                    <m:sub>
                                      <m:r>
                                        <a:rPr lang="en-US" sz="24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𝐒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𝒑𝒍</m:t>
                              </m:r>
                            </m:sub>
                          </m:sSub>
                        </m:e>
                      </m:d>
                    </m:e>
                    <m:sup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𝟏</m:t>
                      </m:r>
                    </m:sup>
                  </m:sSup>
                  <m:d>
                    <m:dPr>
                      <m:ctrlP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</m:e>
                          </m:acc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</m:e>
                          </m:acc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𝟐</m:t>
                          </m:r>
                        </m:sub>
                      </m:sSub>
                    </m:e>
                  </m:d>
                </m:oMath>
              </a14:m>
              <a:endParaRPr lang="en-GB" sz="2400" b="1" dirty="0">
                <a:solidFill>
                  <a:schemeClr val="tx1"/>
                </a:solidFill>
              </a:endParaRPr>
            </a:p>
          </dgm:t>
        </dgm:pt>
      </mc:Choice>
      <mc:Fallback xmlns="">
        <dgm:pt modelId="{91C1A240-9ABA-45AE-8FEC-6495E23619E9}">
          <dgm:prSet phldrT="[Text]" custT="1"/>
          <dgm:spPr/>
          <dgm:t>
            <a:bodyPr/>
            <a:lstStyle/>
            <a:p>
              <a:r>
                <a:rPr lang="en-US" sz="2400" b="0" dirty="0" smtClean="0">
                  <a:solidFill>
                    <a:schemeClr val="tx1"/>
                  </a:solidFill>
                </a:rPr>
                <a:t>Statistik </a:t>
              </a:r>
              <a:r>
                <a:rPr lang="en-US" sz="2400" b="0" i="0" smtClean="0">
                  <a:solidFill>
                    <a:schemeClr val="tx1"/>
                  </a:solidFill>
                  <a:latin typeface="Cambria Math"/>
                </a:rPr>
                <a:t>𝑇</a:t>
              </a:r>
              <a:r>
                <a:rPr lang="en-US" sz="2400" b="0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^</a:t>
              </a:r>
              <a:r>
                <a:rPr lang="en-US" sz="2400" b="0" i="0" smtClean="0">
                  <a:solidFill>
                    <a:schemeClr val="tx1"/>
                  </a:solidFill>
                  <a:latin typeface="Cambria Math"/>
                </a:rPr>
                <a:t>2</a:t>
              </a:r>
              <a:r>
                <a:rPr lang="en-US" sz="2400" dirty="0" smtClean="0">
                  <a:solidFill>
                    <a:schemeClr val="tx1"/>
                  </a:solidFill>
                </a:rPr>
                <a:t> </a:t>
              </a:r>
              <a:r>
                <a:rPr lang="en-US" sz="2400" dirty="0" err="1" smtClean="0">
                  <a:solidFill>
                    <a:schemeClr val="tx1"/>
                  </a:solidFill>
                </a:rPr>
                <a:t>untuk</a:t>
              </a:r>
              <a:r>
                <a:rPr lang="en-US" sz="2400" dirty="0" smtClean="0">
                  <a:solidFill>
                    <a:schemeClr val="tx1"/>
                  </a:solidFill>
                </a:rPr>
                <a:t> </a:t>
              </a:r>
              <a:r>
                <a:rPr lang="en-US" sz="2400" dirty="0" err="1" smtClean="0">
                  <a:solidFill>
                    <a:schemeClr val="tx1"/>
                  </a:solidFill>
                </a:rPr>
                <a:t>uji</a:t>
              </a:r>
              <a:r>
                <a:rPr lang="en-US" sz="2400" dirty="0" smtClean="0">
                  <a:solidFill>
                    <a:schemeClr val="tx1"/>
                  </a:solidFill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</a:rPr>
                <a:t>beda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US" sz="2400" dirty="0" smtClean="0">
                  <a:solidFill>
                    <a:schemeClr val="tx1"/>
                  </a:solidFill>
                </a:rPr>
                <a:t>rata-rata </a:t>
              </a:r>
              <a:r>
                <a:rPr lang="en-US" sz="2400" b="1" dirty="0" err="1">
                  <a:solidFill>
                    <a:schemeClr val="tx1"/>
                  </a:solidFill>
                </a:rPr>
                <a:t>dua</a:t>
              </a:r>
              <a:r>
                <a:rPr lang="en-US" sz="2400" b="1" dirty="0">
                  <a:solidFill>
                    <a:schemeClr val="tx1"/>
                  </a:solidFill>
                </a:rPr>
                <a:t> </a:t>
              </a:r>
              <a:r>
                <a:rPr lang="en-US" sz="2400" b="1" dirty="0" err="1" smtClean="0">
                  <a:solidFill>
                    <a:schemeClr val="tx1"/>
                  </a:solidFill>
                </a:rPr>
                <a:t>populasi</a:t>
              </a:r>
              <a:r>
                <a:rPr lang="en-US" sz="2400" dirty="0" smtClean="0">
                  <a:solidFill>
                    <a:schemeClr val="tx1"/>
                  </a:solidFill>
                </a:rPr>
                <a:t>:</a:t>
              </a:r>
            </a:p>
            <a:p>
              <a:r>
                <a:rPr lang="en-US" sz="2400" dirty="0" smtClean="0">
                  <a:solidFill>
                    <a:schemeClr val="tx1"/>
                  </a:solidFill>
                </a:rPr>
                <a:t>  </a:t>
              </a:r>
              <a:r>
                <a:rPr lang="en-US" sz="2400" b="1" i="0">
                  <a:solidFill>
                    <a:schemeClr val="tx1"/>
                  </a:solidFill>
                  <a:latin typeface="Cambria Math"/>
                </a:rPr>
                <a:t>𝑻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^</a:t>
              </a:r>
              <a:r>
                <a:rPr lang="en-US" sz="2400" b="1" i="0">
                  <a:solidFill>
                    <a:schemeClr val="tx1"/>
                  </a:solidFill>
                  <a:latin typeface="Cambria Math"/>
                </a:rPr>
                <a:t>𝟐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/>
                </a:rPr>
                <a:t>=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(𝒙 ̅  ⃗_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/>
                </a:rPr>
                <a:t>𝟏−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𝒙</a:t>
              </a:r>
              <a:r>
                <a:rPr lang="en-US" sz="2400" b="1" i="0">
                  <a:solidFill>
                    <a:schemeClr val="tx1"/>
                  </a:solidFill>
                  <a:latin typeface="Cambria Math" panose="02040503050406030204" pitchFamily="18" charset="0"/>
                </a:rPr>
                <a:t> ̅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 </a:t>
              </a:r>
              <a:r>
                <a:rPr lang="en-US" sz="2400" b="1" i="0">
                  <a:solidFill>
                    <a:schemeClr val="tx1"/>
                  </a:solidFill>
                  <a:latin typeface="Cambria Math" panose="02040503050406030204" pitchFamily="18" charset="0"/>
                </a:rPr>
                <a:t> ⃗_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/>
                </a:rPr>
                <a:t>𝟐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 )^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/>
                </a:rPr>
                <a:t>𝒕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 ((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/>
                </a:rPr>
                <a:t>𝟏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/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/>
                </a:rPr>
                <a:t>𝒏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_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/>
                </a:rPr>
                <a:t>𝟏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 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/>
                </a:rPr>
                <a:t>+</a:t>
              </a:r>
              <a:r>
                <a:rPr lang="en-US" sz="2400" b="1" i="0">
                  <a:solidFill>
                    <a:schemeClr val="tx1"/>
                  </a:solidFill>
                  <a:latin typeface="Cambria Math"/>
                </a:rPr>
                <a:t>𝟏</a:t>
              </a:r>
              <a:r>
                <a:rPr lang="en-US" sz="2400" b="1" i="0">
                  <a:solidFill>
                    <a:schemeClr val="tx1"/>
                  </a:solidFill>
                  <a:latin typeface="Cambria Math" panose="02040503050406030204" pitchFamily="18" charset="0"/>
                </a:rPr>
                <a:t>/</a:t>
              </a:r>
              <a:r>
                <a:rPr lang="en-US" sz="2400" b="1" i="0">
                  <a:solidFill>
                    <a:schemeClr val="tx1"/>
                  </a:solidFill>
                  <a:latin typeface="Cambria Math"/>
                </a:rPr>
                <a:t>𝒏</a:t>
              </a:r>
              <a:r>
                <a:rPr lang="en-US" sz="2400" b="1" i="0">
                  <a:solidFill>
                    <a:schemeClr val="tx1"/>
                  </a:solidFill>
                  <a:latin typeface="Cambria Math" panose="02040503050406030204" pitchFamily="18" charset="0"/>
                </a:rPr>
                <a:t>_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𝟐 ) 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/>
                </a:rPr>
                <a:t>𝐒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_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/>
                </a:rPr>
                <a:t>𝒑𝒍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 )^(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/>
                </a:rPr>
                <a:t>−𝟏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)</a:t>
              </a:r>
              <a:r>
                <a:rPr lang="en-US" sz="2400" b="1" i="0">
                  <a:solidFill>
                    <a:schemeClr val="tx1"/>
                  </a:solidFill>
                  <a:latin typeface="Cambria Math" panose="02040503050406030204" pitchFamily="18" charset="0"/>
                </a:rPr>
                <a:t> (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𝒙</a:t>
              </a:r>
              <a:r>
                <a:rPr lang="en-US" sz="2400" b="1" i="0">
                  <a:solidFill>
                    <a:schemeClr val="tx1"/>
                  </a:solidFill>
                  <a:latin typeface="Cambria Math" panose="02040503050406030204" pitchFamily="18" charset="0"/>
                </a:rPr>
                <a:t> ̅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 </a:t>
              </a:r>
              <a:r>
                <a:rPr lang="en-US" sz="2400" b="1" i="0">
                  <a:solidFill>
                    <a:schemeClr val="tx1"/>
                  </a:solidFill>
                  <a:latin typeface="Cambria Math" panose="02040503050406030204" pitchFamily="18" charset="0"/>
                </a:rPr>
                <a:t> ⃗_</a:t>
              </a:r>
              <a:r>
                <a:rPr lang="en-US" sz="2400" b="1" i="0">
                  <a:solidFill>
                    <a:schemeClr val="tx1"/>
                  </a:solidFill>
                  <a:latin typeface="Cambria Math"/>
                </a:rPr>
                <a:t>𝟏−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𝒙</a:t>
              </a:r>
              <a:r>
                <a:rPr lang="en-US" sz="2400" b="1" i="0">
                  <a:solidFill>
                    <a:schemeClr val="tx1"/>
                  </a:solidFill>
                  <a:latin typeface="Cambria Math" panose="02040503050406030204" pitchFamily="18" charset="0"/>
                </a:rPr>
                <a:t> ̅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 </a:t>
              </a:r>
              <a:r>
                <a:rPr lang="en-US" sz="2400" b="1" i="0">
                  <a:solidFill>
                    <a:schemeClr val="tx1"/>
                  </a:solidFill>
                  <a:latin typeface="Cambria Math" panose="02040503050406030204" pitchFamily="18" charset="0"/>
                </a:rPr>
                <a:t> ⃗_</a:t>
              </a:r>
              <a:r>
                <a:rPr lang="en-US" sz="2400" b="1" i="0">
                  <a:solidFill>
                    <a:schemeClr val="tx1"/>
                  </a:solidFill>
                  <a:latin typeface="Cambria Math"/>
                </a:rPr>
                <a:t>𝟐</a:t>
              </a:r>
              <a:r>
                <a:rPr lang="en-US" sz="2400" b="1" i="0">
                  <a:solidFill>
                    <a:schemeClr val="tx1"/>
                  </a:solidFill>
                  <a:latin typeface="Cambria Math" panose="02040503050406030204" pitchFamily="18" charset="0"/>
                </a:rPr>
                <a:t> )</a:t>
              </a:r>
              <a:endParaRPr lang="en-GB" sz="2400" b="1" dirty="0">
                <a:solidFill>
                  <a:schemeClr val="tx1"/>
                </a:solidFill>
              </a:endParaRPr>
            </a:p>
          </dgm:t>
        </dgm:pt>
      </mc:Fallback>
    </mc:AlternateContent>
    <dgm:pt modelId="{55C56C5C-42CD-4312-A6DF-6F70125E4270}" type="parTrans" cxnId="{B88EC47D-863A-4F33-A7F2-1D0F3257CE3B}">
      <dgm:prSet/>
      <dgm:spPr/>
      <dgm:t>
        <a:bodyPr/>
        <a:lstStyle/>
        <a:p>
          <a:endParaRPr lang="en-GB" sz="2000">
            <a:solidFill>
              <a:schemeClr val="tx1"/>
            </a:solidFill>
          </a:endParaRPr>
        </a:p>
      </dgm:t>
    </dgm:pt>
    <dgm:pt modelId="{748D1F62-0C2D-41F8-8701-03907CB8E91C}" type="sibTrans" cxnId="{B88EC47D-863A-4F33-A7F2-1D0F3257CE3B}">
      <dgm:prSet custT="1"/>
      <dgm:spPr/>
      <dgm:t>
        <a:bodyPr/>
        <a:lstStyle/>
        <a:p>
          <a:endParaRPr lang="en-GB" sz="2000">
            <a:solidFill>
              <a:schemeClr val="tx1"/>
            </a:solidFill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375D34D6-84D8-4AE5-B5BC-E7A833A2ECBD}">
          <dgm:prSet phldrT="[Text]" custT="1"/>
          <dgm:spPr/>
          <dgm:t>
            <a:bodyPr/>
            <a:lstStyle/>
            <a:p>
              <a:r>
                <a:rPr lang="en-US" sz="2400" dirty="0" smtClean="0">
                  <a:solidFill>
                    <a:schemeClr val="tx1"/>
                  </a:solidFill>
                </a:rPr>
                <a:t>Koefisien model </a:t>
              </a:r>
              <a:r>
                <a:rPr lang="en-US" sz="2400" dirty="0" err="1" smtClean="0">
                  <a:solidFill>
                    <a:schemeClr val="tx1"/>
                  </a:solidFill>
                </a:rPr>
                <a:t>untuk</a:t>
              </a:r>
              <a:r>
                <a:rPr lang="en-US" sz="2400" dirty="0" smtClean="0">
                  <a:solidFill>
                    <a:schemeClr val="tx1"/>
                  </a:solidFill>
                </a:rPr>
                <a:t> </a:t>
              </a:r>
              <a:r>
                <a:rPr lang="en-US" sz="2400" dirty="0" err="1" smtClean="0">
                  <a:solidFill>
                    <a:schemeClr val="tx1"/>
                  </a:solidFill>
                </a:rPr>
                <a:t>variabel</a:t>
              </a:r>
              <a:r>
                <a:rPr lang="en-US" sz="2400" dirty="0" smtClean="0">
                  <a:solidFill>
                    <a:schemeClr val="tx1"/>
                  </a:solidFill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</a:rPr>
                <a:t>respon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US" sz="2400" b="1" dirty="0" err="1" smtClean="0">
                  <a:solidFill>
                    <a:schemeClr val="tx1"/>
                  </a:solidFill>
                </a:rPr>
                <a:t>dua</a:t>
              </a:r>
              <a:r>
                <a:rPr lang="en-US" sz="2400" b="1" dirty="0" smtClean="0">
                  <a:solidFill>
                    <a:schemeClr val="tx1"/>
                  </a:solidFill>
                </a:rPr>
                <a:t> </a:t>
              </a:r>
              <a:r>
                <a:rPr lang="en-US" sz="2400" b="1" dirty="0" err="1" smtClean="0">
                  <a:solidFill>
                    <a:schemeClr val="tx1"/>
                  </a:solidFill>
                </a:rPr>
                <a:t>kategori</a:t>
              </a:r>
              <a:r>
                <a:rPr lang="en-US" sz="2400" dirty="0" smtClean="0">
                  <a:solidFill>
                    <a:schemeClr val="tx1"/>
                  </a:solidFill>
                </a:rPr>
                <a:t>: </a:t>
              </a:r>
            </a:p>
            <a:p>
              <a:r>
                <a:rPr lang="en-US" sz="2400" b="1" dirty="0" smtClean="0">
                  <a:solidFill>
                    <a:schemeClr val="tx1"/>
                  </a:solidFill>
                </a:rPr>
                <a:t> </a:t>
              </a:r>
              <a14:m>
                <m:oMath xmlns:m="http://schemas.openxmlformats.org/officeDocument/2006/math">
                  <m:acc>
                    <m:accPr>
                      <m:chr m:val="⃗"/>
                      <m:ctrlP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</m:ctrlPr>
                    </m:accPr>
                    <m:e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𝒂</m:t>
                      </m:r>
                    </m:e>
                  </m:acc>
                  <m:r>
                    <a:rPr lang="en-US" sz="2400" b="1" i="1" smtClean="0">
                      <a:solidFill>
                        <a:schemeClr val="tx1"/>
                      </a:solidFill>
                      <a:latin typeface="Cambria Math"/>
                    </a:rPr>
                    <m:t>=</m:t>
                  </m:r>
                  <m:sSubSup>
                    <m:sSubSupPr>
                      <m:ctrlP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</m:ctrlPr>
                    </m:sSubSupPr>
                    <m:e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/>
                        </a:rPr>
                        <m:t>𝐒</m:t>
                      </m:r>
                    </m:e>
                    <m: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𝒑𝒍</m:t>
                      </m:r>
                    </m:sub>
                    <m:sup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𝟏</m:t>
                      </m:r>
                    </m:sup>
                  </m:sSubSup>
                  <m:d>
                    <m:dPr>
                      <m:ctrlP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</m:e>
                          </m:acc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</m:e>
                          </m:acc>
                        </m:e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𝟐</m:t>
                          </m:r>
                        </m:sub>
                      </m:sSub>
                    </m:e>
                  </m:d>
                </m:oMath>
              </a14:m>
              <a:endParaRPr lang="en-GB" sz="2400" b="1" dirty="0">
                <a:solidFill>
                  <a:schemeClr val="tx1"/>
                </a:solidFill>
              </a:endParaRPr>
            </a:p>
          </dgm:t>
        </dgm:pt>
      </mc:Choice>
      <mc:Fallback xmlns="">
        <dgm:pt modelId="{375D34D6-84D8-4AE5-B5BC-E7A833A2ECBD}">
          <dgm:prSet phldrT="[Text]" custT="1"/>
          <dgm:spPr/>
          <dgm:t>
            <a:bodyPr/>
            <a:lstStyle/>
            <a:p>
              <a:r>
                <a:rPr lang="en-US" sz="2400" dirty="0" smtClean="0">
                  <a:solidFill>
                    <a:schemeClr val="tx1"/>
                  </a:solidFill>
                </a:rPr>
                <a:t>Koefisien</a:t>
              </a:r>
              <a:r>
                <a:rPr lang="en-US" sz="2400" dirty="0" smtClean="0">
                  <a:solidFill>
                    <a:schemeClr val="tx1"/>
                  </a:solidFill>
                </a:rPr>
                <a:t> model </a:t>
              </a:r>
              <a:r>
                <a:rPr lang="en-US" sz="2400" dirty="0" err="1" smtClean="0">
                  <a:solidFill>
                    <a:schemeClr val="tx1"/>
                  </a:solidFill>
                </a:rPr>
                <a:t>untuk</a:t>
              </a:r>
              <a:r>
                <a:rPr lang="en-US" sz="2400" dirty="0" smtClean="0">
                  <a:solidFill>
                    <a:schemeClr val="tx1"/>
                  </a:solidFill>
                </a:rPr>
                <a:t> </a:t>
              </a:r>
              <a:r>
                <a:rPr lang="en-US" sz="2400" dirty="0" err="1" smtClean="0">
                  <a:solidFill>
                    <a:schemeClr val="tx1"/>
                  </a:solidFill>
                </a:rPr>
                <a:t>variabel</a:t>
              </a:r>
              <a:r>
                <a:rPr lang="en-US" sz="2400" dirty="0" smtClean="0">
                  <a:solidFill>
                    <a:schemeClr val="tx1"/>
                  </a:solidFill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</a:rPr>
                <a:t>respon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US" sz="2400" b="1" dirty="0" err="1" smtClean="0">
                  <a:solidFill>
                    <a:schemeClr val="tx1"/>
                  </a:solidFill>
                </a:rPr>
                <a:t>dua</a:t>
              </a:r>
              <a:r>
                <a:rPr lang="en-US" sz="2400" b="1" dirty="0" smtClean="0">
                  <a:solidFill>
                    <a:schemeClr val="tx1"/>
                  </a:solidFill>
                </a:rPr>
                <a:t> </a:t>
              </a:r>
              <a:r>
                <a:rPr lang="en-US" sz="2400" b="1" dirty="0" err="1" smtClean="0">
                  <a:solidFill>
                    <a:schemeClr val="tx1"/>
                  </a:solidFill>
                </a:rPr>
                <a:t>kategori</a:t>
              </a:r>
              <a:r>
                <a:rPr lang="en-US" sz="2400" dirty="0" smtClean="0">
                  <a:solidFill>
                    <a:schemeClr val="tx1"/>
                  </a:solidFill>
                </a:rPr>
                <a:t>: </a:t>
              </a:r>
            </a:p>
            <a:p>
              <a:r>
                <a:rPr lang="en-US" sz="2400" b="1" dirty="0" smtClean="0">
                  <a:solidFill>
                    <a:schemeClr val="tx1"/>
                  </a:solidFill>
                </a:rPr>
                <a:t> 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/>
                </a:rPr>
                <a:t>𝒂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 ⃗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/>
                </a:rPr>
                <a:t>=𝐒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_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/>
                </a:rPr>
                <a:t>𝒑𝒍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^(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/>
                </a:rPr>
                <a:t>−𝟏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)</a:t>
              </a:r>
              <a:r>
                <a:rPr lang="en-US" sz="2400" b="1" i="0">
                  <a:solidFill>
                    <a:schemeClr val="tx1"/>
                  </a:solidFill>
                  <a:latin typeface="Cambria Math" panose="02040503050406030204" pitchFamily="18" charset="0"/>
                </a:rPr>
                <a:t> (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𝒙</a:t>
              </a:r>
              <a:r>
                <a:rPr lang="en-US" sz="2400" b="1" i="0">
                  <a:solidFill>
                    <a:schemeClr val="tx1"/>
                  </a:solidFill>
                  <a:latin typeface="Cambria Math" panose="02040503050406030204" pitchFamily="18" charset="0"/>
                </a:rPr>
                <a:t> ̅  ⃗_</a:t>
              </a:r>
              <a:r>
                <a:rPr lang="en-US" sz="2400" b="1" i="0">
                  <a:solidFill>
                    <a:schemeClr val="tx1"/>
                  </a:solidFill>
                  <a:latin typeface="Cambria Math"/>
                </a:rPr>
                <a:t>𝟏−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𝒙</a:t>
              </a:r>
              <a:r>
                <a:rPr lang="en-US" sz="2400" b="1" i="0">
                  <a:solidFill>
                    <a:schemeClr val="tx1"/>
                  </a:solidFill>
                  <a:latin typeface="Cambria Math" panose="02040503050406030204" pitchFamily="18" charset="0"/>
                </a:rPr>
                <a:t> ̅  ⃗_</a:t>
              </a:r>
              <a:r>
                <a:rPr lang="en-US" sz="2400" b="1" i="0">
                  <a:solidFill>
                    <a:schemeClr val="tx1"/>
                  </a:solidFill>
                  <a:latin typeface="Cambria Math"/>
                </a:rPr>
                <a:t>𝟐</a:t>
              </a:r>
              <a:r>
                <a:rPr lang="en-US" sz="2400" b="1" i="0">
                  <a:solidFill>
                    <a:schemeClr val="tx1"/>
                  </a:solidFill>
                  <a:latin typeface="Cambria Math" panose="02040503050406030204" pitchFamily="18" charset="0"/>
                </a:rPr>
                <a:t> )</a:t>
              </a:r>
              <a:endParaRPr lang="en-GB" sz="2400" b="1" dirty="0">
                <a:solidFill>
                  <a:schemeClr val="tx1"/>
                </a:solidFill>
              </a:endParaRPr>
            </a:p>
          </dgm:t>
        </dgm:pt>
      </mc:Fallback>
    </mc:AlternateContent>
    <dgm:pt modelId="{90C98808-3902-456E-8E20-DD2DCE64D007}" type="parTrans" cxnId="{04349CD0-F6B4-486A-913D-B7BB0F46E0F3}">
      <dgm:prSet/>
      <dgm:spPr/>
      <dgm:t>
        <a:bodyPr/>
        <a:lstStyle/>
        <a:p>
          <a:endParaRPr lang="en-GB" sz="2000">
            <a:solidFill>
              <a:schemeClr val="tx1"/>
            </a:solidFill>
          </a:endParaRPr>
        </a:p>
      </dgm:t>
    </dgm:pt>
    <dgm:pt modelId="{E67D3EB0-3545-4102-8FE8-B0C05C4C69E5}" type="sibTrans" cxnId="{04349CD0-F6B4-486A-913D-B7BB0F46E0F3}">
      <dgm:prSet/>
      <dgm:spPr/>
      <dgm:t>
        <a:bodyPr/>
        <a:lstStyle/>
        <a:p>
          <a:endParaRPr lang="en-GB" sz="2000">
            <a:solidFill>
              <a:schemeClr val="tx1"/>
            </a:solidFill>
          </a:endParaRPr>
        </a:p>
      </dgm:t>
    </dgm:pt>
    <dgm:pt modelId="{A1240D7D-FB80-4E8A-8A0F-C1D0A76149B8}" type="pres">
      <dgm:prSet presAssocID="{37A22449-9966-4641-B137-A15D61E699FE}" presName="linearFlow" presStyleCnt="0">
        <dgm:presLayoutVars>
          <dgm:resizeHandles val="exact"/>
        </dgm:presLayoutVars>
      </dgm:prSet>
      <dgm:spPr/>
    </dgm:pt>
    <dgm:pt modelId="{A12A7F99-3A62-422A-B186-E9B517C3F017}" type="pres">
      <dgm:prSet presAssocID="{91C1A240-9ABA-45AE-8FEC-6495E23619E9}" presName="node" presStyleLbl="node1" presStyleIdx="0" presStyleCnt="2" custScaleX="276109" custLinFactX="-30240" custLinFactNeighborX="-100000" custLinFactNeighborY="12332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307D0BD7-FF7D-4EBC-B3D0-7825D2241C46}" type="pres">
      <dgm:prSet presAssocID="{748D1F62-0C2D-41F8-8701-03907CB8E91C}" presName="sibTrans" presStyleLbl="sibTrans2D1" presStyleIdx="0" presStyleCnt="1"/>
      <dgm:spPr/>
      <dgm:t>
        <a:bodyPr/>
        <a:lstStyle/>
        <a:p>
          <a:endParaRPr lang="en-GB"/>
        </a:p>
      </dgm:t>
    </dgm:pt>
    <dgm:pt modelId="{6843C806-56C0-4F47-A4FD-094F190C7658}" type="pres">
      <dgm:prSet presAssocID="{748D1F62-0C2D-41F8-8701-03907CB8E91C}" presName="connectorText" presStyleLbl="sibTrans2D1" presStyleIdx="0" presStyleCnt="1"/>
      <dgm:spPr/>
      <dgm:t>
        <a:bodyPr/>
        <a:lstStyle/>
        <a:p>
          <a:endParaRPr lang="en-GB"/>
        </a:p>
      </dgm:t>
    </dgm:pt>
    <dgm:pt modelId="{E9032423-17E3-41E8-A631-F06D8326A0DD}" type="pres">
      <dgm:prSet presAssocID="{375D34D6-84D8-4AE5-B5BC-E7A833A2ECBD}" presName="node" presStyleLbl="node1" presStyleIdx="1" presStyleCnt="2" custScaleX="276109" custLinFactNeighborX="2605" custLinFactNeighborY="61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ED0014AD-9786-489A-BF1C-EB2EF998EF75}" type="presOf" srcId="{375D34D6-84D8-4AE5-B5BC-E7A833A2ECBD}" destId="{E9032423-17E3-41E8-A631-F06D8326A0DD}" srcOrd="0" destOrd="0" presId="urn:microsoft.com/office/officeart/2005/8/layout/process2"/>
    <dgm:cxn modelId="{1AE07AF9-65B1-4FFD-AA5F-C04DD7CA7A8F}" type="presOf" srcId="{748D1F62-0C2D-41F8-8701-03907CB8E91C}" destId="{307D0BD7-FF7D-4EBC-B3D0-7825D2241C46}" srcOrd="0" destOrd="0" presId="urn:microsoft.com/office/officeart/2005/8/layout/process2"/>
    <dgm:cxn modelId="{C5056C06-3C51-4BF7-90B0-D03FA7E0B4BD}" type="presOf" srcId="{37A22449-9966-4641-B137-A15D61E699FE}" destId="{A1240D7D-FB80-4E8A-8A0F-C1D0A76149B8}" srcOrd="0" destOrd="0" presId="urn:microsoft.com/office/officeart/2005/8/layout/process2"/>
    <dgm:cxn modelId="{04349CD0-F6B4-486A-913D-B7BB0F46E0F3}" srcId="{37A22449-9966-4641-B137-A15D61E699FE}" destId="{375D34D6-84D8-4AE5-B5BC-E7A833A2ECBD}" srcOrd="1" destOrd="0" parTransId="{90C98808-3902-456E-8E20-DD2DCE64D007}" sibTransId="{E67D3EB0-3545-4102-8FE8-B0C05C4C69E5}"/>
    <dgm:cxn modelId="{B88EC47D-863A-4F33-A7F2-1D0F3257CE3B}" srcId="{37A22449-9966-4641-B137-A15D61E699FE}" destId="{91C1A240-9ABA-45AE-8FEC-6495E23619E9}" srcOrd="0" destOrd="0" parTransId="{55C56C5C-42CD-4312-A6DF-6F70125E4270}" sibTransId="{748D1F62-0C2D-41F8-8701-03907CB8E91C}"/>
    <dgm:cxn modelId="{2206C8D8-316D-45DD-8D65-5F77371304A5}" type="presOf" srcId="{748D1F62-0C2D-41F8-8701-03907CB8E91C}" destId="{6843C806-56C0-4F47-A4FD-094F190C7658}" srcOrd="1" destOrd="0" presId="urn:microsoft.com/office/officeart/2005/8/layout/process2"/>
    <dgm:cxn modelId="{AB93431D-CA38-49CE-8F76-BF1855BD5D5D}" type="presOf" srcId="{91C1A240-9ABA-45AE-8FEC-6495E23619E9}" destId="{A12A7F99-3A62-422A-B186-E9B517C3F017}" srcOrd="0" destOrd="0" presId="urn:microsoft.com/office/officeart/2005/8/layout/process2"/>
    <dgm:cxn modelId="{FFE170D5-73D6-4501-83C1-C3DF33EBD84F}" type="presParOf" srcId="{A1240D7D-FB80-4E8A-8A0F-C1D0A76149B8}" destId="{A12A7F99-3A62-422A-B186-E9B517C3F017}" srcOrd="0" destOrd="0" presId="urn:microsoft.com/office/officeart/2005/8/layout/process2"/>
    <dgm:cxn modelId="{0496F08F-2F05-4499-AB54-9A17DC124445}" type="presParOf" srcId="{A1240D7D-FB80-4E8A-8A0F-C1D0A76149B8}" destId="{307D0BD7-FF7D-4EBC-B3D0-7825D2241C46}" srcOrd="1" destOrd="0" presId="urn:microsoft.com/office/officeart/2005/8/layout/process2"/>
    <dgm:cxn modelId="{E8E6890F-B023-4D83-80BA-40D2714E2951}" type="presParOf" srcId="{307D0BD7-FF7D-4EBC-B3D0-7825D2241C46}" destId="{6843C806-56C0-4F47-A4FD-094F190C7658}" srcOrd="0" destOrd="0" presId="urn:microsoft.com/office/officeart/2005/8/layout/process2"/>
    <dgm:cxn modelId="{F5F7895F-93F8-4CEE-9BAB-9F969FF1AC27}" type="presParOf" srcId="{A1240D7D-FB80-4E8A-8A0F-C1D0A76149B8}" destId="{E9032423-17E3-41E8-A631-F06D8326A0DD}" srcOrd="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A22449-9966-4641-B137-A15D61E699FE}" type="doc">
      <dgm:prSet loTypeId="urn:microsoft.com/office/officeart/2005/8/layout/process2" loCatId="process" qsTypeId="urn:microsoft.com/office/officeart/2005/8/quickstyle/simple1" qsCatId="simple" csTypeId="urn:microsoft.com/office/officeart/2005/8/colors/accent3_5" csCatId="accent3" phldr="1"/>
      <dgm:spPr/>
    </dgm:pt>
    <dgm:pt modelId="{91C1A240-9ABA-45AE-8FEC-6495E23619E9}">
      <dgm:prSet phldrT="[Text]" custT="1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55C56C5C-42CD-4312-A6DF-6F70125E4270}" type="parTrans" cxnId="{B88EC47D-863A-4F33-A7F2-1D0F3257CE3B}">
      <dgm:prSet/>
      <dgm:spPr/>
      <dgm:t>
        <a:bodyPr/>
        <a:lstStyle/>
        <a:p>
          <a:endParaRPr lang="en-GB" sz="2000">
            <a:solidFill>
              <a:schemeClr val="tx1"/>
            </a:solidFill>
          </a:endParaRPr>
        </a:p>
      </dgm:t>
    </dgm:pt>
    <dgm:pt modelId="{748D1F62-0C2D-41F8-8701-03907CB8E91C}" type="sibTrans" cxnId="{B88EC47D-863A-4F33-A7F2-1D0F3257CE3B}">
      <dgm:prSet custT="1"/>
      <dgm:spPr/>
      <dgm:t>
        <a:bodyPr/>
        <a:lstStyle/>
        <a:p>
          <a:endParaRPr lang="en-GB" sz="2000">
            <a:solidFill>
              <a:schemeClr val="tx1"/>
            </a:solidFill>
          </a:endParaRPr>
        </a:p>
      </dgm:t>
    </dgm:pt>
    <dgm:pt modelId="{375D34D6-84D8-4AE5-B5BC-E7A833A2ECBD}">
      <dgm:prSet phldrT="[Text]" custT="1"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90C98808-3902-456E-8E20-DD2DCE64D007}" type="parTrans" cxnId="{04349CD0-F6B4-486A-913D-B7BB0F46E0F3}">
      <dgm:prSet/>
      <dgm:spPr/>
      <dgm:t>
        <a:bodyPr/>
        <a:lstStyle/>
        <a:p>
          <a:endParaRPr lang="en-GB" sz="2000">
            <a:solidFill>
              <a:schemeClr val="tx1"/>
            </a:solidFill>
          </a:endParaRPr>
        </a:p>
      </dgm:t>
    </dgm:pt>
    <dgm:pt modelId="{E67D3EB0-3545-4102-8FE8-B0C05C4C69E5}" type="sibTrans" cxnId="{04349CD0-F6B4-486A-913D-B7BB0F46E0F3}">
      <dgm:prSet/>
      <dgm:spPr/>
      <dgm:t>
        <a:bodyPr/>
        <a:lstStyle/>
        <a:p>
          <a:endParaRPr lang="en-GB" sz="2000">
            <a:solidFill>
              <a:schemeClr val="tx1"/>
            </a:solidFill>
          </a:endParaRPr>
        </a:p>
      </dgm:t>
    </dgm:pt>
    <dgm:pt modelId="{A1240D7D-FB80-4E8A-8A0F-C1D0A76149B8}" type="pres">
      <dgm:prSet presAssocID="{37A22449-9966-4641-B137-A15D61E699FE}" presName="linearFlow" presStyleCnt="0">
        <dgm:presLayoutVars>
          <dgm:resizeHandles val="exact"/>
        </dgm:presLayoutVars>
      </dgm:prSet>
      <dgm:spPr/>
    </dgm:pt>
    <dgm:pt modelId="{A12A7F99-3A62-422A-B186-E9B517C3F017}" type="pres">
      <dgm:prSet presAssocID="{91C1A240-9ABA-45AE-8FEC-6495E23619E9}" presName="node" presStyleLbl="node1" presStyleIdx="0" presStyleCnt="2" custScaleX="276109" custLinFactX="-30240" custLinFactNeighborX="-100000" custLinFactNeighborY="12332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307D0BD7-FF7D-4EBC-B3D0-7825D2241C46}" type="pres">
      <dgm:prSet presAssocID="{748D1F62-0C2D-41F8-8701-03907CB8E91C}" presName="sibTrans" presStyleLbl="sibTrans2D1" presStyleIdx="0" presStyleCnt="1"/>
      <dgm:spPr/>
      <dgm:t>
        <a:bodyPr/>
        <a:lstStyle/>
        <a:p>
          <a:endParaRPr lang="en-GB"/>
        </a:p>
      </dgm:t>
    </dgm:pt>
    <dgm:pt modelId="{6843C806-56C0-4F47-A4FD-094F190C7658}" type="pres">
      <dgm:prSet presAssocID="{748D1F62-0C2D-41F8-8701-03907CB8E91C}" presName="connectorText" presStyleLbl="sibTrans2D1" presStyleIdx="0" presStyleCnt="1"/>
      <dgm:spPr/>
      <dgm:t>
        <a:bodyPr/>
        <a:lstStyle/>
        <a:p>
          <a:endParaRPr lang="en-GB"/>
        </a:p>
      </dgm:t>
    </dgm:pt>
    <dgm:pt modelId="{E9032423-17E3-41E8-A631-F06D8326A0DD}" type="pres">
      <dgm:prSet presAssocID="{375D34D6-84D8-4AE5-B5BC-E7A833A2ECBD}" presName="node" presStyleLbl="node1" presStyleIdx="1" presStyleCnt="2" custScaleX="276109" custLinFactNeighborX="2605" custLinFactNeighborY="61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ED0014AD-9786-489A-BF1C-EB2EF998EF75}" type="presOf" srcId="{375D34D6-84D8-4AE5-B5BC-E7A833A2ECBD}" destId="{E9032423-17E3-41E8-A631-F06D8326A0DD}" srcOrd="0" destOrd="0" presId="urn:microsoft.com/office/officeart/2005/8/layout/process2"/>
    <dgm:cxn modelId="{1AE07AF9-65B1-4FFD-AA5F-C04DD7CA7A8F}" type="presOf" srcId="{748D1F62-0C2D-41F8-8701-03907CB8E91C}" destId="{307D0BD7-FF7D-4EBC-B3D0-7825D2241C46}" srcOrd="0" destOrd="0" presId="urn:microsoft.com/office/officeart/2005/8/layout/process2"/>
    <dgm:cxn modelId="{C5056C06-3C51-4BF7-90B0-D03FA7E0B4BD}" type="presOf" srcId="{37A22449-9966-4641-B137-A15D61E699FE}" destId="{A1240D7D-FB80-4E8A-8A0F-C1D0A76149B8}" srcOrd="0" destOrd="0" presId="urn:microsoft.com/office/officeart/2005/8/layout/process2"/>
    <dgm:cxn modelId="{04349CD0-F6B4-486A-913D-B7BB0F46E0F3}" srcId="{37A22449-9966-4641-B137-A15D61E699FE}" destId="{375D34D6-84D8-4AE5-B5BC-E7A833A2ECBD}" srcOrd="1" destOrd="0" parTransId="{90C98808-3902-456E-8E20-DD2DCE64D007}" sibTransId="{E67D3EB0-3545-4102-8FE8-B0C05C4C69E5}"/>
    <dgm:cxn modelId="{B88EC47D-863A-4F33-A7F2-1D0F3257CE3B}" srcId="{37A22449-9966-4641-B137-A15D61E699FE}" destId="{91C1A240-9ABA-45AE-8FEC-6495E23619E9}" srcOrd="0" destOrd="0" parTransId="{55C56C5C-42CD-4312-A6DF-6F70125E4270}" sibTransId="{748D1F62-0C2D-41F8-8701-03907CB8E91C}"/>
    <dgm:cxn modelId="{2206C8D8-316D-45DD-8D65-5F77371304A5}" type="presOf" srcId="{748D1F62-0C2D-41F8-8701-03907CB8E91C}" destId="{6843C806-56C0-4F47-A4FD-094F190C7658}" srcOrd="1" destOrd="0" presId="urn:microsoft.com/office/officeart/2005/8/layout/process2"/>
    <dgm:cxn modelId="{AB93431D-CA38-49CE-8F76-BF1855BD5D5D}" type="presOf" srcId="{91C1A240-9ABA-45AE-8FEC-6495E23619E9}" destId="{A12A7F99-3A62-422A-B186-E9B517C3F017}" srcOrd="0" destOrd="0" presId="urn:microsoft.com/office/officeart/2005/8/layout/process2"/>
    <dgm:cxn modelId="{FFE170D5-73D6-4501-83C1-C3DF33EBD84F}" type="presParOf" srcId="{A1240D7D-FB80-4E8A-8A0F-C1D0A76149B8}" destId="{A12A7F99-3A62-422A-B186-E9B517C3F017}" srcOrd="0" destOrd="0" presId="urn:microsoft.com/office/officeart/2005/8/layout/process2"/>
    <dgm:cxn modelId="{0496F08F-2F05-4499-AB54-9A17DC124445}" type="presParOf" srcId="{A1240D7D-FB80-4E8A-8A0F-C1D0A76149B8}" destId="{307D0BD7-FF7D-4EBC-B3D0-7825D2241C46}" srcOrd="1" destOrd="0" presId="urn:microsoft.com/office/officeart/2005/8/layout/process2"/>
    <dgm:cxn modelId="{E8E6890F-B023-4D83-80BA-40D2714E2951}" type="presParOf" srcId="{307D0BD7-FF7D-4EBC-B3D0-7825D2241C46}" destId="{6843C806-56C0-4F47-A4FD-094F190C7658}" srcOrd="0" destOrd="0" presId="urn:microsoft.com/office/officeart/2005/8/layout/process2"/>
    <dgm:cxn modelId="{F5F7895F-93F8-4CEE-9BAB-9F969FF1AC27}" type="presParOf" srcId="{A1240D7D-FB80-4E8A-8A0F-C1D0A76149B8}" destId="{E9032423-17E3-41E8-A631-F06D8326A0DD}" srcOrd="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2851A77-6912-485A-AE90-58C5736035D5}" type="doc">
      <dgm:prSet loTypeId="urn:microsoft.com/office/officeart/2005/8/layout/hProcess9" loCatId="process" qsTypeId="urn:microsoft.com/office/officeart/2005/8/quickstyle/3d2" qsCatId="3D" csTypeId="urn:microsoft.com/office/officeart/2005/8/colors/accent1_2" csCatId="accent1" phldr="1"/>
      <dgm:spPr/>
    </dgm:pt>
    <dgm:pt modelId="{EDE6DE9E-AC32-49C1-B9CE-7D90A36971DE}">
      <dgm:prSet phldrT="[Text]"/>
      <dgm:spPr/>
      <dgm:t>
        <a:bodyPr/>
        <a:lstStyle/>
        <a:p>
          <a:r>
            <a:rPr lang="id-ID" dirty="0" smtClean="0">
              <a:solidFill>
                <a:schemeClr val="tx1"/>
              </a:solidFill>
            </a:rPr>
            <a:t>Uji Asumsi Normal Multivariat </a:t>
          </a:r>
          <a:endParaRPr lang="id-ID" dirty="0">
            <a:solidFill>
              <a:schemeClr val="tx1"/>
            </a:solidFill>
          </a:endParaRPr>
        </a:p>
      </dgm:t>
    </dgm:pt>
    <dgm:pt modelId="{CDBA5206-31EF-4866-809A-0AB2BD6DB47C}" type="parTrans" cxnId="{F53B3428-6E9C-41A2-8CC2-B602DEE90DBF}">
      <dgm:prSet/>
      <dgm:spPr/>
      <dgm:t>
        <a:bodyPr/>
        <a:lstStyle/>
        <a:p>
          <a:endParaRPr lang="id-ID"/>
        </a:p>
      </dgm:t>
    </dgm:pt>
    <dgm:pt modelId="{37D98116-6BCC-4907-AF2F-73F59DE091B2}" type="sibTrans" cxnId="{F53B3428-6E9C-41A2-8CC2-B602DEE90DBF}">
      <dgm:prSet/>
      <dgm:spPr/>
      <dgm:t>
        <a:bodyPr/>
        <a:lstStyle/>
        <a:p>
          <a:endParaRPr lang="id-ID"/>
        </a:p>
      </dgm:t>
    </dgm:pt>
    <dgm:pt modelId="{B9DBCDDB-E1DC-4FEB-A0EC-F131903DC4E1}">
      <dgm:prSet phldrT="[Text]"/>
      <dgm:spPr/>
      <dgm:t>
        <a:bodyPr/>
        <a:lstStyle/>
        <a:p>
          <a:r>
            <a:rPr lang="id-ID" dirty="0" smtClean="0">
              <a:solidFill>
                <a:schemeClr val="tx1"/>
              </a:solidFill>
            </a:rPr>
            <a:t>Uji Vektor Rata-rata Kedua Kelompok   </a:t>
          </a:r>
          <a:endParaRPr lang="id-ID" dirty="0">
            <a:solidFill>
              <a:schemeClr val="tx1"/>
            </a:solidFill>
          </a:endParaRPr>
        </a:p>
      </dgm:t>
    </dgm:pt>
    <dgm:pt modelId="{FBE1B7CC-BEF6-4DDD-8A5E-ACD312DC5BE3}" type="parTrans" cxnId="{A6037537-319D-414E-83D3-3C45F1CCDDF9}">
      <dgm:prSet/>
      <dgm:spPr/>
      <dgm:t>
        <a:bodyPr/>
        <a:lstStyle/>
        <a:p>
          <a:endParaRPr lang="id-ID"/>
        </a:p>
      </dgm:t>
    </dgm:pt>
    <dgm:pt modelId="{5A2EDAD9-83E1-472B-8931-8A0A6E552FEC}" type="sibTrans" cxnId="{A6037537-319D-414E-83D3-3C45F1CCDDF9}">
      <dgm:prSet/>
      <dgm:spPr/>
      <dgm:t>
        <a:bodyPr/>
        <a:lstStyle/>
        <a:p>
          <a:endParaRPr lang="id-ID"/>
        </a:p>
      </dgm:t>
    </dgm:pt>
    <dgm:pt modelId="{CFB2DBDB-FB78-4F89-A44B-3DE38329135E}">
      <dgm:prSet phldrT="[Text]"/>
      <dgm:spPr/>
      <dgm:t>
        <a:bodyPr/>
        <a:lstStyle/>
        <a:p>
          <a:r>
            <a:rPr lang="id-ID" dirty="0" smtClean="0">
              <a:solidFill>
                <a:schemeClr val="tx1"/>
              </a:solidFill>
            </a:rPr>
            <a:t>Uji Asumsi Homogenitas Matriks Variansi</a:t>
          </a:r>
          <a:endParaRPr lang="id-ID" dirty="0">
            <a:solidFill>
              <a:schemeClr val="tx1"/>
            </a:solidFill>
          </a:endParaRPr>
        </a:p>
      </dgm:t>
    </dgm:pt>
    <dgm:pt modelId="{53CD3003-17EF-4F0F-8ADB-3DD80C6F6368}" type="parTrans" cxnId="{45EA6525-2E12-49A1-9212-1CA7E07EAB34}">
      <dgm:prSet/>
      <dgm:spPr/>
      <dgm:t>
        <a:bodyPr/>
        <a:lstStyle/>
        <a:p>
          <a:endParaRPr lang="id-ID"/>
        </a:p>
      </dgm:t>
    </dgm:pt>
    <dgm:pt modelId="{070760CA-3CE8-4041-AFE6-BF018BFC8C80}" type="sibTrans" cxnId="{45EA6525-2E12-49A1-9212-1CA7E07EAB34}">
      <dgm:prSet/>
      <dgm:spPr/>
      <dgm:t>
        <a:bodyPr/>
        <a:lstStyle/>
        <a:p>
          <a:endParaRPr lang="id-ID"/>
        </a:p>
      </dgm:t>
    </dgm:pt>
    <dgm:pt modelId="{83384FBF-A003-4B34-A5ED-5B85E18633D1}" type="pres">
      <dgm:prSet presAssocID="{52851A77-6912-485A-AE90-58C5736035D5}" presName="CompostProcess" presStyleCnt="0">
        <dgm:presLayoutVars>
          <dgm:dir/>
          <dgm:resizeHandles val="exact"/>
        </dgm:presLayoutVars>
      </dgm:prSet>
      <dgm:spPr/>
    </dgm:pt>
    <dgm:pt modelId="{B1AE855D-99E0-4C21-A7A9-D456382F3C60}" type="pres">
      <dgm:prSet presAssocID="{52851A77-6912-485A-AE90-58C5736035D5}" presName="arrow" presStyleLbl="bgShp" presStyleIdx="0" presStyleCnt="1" custLinFactNeighborX="-11381" custLinFactNeighborY="8108"/>
      <dgm:spPr/>
    </dgm:pt>
    <dgm:pt modelId="{B08E3B72-BFDC-4AA7-B8A7-CB861BC09D64}" type="pres">
      <dgm:prSet presAssocID="{52851A77-6912-485A-AE90-58C5736035D5}" presName="linearProcess" presStyleCnt="0"/>
      <dgm:spPr/>
    </dgm:pt>
    <dgm:pt modelId="{2AE8DCCA-35C1-40C9-9E94-99E178AF5799}" type="pres">
      <dgm:prSet presAssocID="{EDE6DE9E-AC32-49C1-B9CE-7D90A36971DE}" presName="tex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id-ID"/>
        </a:p>
      </dgm:t>
    </dgm:pt>
    <dgm:pt modelId="{FC868CC3-605B-4C76-AD6A-0D421CB6BE80}" type="pres">
      <dgm:prSet presAssocID="{37D98116-6BCC-4907-AF2F-73F59DE091B2}" presName="sibTrans" presStyleCnt="0"/>
      <dgm:spPr/>
    </dgm:pt>
    <dgm:pt modelId="{ADB5B782-D3CD-4855-8CE9-14ADD3C4E1FE}" type="pres">
      <dgm:prSet presAssocID="{B9DBCDDB-E1DC-4FEB-A0EC-F131903DC4E1}" presName="text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id-ID"/>
        </a:p>
      </dgm:t>
    </dgm:pt>
    <dgm:pt modelId="{3919431C-7551-4EDA-B1F3-080C0DD3EF86}" type="pres">
      <dgm:prSet presAssocID="{5A2EDAD9-83E1-472B-8931-8A0A6E552FEC}" presName="sibTrans" presStyleCnt="0"/>
      <dgm:spPr/>
    </dgm:pt>
    <dgm:pt modelId="{7FC9D0EE-3F7E-465D-8AD0-B3584C397714}" type="pres">
      <dgm:prSet presAssocID="{CFB2DBDB-FB78-4F89-A44B-3DE38329135E}" presName="tex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id-ID"/>
        </a:p>
      </dgm:t>
    </dgm:pt>
  </dgm:ptLst>
  <dgm:cxnLst>
    <dgm:cxn modelId="{49610C3F-3D0F-4AAB-A0D5-8514BBF62CC7}" type="presOf" srcId="{CFB2DBDB-FB78-4F89-A44B-3DE38329135E}" destId="{7FC9D0EE-3F7E-465D-8AD0-B3584C397714}" srcOrd="0" destOrd="0" presId="urn:microsoft.com/office/officeart/2005/8/layout/hProcess9"/>
    <dgm:cxn modelId="{45EA6525-2E12-49A1-9212-1CA7E07EAB34}" srcId="{52851A77-6912-485A-AE90-58C5736035D5}" destId="{CFB2DBDB-FB78-4F89-A44B-3DE38329135E}" srcOrd="2" destOrd="0" parTransId="{53CD3003-17EF-4F0F-8ADB-3DD80C6F6368}" sibTransId="{070760CA-3CE8-4041-AFE6-BF018BFC8C80}"/>
    <dgm:cxn modelId="{F53B3428-6E9C-41A2-8CC2-B602DEE90DBF}" srcId="{52851A77-6912-485A-AE90-58C5736035D5}" destId="{EDE6DE9E-AC32-49C1-B9CE-7D90A36971DE}" srcOrd="0" destOrd="0" parTransId="{CDBA5206-31EF-4866-809A-0AB2BD6DB47C}" sibTransId="{37D98116-6BCC-4907-AF2F-73F59DE091B2}"/>
    <dgm:cxn modelId="{75061CF4-76BB-41BA-952D-82552DADEE09}" type="presOf" srcId="{52851A77-6912-485A-AE90-58C5736035D5}" destId="{83384FBF-A003-4B34-A5ED-5B85E18633D1}" srcOrd="0" destOrd="0" presId="urn:microsoft.com/office/officeart/2005/8/layout/hProcess9"/>
    <dgm:cxn modelId="{A40C0D08-E900-42F8-9FEE-1DE12F81A416}" type="presOf" srcId="{B9DBCDDB-E1DC-4FEB-A0EC-F131903DC4E1}" destId="{ADB5B782-D3CD-4855-8CE9-14ADD3C4E1FE}" srcOrd="0" destOrd="0" presId="urn:microsoft.com/office/officeart/2005/8/layout/hProcess9"/>
    <dgm:cxn modelId="{E678FB4E-D899-48C5-A566-609A7CCF4596}" type="presOf" srcId="{EDE6DE9E-AC32-49C1-B9CE-7D90A36971DE}" destId="{2AE8DCCA-35C1-40C9-9E94-99E178AF5799}" srcOrd="0" destOrd="0" presId="urn:microsoft.com/office/officeart/2005/8/layout/hProcess9"/>
    <dgm:cxn modelId="{A6037537-319D-414E-83D3-3C45F1CCDDF9}" srcId="{52851A77-6912-485A-AE90-58C5736035D5}" destId="{B9DBCDDB-E1DC-4FEB-A0EC-F131903DC4E1}" srcOrd="1" destOrd="0" parTransId="{FBE1B7CC-BEF6-4DDD-8A5E-ACD312DC5BE3}" sibTransId="{5A2EDAD9-83E1-472B-8931-8A0A6E552FEC}"/>
    <dgm:cxn modelId="{059C2705-1018-4F8E-9630-23E5071946E8}" type="presParOf" srcId="{83384FBF-A003-4B34-A5ED-5B85E18633D1}" destId="{B1AE855D-99E0-4C21-A7A9-D456382F3C60}" srcOrd="0" destOrd="0" presId="urn:microsoft.com/office/officeart/2005/8/layout/hProcess9"/>
    <dgm:cxn modelId="{831AF22F-2F89-4811-90C4-B131A9A45CFA}" type="presParOf" srcId="{83384FBF-A003-4B34-A5ED-5B85E18633D1}" destId="{B08E3B72-BFDC-4AA7-B8A7-CB861BC09D64}" srcOrd="1" destOrd="0" presId="urn:microsoft.com/office/officeart/2005/8/layout/hProcess9"/>
    <dgm:cxn modelId="{4E224E2B-FBFF-49EB-93CF-39F4807B374A}" type="presParOf" srcId="{B08E3B72-BFDC-4AA7-B8A7-CB861BC09D64}" destId="{2AE8DCCA-35C1-40C9-9E94-99E178AF5799}" srcOrd="0" destOrd="0" presId="urn:microsoft.com/office/officeart/2005/8/layout/hProcess9"/>
    <dgm:cxn modelId="{EA65B12B-C73B-47FE-98FD-1EEF69905ADB}" type="presParOf" srcId="{B08E3B72-BFDC-4AA7-B8A7-CB861BC09D64}" destId="{FC868CC3-605B-4C76-AD6A-0D421CB6BE80}" srcOrd="1" destOrd="0" presId="urn:microsoft.com/office/officeart/2005/8/layout/hProcess9"/>
    <dgm:cxn modelId="{7B87157E-F1A0-4AF8-9FF7-E1C14A0257D5}" type="presParOf" srcId="{B08E3B72-BFDC-4AA7-B8A7-CB861BC09D64}" destId="{ADB5B782-D3CD-4855-8CE9-14ADD3C4E1FE}" srcOrd="2" destOrd="0" presId="urn:microsoft.com/office/officeart/2005/8/layout/hProcess9"/>
    <dgm:cxn modelId="{2331A8FF-9465-4851-8BED-5872FBEAD346}" type="presParOf" srcId="{B08E3B72-BFDC-4AA7-B8A7-CB861BC09D64}" destId="{3919431C-7551-4EDA-B1F3-080C0DD3EF86}" srcOrd="3" destOrd="0" presId="urn:microsoft.com/office/officeart/2005/8/layout/hProcess9"/>
    <dgm:cxn modelId="{69FED3DA-451C-4470-B8BC-656F659E02F4}" type="presParOf" srcId="{B08E3B72-BFDC-4AA7-B8A7-CB861BC09D64}" destId="{7FC9D0EE-3F7E-465D-8AD0-B3584C397714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A5227B3-569E-4543-A3F2-C185D5C3AA47}" type="doc">
      <dgm:prSet loTypeId="urn:microsoft.com/office/officeart/2005/8/layout/process5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id-ID"/>
        </a:p>
      </dgm:t>
    </dgm:pt>
    <mc:AlternateContent xmlns:mc="http://schemas.openxmlformats.org/markup-compatibility/2006" xmlns:a14="http://schemas.microsoft.com/office/drawing/2010/main">
      <mc:Choice Requires="a14">
        <dgm:pt modelId="{44D17B0D-64C5-4F61-B537-9E282C062F3E}">
          <dgm:prSet phldrT="[Text]"/>
          <dgm:spPr>
            <a:solidFill>
              <a:srgbClr val="FF99FF"/>
            </a:solidFill>
            <a:ln>
              <a:solidFill>
                <a:srgbClr val="FF99FF"/>
              </a:solidFill>
            </a:ln>
          </dgm:spPr>
          <dgm:t>
            <a:bodyPr/>
            <a:lstStyle/>
            <a:p>
              <a:r>
                <a:rPr lang="en-US" b="1" dirty="0" smtClean="0">
                  <a:solidFill>
                    <a:schemeClr val="tx2"/>
                  </a:solidFill>
                </a:rPr>
                <a:t>N</a:t>
              </a:r>
              <a:r>
                <a:rPr lang="id-ID" b="1" dirty="0" smtClean="0">
                  <a:solidFill>
                    <a:schemeClr val="tx2"/>
                  </a:solidFill>
                </a:rPr>
                <a:t>yatakan </a:t>
              </a:r>
              <a:r>
                <a:rPr lang="id-ID" b="1" dirty="0">
                  <a:solidFill>
                    <a:schemeClr val="tx2"/>
                  </a:solidFill>
                </a:rPr>
                <a:t>matriks data </a:t>
              </a:r>
              <a:r>
                <a:rPr lang="en-US" b="1" dirty="0" err="1" smtClean="0">
                  <a:solidFill>
                    <a:schemeClr val="tx2"/>
                  </a:solidFill>
                </a:rPr>
                <a:t>sebagai</a:t>
              </a:r>
              <a:r>
                <a:rPr lang="en-US" b="1" dirty="0" smtClean="0">
                  <a:solidFill>
                    <a:schemeClr val="tx2"/>
                  </a:solidFill>
                </a:rPr>
                <a:t> </a:t>
              </a:r>
              <a14:m>
                <m:oMath xmlns:m="http://schemas.openxmlformats.org/officeDocument/2006/math">
                  <m:r>
                    <a:rPr lang="en-US" b="1" i="1" smtClean="0">
                      <a:solidFill>
                        <a:schemeClr val="tx2"/>
                      </a:solidFill>
                      <a:latin typeface="Cambria Math"/>
                    </a:rPr>
                    <m:t>𝑿</m:t>
                  </m:r>
                </m:oMath>
              </a14:m>
              <a:r>
                <a:rPr lang="en-US" b="1" dirty="0" smtClean="0">
                  <a:solidFill>
                    <a:schemeClr val="tx2"/>
                  </a:solidFill>
                </a:rPr>
                <a:t> </a:t>
              </a:r>
              <a:r>
                <a:rPr lang="en-US" b="1" dirty="0" err="1" smtClean="0">
                  <a:solidFill>
                    <a:schemeClr val="tx2"/>
                  </a:solidFill>
                </a:rPr>
                <a:t>dengan</a:t>
              </a:r>
              <a:r>
                <a:rPr lang="en-US" b="1" dirty="0" smtClean="0">
                  <a:solidFill>
                    <a:schemeClr val="tx2"/>
                  </a:solidFill>
                </a:rPr>
                <a:t> </a:t>
              </a:r>
              <a:r>
                <a:rPr lang="en-US" b="1" dirty="0" err="1" smtClean="0">
                  <a:solidFill>
                    <a:schemeClr val="tx2"/>
                  </a:solidFill>
                </a:rPr>
                <a:t>variabel</a:t>
              </a:r>
              <a:r>
                <a:rPr lang="en-US" b="1" dirty="0" smtClean="0">
                  <a:solidFill>
                    <a:schemeClr val="tx2"/>
                  </a:solidFill>
                </a:rPr>
                <a:t> </a:t>
              </a:r>
              <a14:m>
                <m:oMath xmlns:m="http://schemas.openxmlformats.org/officeDocument/2006/math">
                  <m:r>
                    <a:rPr lang="en-US" b="1" i="1" dirty="0" smtClean="0">
                      <a:solidFill>
                        <a:schemeClr val="tx2"/>
                      </a:solidFill>
                      <a:latin typeface="Cambria Math"/>
                    </a:rPr>
                    <m:t>𝒀</m:t>
                  </m:r>
                </m:oMath>
              </a14:m>
              <a:r>
                <a:rPr lang="en-US" b="1" dirty="0" smtClean="0">
                  <a:solidFill>
                    <a:schemeClr val="tx2"/>
                  </a:solidFill>
                </a:rPr>
                <a:t> </a:t>
              </a:r>
              <a:r>
                <a:rPr lang="en-US" b="1" dirty="0" err="1" smtClean="0">
                  <a:solidFill>
                    <a:schemeClr val="tx2"/>
                  </a:solidFill>
                </a:rPr>
                <a:t>terurut</a:t>
              </a:r>
              <a:endParaRPr lang="id-ID" b="1" dirty="0">
                <a:solidFill>
                  <a:schemeClr val="tx2"/>
                </a:solidFill>
              </a:endParaRPr>
            </a:p>
          </dgm:t>
        </dgm:pt>
      </mc:Choice>
      <mc:Fallback xmlns="">
        <dgm:pt modelId="{44D17B0D-64C5-4F61-B537-9E282C062F3E}">
          <dgm:prSet phldrT="[Text]"/>
          <dgm:spPr>
            <a:solidFill>
              <a:srgbClr val="FF99FF"/>
            </a:solidFill>
            <a:ln>
              <a:solidFill>
                <a:srgbClr val="FF99FF"/>
              </a:solidFill>
            </a:ln>
          </dgm:spPr>
          <dgm:t>
            <a:bodyPr/>
            <a:lstStyle/>
            <a:p>
              <a:r>
                <a:rPr lang="en-US" b="1" dirty="0" smtClean="0">
                  <a:solidFill>
                    <a:schemeClr val="tx2"/>
                  </a:solidFill>
                </a:rPr>
                <a:t>N</a:t>
              </a:r>
              <a:r>
                <a:rPr lang="id-ID" b="1" dirty="0" smtClean="0">
                  <a:solidFill>
                    <a:schemeClr val="tx2"/>
                  </a:solidFill>
                </a:rPr>
                <a:t>yatakan </a:t>
              </a:r>
              <a:r>
                <a:rPr lang="id-ID" b="1" dirty="0">
                  <a:solidFill>
                    <a:schemeClr val="tx2"/>
                  </a:solidFill>
                </a:rPr>
                <a:t>matriks data </a:t>
              </a:r>
              <a:r>
                <a:rPr lang="en-US" b="1" dirty="0" err="1" smtClean="0">
                  <a:solidFill>
                    <a:schemeClr val="tx2"/>
                  </a:solidFill>
                </a:rPr>
                <a:t>sebagai</a:t>
              </a:r>
              <a:r>
                <a:rPr lang="en-US" b="1" dirty="0" smtClean="0">
                  <a:solidFill>
                    <a:schemeClr val="tx2"/>
                  </a:solidFill>
                </a:rPr>
                <a:t> </a:t>
              </a:r>
              <a:r>
                <a:rPr lang="en-US" b="1" i="0" smtClean="0">
                  <a:solidFill>
                    <a:schemeClr val="tx2"/>
                  </a:solidFill>
                  <a:latin typeface="Cambria Math"/>
                </a:rPr>
                <a:t>𝑿</a:t>
              </a:r>
              <a:r>
                <a:rPr lang="en-US" b="1" dirty="0" smtClean="0">
                  <a:solidFill>
                    <a:schemeClr val="tx2"/>
                  </a:solidFill>
                </a:rPr>
                <a:t> </a:t>
              </a:r>
              <a:r>
                <a:rPr lang="en-US" b="1" dirty="0" err="1" smtClean="0">
                  <a:solidFill>
                    <a:schemeClr val="tx2"/>
                  </a:solidFill>
                </a:rPr>
                <a:t>dengan</a:t>
              </a:r>
              <a:r>
                <a:rPr lang="en-US" b="1" dirty="0" smtClean="0">
                  <a:solidFill>
                    <a:schemeClr val="tx2"/>
                  </a:solidFill>
                </a:rPr>
                <a:t> </a:t>
              </a:r>
              <a:r>
                <a:rPr lang="en-US" b="1" dirty="0" err="1" smtClean="0">
                  <a:solidFill>
                    <a:schemeClr val="tx2"/>
                  </a:solidFill>
                </a:rPr>
                <a:t>variabel</a:t>
              </a:r>
              <a:r>
                <a:rPr lang="en-US" b="1" dirty="0" smtClean="0">
                  <a:solidFill>
                    <a:schemeClr val="tx2"/>
                  </a:solidFill>
                </a:rPr>
                <a:t> </a:t>
              </a:r>
              <a:r>
                <a:rPr lang="en-US" b="1" i="0" dirty="0" smtClean="0">
                  <a:solidFill>
                    <a:schemeClr val="tx2"/>
                  </a:solidFill>
                  <a:latin typeface="Cambria Math"/>
                </a:rPr>
                <a:t>𝒀</a:t>
              </a:r>
              <a:r>
                <a:rPr lang="en-US" b="1" dirty="0" smtClean="0">
                  <a:solidFill>
                    <a:schemeClr val="tx2"/>
                  </a:solidFill>
                </a:rPr>
                <a:t> </a:t>
              </a:r>
              <a:r>
                <a:rPr lang="en-US" b="1" dirty="0" err="1" smtClean="0">
                  <a:solidFill>
                    <a:schemeClr val="tx2"/>
                  </a:solidFill>
                </a:rPr>
                <a:t>terurut</a:t>
              </a:r>
              <a:endParaRPr lang="id-ID" b="1" dirty="0">
                <a:solidFill>
                  <a:schemeClr val="tx2"/>
                </a:solidFill>
              </a:endParaRPr>
            </a:p>
          </dgm:t>
        </dgm:pt>
      </mc:Fallback>
    </mc:AlternateContent>
    <dgm:pt modelId="{3A0DBCD4-1DC0-40E5-9252-38C018A7F68C}" type="parTrans" cxnId="{35A43F40-73EB-4023-9AF9-122ED03CA104}">
      <dgm:prSet/>
      <dgm:spPr/>
      <dgm:t>
        <a:bodyPr/>
        <a:lstStyle/>
        <a:p>
          <a:endParaRPr lang="id-ID"/>
        </a:p>
      </dgm:t>
    </dgm:pt>
    <dgm:pt modelId="{781332FE-2B05-47C3-A3D6-53BB8464EE0F}" type="sibTrans" cxnId="{35A43F40-73EB-4023-9AF9-122ED03CA104}">
      <dgm:prSet/>
      <dgm:spPr>
        <a:solidFill>
          <a:srgbClr val="7030A0"/>
        </a:solidFill>
      </dgm:spPr>
      <dgm:t>
        <a:bodyPr/>
        <a:lstStyle/>
        <a:p>
          <a:endParaRPr lang="id-ID"/>
        </a:p>
      </dgm:t>
    </dgm:pt>
    <dgm:pt modelId="{29F87AB8-C566-4D77-9123-02CE98411B15}">
      <dgm:prSet phldrT="[Text]" custT="1"/>
      <dgm:spPr>
        <a:solidFill>
          <a:srgbClr val="33CCFF"/>
        </a:solidFill>
        <a:ln>
          <a:solidFill>
            <a:srgbClr val="33CCFF"/>
          </a:solidFill>
        </a:ln>
      </dgm:spPr>
      <dgm:t>
        <a:bodyPr/>
        <a:lstStyle/>
        <a:p>
          <a:r>
            <a:rPr lang="en-US" sz="1800" b="1" dirty="0" err="1" smtClean="0">
              <a:solidFill>
                <a:schemeClr val="tx1"/>
              </a:solidFill>
            </a:rPr>
            <a:t>Hitung</a:t>
          </a:r>
          <a:r>
            <a:rPr lang="en-US" sz="1800" b="1" dirty="0" smtClean="0">
              <a:solidFill>
                <a:schemeClr val="tx1"/>
              </a:solidFill>
            </a:rPr>
            <a:t> rata-rata </a:t>
          </a:r>
          <a:r>
            <a:rPr lang="en-US" sz="1800" b="1" dirty="0" err="1" smtClean="0">
              <a:solidFill>
                <a:schemeClr val="tx1"/>
              </a:solidFill>
            </a:rPr>
            <a:t>setiap</a:t>
          </a:r>
          <a:r>
            <a:rPr lang="en-US" sz="1800" b="1" dirty="0" smtClean="0">
              <a:solidFill>
                <a:schemeClr val="tx1"/>
              </a:solidFill>
            </a:rPr>
            <a:t> </a:t>
          </a:r>
          <a:r>
            <a:rPr lang="en-US" sz="1800" b="1" dirty="0" err="1" smtClean="0">
              <a:solidFill>
                <a:schemeClr val="tx1"/>
              </a:solidFill>
            </a:rPr>
            <a:t>variabel</a:t>
          </a:r>
          <a:r>
            <a:rPr lang="en-US" sz="1800" b="1" dirty="0" smtClean="0">
              <a:solidFill>
                <a:schemeClr val="tx1"/>
              </a:solidFill>
            </a:rPr>
            <a:t> </a:t>
          </a:r>
          <a:r>
            <a:rPr lang="en-US" sz="1800" b="1" dirty="0" err="1" smtClean="0">
              <a:solidFill>
                <a:schemeClr val="tx1"/>
              </a:solidFill>
            </a:rPr>
            <a:t>untuk</a:t>
          </a:r>
          <a:r>
            <a:rPr lang="en-US" sz="1800" b="1" dirty="0" smtClean="0">
              <a:solidFill>
                <a:schemeClr val="tx1"/>
              </a:solidFill>
            </a:rPr>
            <a:t> </a:t>
          </a:r>
          <a:r>
            <a:rPr lang="en-US" sz="1800" b="1" dirty="0" err="1" smtClean="0">
              <a:solidFill>
                <a:schemeClr val="tx1"/>
              </a:solidFill>
            </a:rPr>
            <a:t>setiap</a:t>
          </a:r>
          <a:r>
            <a:rPr lang="en-US" sz="1800" b="1" dirty="0" smtClean="0">
              <a:solidFill>
                <a:schemeClr val="tx1"/>
              </a:solidFill>
            </a:rPr>
            <a:t> </a:t>
          </a:r>
          <a:r>
            <a:rPr lang="en-US" sz="1800" b="1" dirty="0" err="1" smtClean="0">
              <a:solidFill>
                <a:schemeClr val="tx1"/>
              </a:solidFill>
            </a:rPr>
            <a:t>kelompok</a:t>
          </a:r>
          <a:endParaRPr lang="id-ID" sz="1800" b="1" dirty="0">
            <a:solidFill>
              <a:schemeClr val="tx1"/>
            </a:solidFill>
          </a:endParaRPr>
        </a:p>
      </dgm:t>
    </dgm:pt>
    <dgm:pt modelId="{005B1319-A3A5-410A-B868-3A323022C61A}" type="parTrans" cxnId="{00AC21D3-E7D0-45E9-8441-C2BC9E5EAB9A}">
      <dgm:prSet/>
      <dgm:spPr/>
      <dgm:t>
        <a:bodyPr/>
        <a:lstStyle/>
        <a:p>
          <a:endParaRPr lang="id-ID"/>
        </a:p>
      </dgm:t>
    </dgm:pt>
    <dgm:pt modelId="{BC7CFC4A-09FA-4C4B-889F-2C595F055BDA}" type="sibTrans" cxnId="{00AC21D3-E7D0-45E9-8441-C2BC9E5EAB9A}">
      <dgm:prSet/>
      <dgm:spPr>
        <a:solidFill>
          <a:srgbClr val="7030A0"/>
        </a:solidFill>
      </dgm:spPr>
      <dgm:t>
        <a:bodyPr/>
        <a:lstStyle/>
        <a:p>
          <a:endParaRPr lang="id-ID"/>
        </a:p>
      </dgm:t>
    </dgm:pt>
    <dgm:pt modelId="{398E0822-2FD7-490A-88E5-872C22CA5F5D}">
      <dgm:prSet phldrT="[Text]" custT="1"/>
      <dgm:spPr>
        <a:solidFill>
          <a:srgbClr val="FF9933"/>
        </a:solidFill>
        <a:ln>
          <a:solidFill>
            <a:srgbClr val="FF9933"/>
          </a:solidFill>
        </a:ln>
      </dgm:spPr>
      <dgm:t>
        <a:bodyPr/>
        <a:lstStyle/>
        <a:p>
          <a:r>
            <a:rPr lang="en-US" sz="1800" b="1" dirty="0" err="1" smtClean="0">
              <a:solidFill>
                <a:schemeClr val="tx1"/>
              </a:solidFill>
            </a:rPr>
            <a:t>Bangun</a:t>
          </a:r>
          <a:r>
            <a:rPr lang="en-US" sz="1800" b="1" dirty="0" smtClean="0">
              <a:solidFill>
                <a:schemeClr val="tx1"/>
              </a:solidFill>
            </a:rPr>
            <a:t> </a:t>
          </a:r>
          <a:r>
            <a:rPr lang="en-US" sz="1800" b="1" dirty="0" err="1" smtClean="0">
              <a:solidFill>
                <a:schemeClr val="tx1"/>
              </a:solidFill>
            </a:rPr>
            <a:t>matriks</a:t>
          </a:r>
          <a:r>
            <a:rPr lang="en-US" sz="1800" b="1" dirty="0" smtClean="0">
              <a:solidFill>
                <a:schemeClr val="tx1"/>
              </a:solidFill>
            </a:rPr>
            <a:t> </a:t>
          </a:r>
          <a:r>
            <a:rPr lang="en-US" sz="1800" b="1" dirty="0" err="1" smtClean="0">
              <a:solidFill>
                <a:schemeClr val="tx1"/>
              </a:solidFill>
            </a:rPr>
            <a:t>kovariansi</a:t>
          </a:r>
          <a:r>
            <a:rPr lang="en-US" sz="1800" b="1" dirty="0" smtClean="0">
              <a:solidFill>
                <a:schemeClr val="tx1"/>
              </a:solidFill>
            </a:rPr>
            <a:t> </a:t>
          </a:r>
          <a:r>
            <a:rPr lang="en-US" sz="1800" b="1" dirty="0" err="1" smtClean="0">
              <a:solidFill>
                <a:schemeClr val="tx1"/>
              </a:solidFill>
            </a:rPr>
            <a:t>gabungan</a:t>
          </a:r>
          <a:r>
            <a:rPr lang="en-US" sz="1800" b="1" dirty="0" smtClean="0">
              <a:solidFill>
                <a:schemeClr val="tx1"/>
              </a:solidFill>
            </a:rPr>
            <a:t> </a:t>
          </a:r>
          <a:endParaRPr lang="id-ID" sz="1800" b="1" dirty="0">
            <a:solidFill>
              <a:schemeClr val="tx1"/>
            </a:solidFill>
          </a:endParaRPr>
        </a:p>
      </dgm:t>
    </dgm:pt>
    <dgm:pt modelId="{2B295A94-681B-4EFA-85C4-9B195ED8BF53}" type="parTrans" cxnId="{7A51D9B3-DDDF-4499-807B-1A2AB33F588E}">
      <dgm:prSet/>
      <dgm:spPr/>
      <dgm:t>
        <a:bodyPr/>
        <a:lstStyle/>
        <a:p>
          <a:endParaRPr lang="id-ID"/>
        </a:p>
      </dgm:t>
    </dgm:pt>
    <dgm:pt modelId="{CC9C0A35-F171-473D-B375-1601E849681E}" type="sibTrans" cxnId="{7A51D9B3-DDDF-4499-807B-1A2AB33F588E}">
      <dgm:prSet/>
      <dgm:spPr>
        <a:solidFill>
          <a:srgbClr val="7030A0"/>
        </a:solidFill>
      </dgm:spPr>
      <dgm:t>
        <a:bodyPr/>
        <a:lstStyle/>
        <a:p>
          <a:endParaRPr lang="id-ID"/>
        </a:p>
      </dgm:t>
    </dgm:pt>
    <dgm:pt modelId="{B4D4D99B-4333-46B3-8C58-9CA17F061DEF}">
      <dgm:prSet phldrT="[Text]" custT="1"/>
      <dgm:spPr>
        <a:solidFill>
          <a:srgbClr val="92D050"/>
        </a:solidFill>
        <a:ln>
          <a:solidFill>
            <a:srgbClr val="92D050"/>
          </a:solidFill>
        </a:ln>
      </dgm:spPr>
      <dgm:t>
        <a:bodyPr/>
        <a:lstStyle/>
        <a:p>
          <a:r>
            <a:rPr lang="en-US" sz="1800" b="1" dirty="0" err="1" smtClean="0">
              <a:solidFill>
                <a:schemeClr val="tx1"/>
              </a:solidFill>
            </a:rPr>
            <a:t>Bangun</a:t>
          </a:r>
          <a:r>
            <a:rPr lang="en-US" sz="1800" b="1" dirty="0" smtClean="0">
              <a:solidFill>
                <a:schemeClr val="tx1"/>
              </a:solidFill>
            </a:rPr>
            <a:t> K</a:t>
          </a:r>
          <a:r>
            <a:rPr lang="id-ID" sz="1800" b="1" dirty="0" smtClean="0">
              <a:solidFill>
                <a:schemeClr val="tx1"/>
              </a:solidFill>
            </a:rPr>
            <a:t>ombinasi Linear Fisher </a:t>
          </a:r>
          <a:endParaRPr lang="id-ID" sz="1800" b="1" dirty="0">
            <a:solidFill>
              <a:schemeClr val="tx1"/>
            </a:solidFill>
          </a:endParaRPr>
        </a:p>
      </dgm:t>
    </dgm:pt>
    <dgm:pt modelId="{DFD1E498-AEB7-464A-A315-09A55584B6D3}" type="parTrans" cxnId="{6CB72198-A21F-4778-8BC1-AE629BBE4B44}">
      <dgm:prSet/>
      <dgm:spPr/>
      <dgm:t>
        <a:bodyPr/>
        <a:lstStyle/>
        <a:p>
          <a:endParaRPr lang="id-ID"/>
        </a:p>
      </dgm:t>
    </dgm:pt>
    <dgm:pt modelId="{879AB19C-372C-4A68-83FC-A4DF7A6C27AF}" type="sibTrans" cxnId="{6CB72198-A21F-4778-8BC1-AE629BBE4B44}">
      <dgm:prSet/>
      <dgm:spPr>
        <a:solidFill>
          <a:srgbClr val="7030A0"/>
        </a:solidFill>
      </dgm:spPr>
      <dgm:t>
        <a:bodyPr/>
        <a:lstStyle/>
        <a:p>
          <a:endParaRPr lang="id-ID"/>
        </a:p>
      </dgm:t>
    </dgm:pt>
    <dgm:pt modelId="{1DDEC921-8159-46C2-B22A-6FF788C899B9}">
      <dgm:prSet phldrT="[Text]" custT="1"/>
      <dgm:spPr>
        <a:solidFill>
          <a:srgbClr val="FFFF99"/>
        </a:solidFill>
        <a:ln>
          <a:solidFill>
            <a:srgbClr val="FFFF99"/>
          </a:solidFill>
        </a:ln>
      </dgm:spPr>
      <dgm:t>
        <a:bodyPr/>
        <a:lstStyle/>
        <a:p>
          <a:r>
            <a:rPr lang="id-ID" sz="1800" b="1" dirty="0" smtClean="0">
              <a:solidFill>
                <a:schemeClr val="tx1"/>
              </a:solidFill>
            </a:rPr>
            <a:t>Menghitung skor diskriminan</a:t>
          </a:r>
          <a:r>
            <a:rPr lang="en-US" sz="1800" b="1" dirty="0" smtClean="0">
              <a:solidFill>
                <a:schemeClr val="tx1"/>
              </a:solidFill>
            </a:rPr>
            <a:t> </a:t>
          </a:r>
          <a:endParaRPr lang="id-ID" sz="1800" b="1" dirty="0">
            <a:solidFill>
              <a:schemeClr val="tx1"/>
            </a:solidFill>
          </a:endParaRPr>
        </a:p>
      </dgm:t>
    </dgm:pt>
    <dgm:pt modelId="{E245D139-39E4-41BD-B857-4D581525A005}" type="parTrans" cxnId="{EE5D1F55-3BCE-488D-BA5F-5EBC321CD113}">
      <dgm:prSet/>
      <dgm:spPr/>
      <dgm:t>
        <a:bodyPr/>
        <a:lstStyle/>
        <a:p>
          <a:endParaRPr lang="id-ID"/>
        </a:p>
      </dgm:t>
    </dgm:pt>
    <dgm:pt modelId="{8DCECDCC-CC15-49C5-9037-3344CA13E213}" type="sibTrans" cxnId="{EE5D1F55-3BCE-488D-BA5F-5EBC321CD113}">
      <dgm:prSet/>
      <dgm:spPr>
        <a:solidFill>
          <a:srgbClr val="7030A0"/>
        </a:solidFill>
      </dgm:spPr>
      <dgm:t>
        <a:bodyPr/>
        <a:lstStyle/>
        <a:p>
          <a:endParaRPr lang="id-ID"/>
        </a:p>
      </dgm:t>
    </dgm:pt>
    <dgm:pt modelId="{80986B52-A662-4451-9A82-5DD19D1E85B1}">
      <dgm:prSet phldrT="[Text]" custT="1"/>
      <dgm:spPr>
        <a:solidFill>
          <a:srgbClr val="CC99FF"/>
        </a:solidFill>
        <a:ln>
          <a:solidFill>
            <a:srgbClr val="CC99FF"/>
          </a:solidFill>
        </a:ln>
      </dgm:spPr>
      <dgm:t>
        <a:bodyPr/>
        <a:lstStyle/>
        <a:p>
          <a:r>
            <a:rPr lang="id-ID" sz="2000" b="1" dirty="0" smtClean="0">
              <a:solidFill>
                <a:schemeClr val="tx1"/>
              </a:solidFill>
            </a:rPr>
            <a:t>Penghitungan </a:t>
          </a:r>
          <a:r>
            <a:rPr lang="en-US" sz="2000" b="1" i="1" dirty="0" smtClean="0">
              <a:solidFill>
                <a:schemeClr val="tx1"/>
              </a:solidFill>
            </a:rPr>
            <a:t>h</a:t>
          </a:r>
          <a:r>
            <a:rPr lang="id-ID" sz="2000" b="1" i="1" dirty="0" smtClean="0">
              <a:solidFill>
                <a:schemeClr val="tx1"/>
              </a:solidFill>
            </a:rPr>
            <a:t>it </a:t>
          </a:r>
          <a:r>
            <a:rPr lang="en-US" sz="2000" b="1" i="1" dirty="0" smtClean="0">
              <a:solidFill>
                <a:schemeClr val="tx1"/>
              </a:solidFill>
            </a:rPr>
            <a:t>r</a:t>
          </a:r>
          <a:r>
            <a:rPr lang="id-ID" sz="2000" b="1" i="1" dirty="0" smtClean="0">
              <a:solidFill>
                <a:schemeClr val="tx1"/>
              </a:solidFill>
            </a:rPr>
            <a:t>atio</a:t>
          </a:r>
          <a:endParaRPr lang="id-ID" sz="2000" b="1" dirty="0">
            <a:solidFill>
              <a:schemeClr val="tx1"/>
            </a:solidFill>
          </a:endParaRPr>
        </a:p>
      </dgm:t>
    </dgm:pt>
    <dgm:pt modelId="{56E19262-0E9D-444E-977D-52C3B842CA1A}" type="parTrans" cxnId="{21AD90F7-F56A-4D2B-B966-E49193BCC845}">
      <dgm:prSet/>
      <dgm:spPr/>
      <dgm:t>
        <a:bodyPr/>
        <a:lstStyle/>
        <a:p>
          <a:endParaRPr lang="id-ID"/>
        </a:p>
      </dgm:t>
    </dgm:pt>
    <dgm:pt modelId="{E32C8ADE-41CC-4C31-91E6-061DB95D71F3}" type="sibTrans" cxnId="{21AD90F7-F56A-4D2B-B966-E49193BCC845}">
      <dgm:prSet/>
      <dgm:spPr/>
      <dgm:t>
        <a:bodyPr/>
        <a:lstStyle/>
        <a:p>
          <a:endParaRPr lang="id-ID"/>
        </a:p>
      </dgm:t>
    </dgm:pt>
    <dgm:pt modelId="{B1261150-2A2B-470D-BBF4-B85AFDBAC87B}">
      <dgm:prSet phldrT="[Text]" custT="1"/>
      <dgm:spPr>
        <a:solidFill>
          <a:srgbClr val="FF0066"/>
        </a:solidFill>
        <a:ln>
          <a:solidFill>
            <a:srgbClr val="FF0066"/>
          </a:solidFill>
        </a:ln>
      </dgm:spPr>
      <dgm:t>
        <a:bodyPr/>
        <a:lstStyle/>
        <a:p>
          <a:r>
            <a:rPr lang="id-ID" sz="2000" b="1" dirty="0" smtClean="0">
              <a:solidFill>
                <a:schemeClr val="tx1"/>
              </a:solidFill>
            </a:rPr>
            <a:t>Menghitung </a:t>
          </a:r>
          <a:r>
            <a:rPr lang="id-ID" sz="2000" b="1" i="1" dirty="0" smtClean="0">
              <a:solidFill>
                <a:schemeClr val="tx1"/>
              </a:solidFill>
            </a:rPr>
            <a:t>cutting score</a:t>
          </a:r>
          <a:endParaRPr lang="id-ID" sz="2000" b="1" dirty="0">
            <a:solidFill>
              <a:schemeClr val="tx1"/>
            </a:solidFill>
          </a:endParaRPr>
        </a:p>
      </dgm:t>
    </dgm:pt>
    <dgm:pt modelId="{741576A4-BB12-42E7-A5CD-B6BFD638CF29}" type="parTrans" cxnId="{10B42B5C-4188-4E72-8549-50E02577DF97}">
      <dgm:prSet/>
      <dgm:spPr/>
      <dgm:t>
        <a:bodyPr/>
        <a:lstStyle/>
        <a:p>
          <a:endParaRPr lang="id-ID"/>
        </a:p>
      </dgm:t>
    </dgm:pt>
    <dgm:pt modelId="{17E34E73-26D0-42CE-B7B5-102D18DAFE4F}" type="sibTrans" cxnId="{10B42B5C-4188-4E72-8549-50E02577DF97}">
      <dgm:prSet/>
      <dgm:spPr>
        <a:solidFill>
          <a:srgbClr val="7030A0"/>
        </a:solidFill>
      </dgm:spPr>
      <dgm:t>
        <a:bodyPr/>
        <a:lstStyle/>
        <a:p>
          <a:endParaRPr lang="id-ID"/>
        </a:p>
      </dgm:t>
    </dgm:pt>
    <dgm:pt modelId="{70B9B43B-4312-4F55-B3BC-A6A20C80A776}" type="pres">
      <dgm:prSet presAssocID="{EA5227B3-569E-4543-A3F2-C185D5C3AA47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id-ID"/>
        </a:p>
      </dgm:t>
    </dgm:pt>
    <dgm:pt modelId="{68DE9B90-FF88-427E-A58A-0149D39AED28}" type="pres">
      <dgm:prSet presAssocID="{44D17B0D-64C5-4F61-B537-9E282C062F3E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id-ID"/>
        </a:p>
      </dgm:t>
    </dgm:pt>
    <dgm:pt modelId="{FE006960-BC87-4FE8-ACDD-A918B7AAA70A}" type="pres">
      <dgm:prSet presAssocID="{781332FE-2B05-47C3-A3D6-53BB8464EE0F}" presName="sibTrans" presStyleLbl="sibTrans2D1" presStyleIdx="0" presStyleCnt="6"/>
      <dgm:spPr/>
      <dgm:t>
        <a:bodyPr/>
        <a:lstStyle/>
        <a:p>
          <a:endParaRPr lang="id-ID"/>
        </a:p>
      </dgm:t>
    </dgm:pt>
    <dgm:pt modelId="{7586C63A-9DCE-4747-8E34-8E7C98970917}" type="pres">
      <dgm:prSet presAssocID="{781332FE-2B05-47C3-A3D6-53BB8464EE0F}" presName="connectorText" presStyleLbl="sibTrans2D1" presStyleIdx="0" presStyleCnt="6"/>
      <dgm:spPr/>
      <dgm:t>
        <a:bodyPr/>
        <a:lstStyle/>
        <a:p>
          <a:endParaRPr lang="id-ID"/>
        </a:p>
      </dgm:t>
    </dgm:pt>
    <dgm:pt modelId="{C663D752-1C7D-4468-AC81-F90B20F9E3DC}" type="pres">
      <dgm:prSet presAssocID="{29F87AB8-C566-4D77-9123-02CE98411B15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id-ID"/>
        </a:p>
      </dgm:t>
    </dgm:pt>
    <dgm:pt modelId="{E77C461F-80DB-403D-9463-F6366E095577}" type="pres">
      <dgm:prSet presAssocID="{BC7CFC4A-09FA-4C4B-889F-2C595F055BDA}" presName="sibTrans" presStyleLbl="sibTrans2D1" presStyleIdx="1" presStyleCnt="6"/>
      <dgm:spPr/>
      <dgm:t>
        <a:bodyPr/>
        <a:lstStyle/>
        <a:p>
          <a:endParaRPr lang="id-ID"/>
        </a:p>
      </dgm:t>
    </dgm:pt>
    <dgm:pt modelId="{22873028-C3DF-4404-B798-1DEF38D9F630}" type="pres">
      <dgm:prSet presAssocID="{BC7CFC4A-09FA-4C4B-889F-2C595F055BDA}" presName="connectorText" presStyleLbl="sibTrans2D1" presStyleIdx="1" presStyleCnt="6"/>
      <dgm:spPr/>
      <dgm:t>
        <a:bodyPr/>
        <a:lstStyle/>
        <a:p>
          <a:endParaRPr lang="id-ID"/>
        </a:p>
      </dgm:t>
    </dgm:pt>
    <dgm:pt modelId="{9BEA32ED-D2C5-4196-9EFA-D35C95FAA9D4}" type="pres">
      <dgm:prSet presAssocID="{398E0822-2FD7-490A-88E5-872C22CA5F5D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id-ID"/>
        </a:p>
      </dgm:t>
    </dgm:pt>
    <dgm:pt modelId="{31333B5C-7F1C-4082-A91E-9DB266FAA769}" type="pres">
      <dgm:prSet presAssocID="{CC9C0A35-F171-473D-B375-1601E849681E}" presName="sibTrans" presStyleLbl="sibTrans2D1" presStyleIdx="2" presStyleCnt="6"/>
      <dgm:spPr/>
      <dgm:t>
        <a:bodyPr/>
        <a:lstStyle/>
        <a:p>
          <a:endParaRPr lang="id-ID"/>
        </a:p>
      </dgm:t>
    </dgm:pt>
    <dgm:pt modelId="{A1DFFAFB-DBC1-44E2-B0C2-17C901C0221F}" type="pres">
      <dgm:prSet presAssocID="{CC9C0A35-F171-473D-B375-1601E849681E}" presName="connectorText" presStyleLbl="sibTrans2D1" presStyleIdx="2" presStyleCnt="6"/>
      <dgm:spPr/>
      <dgm:t>
        <a:bodyPr/>
        <a:lstStyle/>
        <a:p>
          <a:endParaRPr lang="id-ID"/>
        </a:p>
      </dgm:t>
    </dgm:pt>
    <dgm:pt modelId="{5ED9CD20-F149-4713-9495-197CADF124AF}" type="pres">
      <dgm:prSet presAssocID="{B4D4D99B-4333-46B3-8C58-9CA17F061DEF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id-ID"/>
        </a:p>
      </dgm:t>
    </dgm:pt>
    <dgm:pt modelId="{0A255D4D-CEAE-4A91-BE94-4BD2D0AA8DEC}" type="pres">
      <dgm:prSet presAssocID="{879AB19C-372C-4A68-83FC-A4DF7A6C27AF}" presName="sibTrans" presStyleLbl="sibTrans2D1" presStyleIdx="3" presStyleCnt="6"/>
      <dgm:spPr/>
      <dgm:t>
        <a:bodyPr/>
        <a:lstStyle/>
        <a:p>
          <a:endParaRPr lang="id-ID"/>
        </a:p>
      </dgm:t>
    </dgm:pt>
    <dgm:pt modelId="{17EBDACD-7163-461A-84E6-BFB90B4A90C6}" type="pres">
      <dgm:prSet presAssocID="{879AB19C-372C-4A68-83FC-A4DF7A6C27AF}" presName="connectorText" presStyleLbl="sibTrans2D1" presStyleIdx="3" presStyleCnt="6"/>
      <dgm:spPr/>
      <dgm:t>
        <a:bodyPr/>
        <a:lstStyle/>
        <a:p>
          <a:endParaRPr lang="id-ID"/>
        </a:p>
      </dgm:t>
    </dgm:pt>
    <dgm:pt modelId="{69759FE9-4488-44D0-89D8-C01759C86D40}" type="pres">
      <dgm:prSet presAssocID="{1DDEC921-8159-46C2-B22A-6FF788C899B9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id-ID"/>
        </a:p>
      </dgm:t>
    </dgm:pt>
    <dgm:pt modelId="{A459E245-0B47-4C2E-9779-F13F1E66EE9B}" type="pres">
      <dgm:prSet presAssocID="{8DCECDCC-CC15-49C5-9037-3344CA13E213}" presName="sibTrans" presStyleLbl="sibTrans2D1" presStyleIdx="4" presStyleCnt="6"/>
      <dgm:spPr/>
      <dgm:t>
        <a:bodyPr/>
        <a:lstStyle/>
        <a:p>
          <a:endParaRPr lang="id-ID"/>
        </a:p>
      </dgm:t>
    </dgm:pt>
    <dgm:pt modelId="{03DE1DE5-FFCA-48C2-B2B3-4C7EAA6A0611}" type="pres">
      <dgm:prSet presAssocID="{8DCECDCC-CC15-49C5-9037-3344CA13E213}" presName="connectorText" presStyleLbl="sibTrans2D1" presStyleIdx="4" presStyleCnt="6"/>
      <dgm:spPr/>
      <dgm:t>
        <a:bodyPr/>
        <a:lstStyle/>
        <a:p>
          <a:endParaRPr lang="id-ID"/>
        </a:p>
      </dgm:t>
    </dgm:pt>
    <dgm:pt modelId="{688A4609-EF46-4F6C-97C8-0EBD9EDE6A73}" type="pres">
      <dgm:prSet presAssocID="{B1261150-2A2B-470D-BBF4-B85AFDBAC87B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id-ID"/>
        </a:p>
      </dgm:t>
    </dgm:pt>
    <dgm:pt modelId="{DEB8ECF6-C91A-4656-B3BE-E6220B306097}" type="pres">
      <dgm:prSet presAssocID="{17E34E73-26D0-42CE-B7B5-102D18DAFE4F}" presName="sibTrans" presStyleLbl="sibTrans2D1" presStyleIdx="5" presStyleCnt="6"/>
      <dgm:spPr/>
      <dgm:t>
        <a:bodyPr/>
        <a:lstStyle/>
        <a:p>
          <a:endParaRPr lang="id-ID"/>
        </a:p>
      </dgm:t>
    </dgm:pt>
    <dgm:pt modelId="{6F6AD607-6450-4D3A-8934-ACDC223DD34A}" type="pres">
      <dgm:prSet presAssocID="{17E34E73-26D0-42CE-B7B5-102D18DAFE4F}" presName="connectorText" presStyleLbl="sibTrans2D1" presStyleIdx="5" presStyleCnt="6"/>
      <dgm:spPr/>
      <dgm:t>
        <a:bodyPr/>
        <a:lstStyle/>
        <a:p>
          <a:endParaRPr lang="id-ID"/>
        </a:p>
      </dgm:t>
    </dgm:pt>
    <dgm:pt modelId="{989BB855-EBA5-4869-AA3A-665E5207F1FA}" type="pres">
      <dgm:prSet presAssocID="{80986B52-A662-4451-9A82-5DD19D1E85B1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id-ID"/>
        </a:p>
      </dgm:t>
    </dgm:pt>
  </dgm:ptLst>
  <dgm:cxnLst>
    <dgm:cxn modelId="{10B42B5C-4188-4E72-8549-50E02577DF97}" srcId="{EA5227B3-569E-4543-A3F2-C185D5C3AA47}" destId="{B1261150-2A2B-470D-BBF4-B85AFDBAC87B}" srcOrd="5" destOrd="0" parTransId="{741576A4-BB12-42E7-A5CD-B6BFD638CF29}" sibTransId="{17E34E73-26D0-42CE-B7B5-102D18DAFE4F}"/>
    <dgm:cxn modelId="{7A51D9B3-DDDF-4499-807B-1A2AB33F588E}" srcId="{EA5227B3-569E-4543-A3F2-C185D5C3AA47}" destId="{398E0822-2FD7-490A-88E5-872C22CA5F5D}" srcOrd="2" destOrd="0" parTransId="{2B295A94-681B-4EFA-85C4-9B195ED8BF53}" sibTransId="{CC9C0A35-F171-473D-B375-1601E849681E}"/>
    <dgm:cxn modelId="{761E8DD4-36F6-46F6-B544-4075466DB95F}" type="presOf" srcId="{781332FE-2B05-47C3-A3D6-53BB8464EE0F}" destId="{FE006960-BC87-4FE8-ACDD-A918B7AAA70A}" srcOrd="0" destOrd="0" presId="urn:microsoft.com/office/officeart/2005/8/layout/process5"/>
    <dgm:cxn modelId="{6CB72198-A21F-4778-8BC1-AE629BBE4B44}" srcId="{EA5227B3-569E-4543-A3F2-C185D5C3AA47}" destId="{B4D4D99B-4333-46B3-8C58-9CA17F061DEF}" srcOrd="3" destOrd="0" parTransId="{DFD1E498-AEB7-464A-A315-09A55584B6D3}" sibTransId="{879AB19C-372C-4A68-83FC-A4DF7A6C27AF}"/>
    <dgm:cxn modelId="{973D1874-B41A-468C-B301-61A700F02DAE}" type="presOf" srcId="{781332FE-2B05-47C3-A3D6-53BB8464EE0F}" destId="{7586C63A-9DCE-4747-8E34-8E7C98970917}" srcOrd="1" destOrd="0" presId="urn:microsoft.com/office/officeart/2005/8/layout/process5"/>
    <dgm:cxn modelId="{476B0FFA-4C78-4F77-8C29-B05EBF3951F2}" type="presOf" srcId="{EA5227B3-569E-4543-A3F2-C185D5C3AA47}" destId="{70B9B43B-4312-4F55-B3BC-A6A20C80A776}" srcOrd="0" destOrd="0" presId="urn:microsoft.com/office/officeart/2005/8/layout/process5"/>
    <dgm:cxn modelId="{00AC21D3-E7D0-45E9-8441-C2BC9E5EAB9A}" srcId="{EA5227B3-569E-4543-A3F2-C185D5C3AA47}" destId="{29F87AB8-C566-4D77-9123-02CE98411B15}" srcOrd="1" destOrd="0" parTransId="{005B1319-A3A5-410A-B868-3A323022C61A}" sibTransId="{BC7CFC4A-09FA-4C4B-889F-2C595F055BDA}"/>
    <dgm:cxn modelId="{BFDD4505-0B1D-4890-A087-D6BE045FD927}" type="presOf" srcId="{879AB19C-372C-4A68-83FC-A4DF7A6C27AF}" destId="{0A255D4D-CEAE-4A91-BE94-4BD2D0AA8DEC}" srcOrd="0" destOrd="0" presId="urn:microsoft.com/office/officeart/2005/8/layout/process5"/>
    <dgm:cxn modelId="{35A43F40-73EB-4023-9AF9-122ED03CA104}" srcId="{EA5227B3-569E-4543-A3F2-C185D5C3AA47}" destId="{44D17B0D-64C5-4F61-B537-9E282C062F3E}" srcOrd="0" destOrd="0" parTransId="{3A0DBCD4-1DC0-40E5-9252-38C018A7F68C}" sibTransId="{781332FE-2B05-47C3-A3D6-53BB8464EE0F}"/>
    <dgm:cxn modelId="{EE5D1F55-3BCE-488D-BA5F-5EBC321CD113}" srcId="{EA5227B3-569E-4543-A3F2-C185D5C3AA47}" destId="{1DDEC921-8159-46C2-B22A-6FF788C899B9}" srcOrd="4" destOrd="0" parTransId="{E245D139-39E4-41BD-B857-4D581525A005}" sibTransId="{8DCECDCC-CC15-49C5-9037-3344CA13E213}"/>
    <dgm:cxn modelId="{DC385349-2EB8-477F-87AE-533F78024E32}" type="presOf" srcId="{B1261150-2A2B-470D-BBF4-B85AFDBAC87B}" destId="{688A4609-EF46-4F6C-97C8-0EBD9EDE6A73}" srcOrd="0" destOrd="0" presId="urn:microsoft.com/office/officeart/2005/8/layout/process5"/>
    <dgm:cxn modelId="{F23D7B74-DD78-4C37-A9C8-7F4B5E329677}" type="presOf" srcId="{80986B52-A662-4451-9A82-5DD19D1E85B1}" destId="{989BB855-EBA5-4869-AA3A-665E5207F1FA}" srcOrd="0" destOrd="0" presId="urn:microsoft.com/office/officeart/2005/8/layout/process5"/>
    <dgm:cxn modelId="{7BB4C4BB-6646-419E-90AE-3B3477D4EE7F}" type="presOf" srcId="{1DDEC921-8159-46C2-B22A-6FF788C899B9}" destId="{69759FE9-4488-44D0-89D8-C01759C86D40}" srcOrd="0" destOrd="0" presId="urn:microsoft.com/office/officeart/2005/8/layout/process5"/>
    <dgm:cxn modelId="{714368A5-F0DB-405E-9F60-CA3A784E84B2}" type="presOf" srcId="{8DCECDCC-CC15-49C5-9037-3344CA13E213}" destId="{03DE1DE5-FFCA-48C2-B2B3-4C7EAA6A0611}" srcOrd="1" destOrd="0" presId="urn:microsoft.com/office/officeart/2005/8/layout/process5"/>
    <dgm:cxn modelId="{0ABC4D32-97AA-45F4-AF5A-ED91A213B981}" type="presOf" srcId="{44D17B0D-64C5-4F61-B537-9E282C062F3E}" destId="{68DE9B90-FF88-427E-A58A-0149D39AED28}" srcOrd="0" destOrd="0" presId="urn:microsoft.com/office/officeart/2005/8/layout/process5"/>
    <dgm:cxn modelId="{64292649-B0D1-436E-B5F6-70509D76495B}" type="presOf" srcId="{17E34E73-26D0-42CE-B7B5-102D18DAFE4F}" destId="{6F6AD607-6450-4D3A-8934-ACDC223DD34A}" srcOrd="1" destOrd="0" presId="urn:microsoft.com/office/officeart/2005/8/layout/process5"/>
    <dgm:cxn modelId="{CB491B9E-FAB8-46B0-85B0-96377564A61C}" type="presOf" srcId="{879AB19C-372C-4A68-83FC-A4DF7A6C27AF}" destId="{17EBDACD-7163-461A-84E6-BFB90B4A90C6}" srcOrd="1" destOrd="0" presId="urn:microsoft.com/office/officeart/2005/8/layout/process5"/>
    <dgm:cxn modelId="{44C52748-1A72-451F-AE8D-58EEE455C4EE}" type="presOf" srcId="{8DCECDCC-CC15-49C5-9037-3344CA13E213}" destId="{A459E245-0B47-4C2E-9779-F13F1E66EE9B}" srcOrd="0" destOrd="0" presId="urn:microsoft.com/office/officeart/2005/8/layout/process5"/>
    <dgm:cxn modelId="{DBC76121-D68F-450A-8CD6-D66F3DF32CE0}" type="presOf" srcId="{17E34E73-26D0-42CE-B7B5-102D18DAFE4F}" destId="{DEB8ECF6-C91A-4656-B3BE-E6220B306097}" srcOrd="0" destOrd="0" presId="urn:microsoft.com/office/officeart/2005/8/layout/process5"/>
    <dgm:cxn modelId="{0B025FCF-6D29-4717-8BF5-354DA64D3EC1}" type="presOf" srcId="{B4D4D99B-4333-46B3-8C58-9CA17F061DEF}" destId="{5ED9CD20-F149-4713-9495-197CADF124AF}" srcOrd="0" destOrd="0" presId="urn:microsoft.com/office/officeart/2005/8/layout/process5"/>
    <dgm:cxn modelId="{97198E0F-4A48-4BC4-82E4-DED66D896C29}" type="presOf" srcId="{29F87AB8-C566-4D77-9123-02CE98411B15}" destId="{C663D752-1C7D-4468-AC81-F90B20F9E3DC}" srcOrd="0" destOrd="0" presId="urn:microsoft.com/office/officeart/2005/8/layout/process5"/>
    <dgm:cxn modelId="{8838B90B-FB39-4E60-A688-8D988902DBF1}" type="presOf" srcId="{CC9C0A35-F171-473D-B375-1601E849681E}" destId="{31333B5C-7F1C-4082-A91E-9DB266FAA769}" srcOrd="0" destOrd="0" presId="urn:microsoft.com/office/officeart/2005/8/layout/process5"/>
    <dgm:cxn modelId="{4BB9AB0D-8EF1-4D9E-896B-536E58BBF176}" type="presOf" srcId="{BC7CFC4A-09FA-4C4B-889F-2C595F055BDA}" destId="{22873028-C3DF-4404-B798-1DEF38D9F630}" srcOrd="1" destOrd="0" presId="urn:microsoft.com/office/officeart/2005/8/layout/process5"/>
    <dgm:cxn modelId="{C5EAF459-A1DA-49A5-89F2-D47E6BB3819F}" type="presOf" srcId="{CC9C0A35-F171-473D-B375-1601E849681E}" destId="{A1DFFAFB-DBC1-44E2-B0C2-17C901C0221F}" srcOrd="1" destOrd="0" presId="urn:microsoft.com/office/officeart/2005/8/layout/process5"/>
    <dgm:cxn modelId="{5D585D3B-F417-4357-B33F-953EBCD32B7A}" type="presOf" srcId="{398E0822-2FD7-490A-88E5-872C22CA5F5D}" destId="{9BEA32ED-D2C5-4196-9EFA-D35C95FAA9D4}" srcOrd="0" destOrd="0" presId="urn:microsoft.com/office/officeart/2005/8/layout/process5"/>
    <dgm:cxn modelId="{8FB42093-6614-4F00-9524-282B75730CBF}" type="presOf" srcId="{BC7CFC4A-09FA-4C4B-889F-2C595F055BDA}" destId="{E77C461F-80DB-403D-9463-F6366E095577}" srcOrd="0" destOrd="0" presId="urn:microsoft.com/office/officeart/2005/8/layout/process5"/>
    <dgm:cxn modelId="{21AD90F7-F56A-4D2B-B966-E49193BCC845}" srcId="{EA5227B3-569E-4543-A3F2-C185D5C3AA47}" destId="{80986B52-A662-4451-9A82-5DD19D1E85B1}" srcOrd="6" destOrd="0" parTransId="{56E19262-0E9D-444E-977D-52C3B842CA1A}" sibTransId="{E32C8ADE-41CC-4C31-91E6-061DB95D71F3}"/>
    <dgm:cxn modelId="{98C50195-FA36-430F-B0FD-AA61A16652B5}" type="presParOf" srcId="{70B9B43B-4312-4F55-B3BC-A6A20C80A776}" destId="{68DE9B90-FF88-427E-A58A-0149D39AED28}" srcOrd="0" destOrd="0" presId="urn:microsoft.com/office/officeart/2005/8/layout/process5"/>
    <dgm:cxn modelId="{EA1DAF09-0331-4C30-AB2F-107063CC58BA}" type="presParOf" srcId="{70B9B43B-4312-4F55-B3BC-A6A20C80A776}" destId="{FE006960-BC87-4FE8-ACDD-A918B7AAA70A}" srcOrd="1" destOrd="0" presId="urn:microsoft.com/office/officeart/2005/8/layout/process5"/>
    <dgm:cxn modelId="{F06805D1-C60D-48CE-BE8A-E2D234B5F473}" type="presParOf" srcId="{FE006960-BC87-4FE8-ACDD-A918B7AAA70A}" destId="{7586C63A-9DCE-4747-8E34-8E7C98970917}" srcOrd="0" destOrd="0" presId="urn:microsoft.com/office/officeart/2005/8/layout/process5"/>
    <dgm:cxn modelId="{87DEA311-E75E-4400-9646-772B5EE6FE07}" type="presParOf" srcId="{70B9B43B-4312-4F55-B3BC-A6A20C80A776}" destId="{C663D752-1C7D-4468-AC81-F90B20F9E3DC}" srcOrd="2" destOrd="0" presId="urn:microsoft.com/office/officeart/2005/8/layout/process5"/>
    <dgm:cxn modelId="{6D077B0E-3F78-48C1-9158-AA0378DEC7F7}" type="presParOf" srcId="{70B9B43B-4312-4F55-B3BC-A6A20C80A776}" destId="{E77C461F-80DB-403D-9463-F6366E095577}" srcOrd="3" destOrd="0" presId="urn:microsoft.com/office/officeart/2005/8/layout/process5"/>
    <dgm:cxn modelId="{72873C45-8205-4A50-A7F7-5CA51BCA84E2}" type="presParOf" srcId="{E77C461F-80DB-403D-9463-F6366E095577}" destId="{22873028-C3DF-4404-B798-1DEF38D9F630}" srcOrd="0" destOrd="0" presId="urn:microsoft.com/office/officeart/2005/8/layout/process5"/>
    <dgm:cxn modelId="{FC4F2735-6CDE-4167-A2AE-C7E21C24162A}" type="presParOf" srcId="{70B9B43B-4312-4F55-B3BC-A6A20C80A776}" destId="{9BEA32ED-D2C5-4196-9EFA-D35C95FAA9D4}" srcOrd="4" destOrd="0" presId="urn:microsoft.com/office/officeart/2005/8/layout/process5"/>
    <dgm:cxn modelId="{38B98D27-0D7A-43C0-A60C-9C0CF68F8AF3}" type="presParOf" srcId="{70B9B43B-4312-4F55-B3BC-A6A20C80A776}" destId="{31333B5C-7F1C-4082-A91E-9DB266FAA769}" srcOrd="5" destOrd="0" presId="urn:microsoft.com/office/officeart/2005/8/layout/process5"/>
    <dgm:cxn modelId="{AD7EBDCD-CDC0-4B17-A0C6-333A0B961333}" type="presParOf" srcId="{31333B5C-7F1C-4082-A91E-9DB266FAA769}" destId="{A1DFFAFB-DBC1-44E2-B0C2-17C901C0221F}" srcOrd="0" destOrd="0" presId="urn:microsoft.com/office/officeart/2005/8/layout/process5"/>
    <dgm:cxn modelId="{8EE1DD90-C902-48A8-A725-E0562A403B05}" type="presParOf" srcId="{70B9B43B-4312-4F55-B3BC-A6A20C80A776}" destId="{5ED9CD20-F149-4713-9495-197CADF124AF}" srcOrd="6" destOrd="0" presId="urn:microsoft.com/office/officeart/2005/8/layout/process5"/>
    <dgm:cxn modelId="{E7BDD516-4FE0-493E-B6D2-2FF0EB8532C8}" type="presParOf" srcId="{70B9B43B-4312-4F55-B3BC-A6A20C80A776}" destId="{0A255D4D-CEAE-4A91-BE94-4BD2D0AA8DEC}" srcOrd="7" destOrd="0" presId="urn:microsoft.com/office/officeart/2005/8/layout/process5"/>
    <dgm:cxn modelId="{ACCA7C79-F8C0-458F-BDA5-4BA1405D70FF}" type="presParOf" srcId="{0A255D4D-CEAE-4A91-BE94-4BD2D0AA8DEC}" destId="{17EBDACD-7163-461A-84E6-BFB90B4A90C6}" srcOrd="0" destOrd="0" presId="urn:microsoft.com/office/officeart/2005/8/layout/process5"/>
    <dgm:cxn modelId="{5B69B4BA-C7D8-45F8-B585-5670CEA72473}" type="presParOf" srcId="{70B9B43B-4312-4F55-B3BC-A6A20C80A776}" destId="{69759FE9-4488-44D0-89D8-C01759C86D40}" srcOrd="8" destOrd="0" presId="urn:microsoft.com/office/officeart/2005/8/layout/process5"/>
    <dgm:cxn modelId="{0E9DE90D-7986-428E-8C12-87879B393858}" type="presParOf" srcId="{70B9B43B-4312-4F55-B3BC-A6A20C80A776}" destId="{A459E245-0B47-4C2E-9779-F13F1E66EE9B}" srcOrd="9" destOrd="0" presId="urn:microsoft.com/office/officeart/2005/8/layout/process5"/>
    <dgm:cxn modelId="{6DA51775-262D-4751-9982-46B7FA465286}" type="presParOf" srcId="{A459E245-0B47-4C2E-9779-F13F1E66EE9B}" destId="{03DE1DE5-FFCA-48C2-B2B3-4C7EAA6A0611}" srcOrd="0" destOrd="0" presId="urn:microsoft.com/office/officeart/2005/8/layout/process5"/>
    <dgm:cxn modelId="{9B218747-E052-42AA-AAD4-E64054F505C4}" type="presParOf" srcId="{70B9B43B-4312-4F55-B3BC-A6A20C80A776}" destId="{688A4609-EF46-4F6C-97C8-0EBD9EDE6A73}" srcOrd="10" destOrd="0" presId="urn:microsoft.com/office/officeart/2005/8/layout/process5"/>
    <dgm:cxn modelId="{EC80EAFE-14B3-449D-BFC4-4D7F9E59FED2}" type="presParOf" srcId="{70B9B43B-4312-4F55-B3BC-A6A20C80A776}" destId="{DEB8ECF6-C91A-4656-B3BE-E6220B306097}" srcOrd="11" destOrd="0" presId="urn:microsoft.com/office/officeart/2005/8/layout/process5"/>
    <dgm:cxn modelId="{2634712E-95CE-4635-8FC9-366140B16D64}" type="presParOf" srcId="{DEB8ECF6-C91A-4656-B3BE-E6220B306097}" destId="{6F6AD607-6450-4D3A-8934-ACDC223DD34A}" srcOrd="0" destOrd="0" presId="urn:microsoft.com/office/officeart/2005/8/layout/process5"/>
    <dgm:cxn modelId="{BEF0FE9C-465C-48C0-ACB6-626C6DCF0764}" type="presParOf" srcId="{70B9B43B-4312-4F55-B3BC-A6A20C80A776}" destId="{989BB855-EBA5-4869-AA3A-665E5207F1FA}" srcOrd="1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7A22449-9966-4641-B137-A15D61E699FE}" type="doc">
      <dgm:prSet loTypeId="urn:microsoft.com/office/officeart/2005/8/layout/process2" loCatId="process" qsTypeId="urn:microsoft.com/office/officeart/2005/8/quickstyle/simple1" qsCatId="simple" csTypeId="urn:microsoft.com/office/officeart/2005/8/colors/accent3_5" csCatId="accent3" phldr="1"/>
      <dgm:spPr/>
    </dgm:pt>
    <mc:AlternateContent xmlns:mc="http://schemas.openxmlformats.org/markup-compatibility/2006" xmlns:a14="http://schemas.microsoft.com/office/drawing/2010/main">
      <mc:Choice Requires="a14">
        <dgm:pt modelId="{91C1A240-9ABA-45AE-8FEC-6495E23619E9}">
          <dgm:prSet phldrT="[Text]" custT="1"/>
          <dgm:spPr/>
          <dgm:t>
            <a:bodyPr/>
            <a:lstStyle/>
            <a:p>
              <a:r>
                <a:rPr lang="en-US" sz="2400" b="0" dirty="0" smtClean="0">
                  <a:solidFill>
                    <a:schemeClr val="tx1"/>
                  </a:solidFill>
                </a:rPr>
                <a:t>Uji </a:t>
              </a:r>
              <a14:m>
                <m:oMath xmlns:m="http://schemas.openxmlformats.org/officeDocument/2006/math">
                  <m:r>
                    <a:rPr lang="en-US" sz="2400" b="0" i="1" smtClean="0">
                      <a:solidFill>
                        <a:schemeClr val="tx1"/>
                      </a:solidFill>
                      <a:latin typeface="Cambria Math"/>
                    </a:rPr>
                    <m:t>𝐹</m:t>
                  </m:r>
                </m:oMath>
              </a14:m>
              <a:r>
                <a:rPr lang="en-US" sz="2400" dirty="0" smtClean="0">
                  <a:solidFill>
                    <a:schemeClr val="tx1"/>
                  </a:solidFill>
                </a:rPr>
                <a:t> </a:t>
              </a:r>
              <a:r>
                <a:rPr lang="en-US" sz="2400" dirty="0" err="1" smtClean="0">
                  <a:solidFill>
                    <a:schemeClr val="tx1"/>
                  </a:solidFill>
                </a:rPr>
                <a:t>dari</a:t>
              </a:r>
              <a:r>
                <a:rPr lang="en-US" sz="2400" dirty="0" smtClean="0">
                  <a:solidFill>
                    <a:schemeClr val="tx1"/>
                  </a:solidFill>
                </a:rPr>
                <a:t> </a:t>
              </a:r>
              <a:r>
                <a:rPr lang="en-US" sz="2400" b="1" dirty="0" err="1" smtClean="0">
                  <a:solidFill>
                    <a:schemeClr val="tx1"/>
                  </a:solidFill>
                </a:rPr>
                <a:t>Manova</a:t>
              </a:r>
              <a:r>
                <a:rPr lang="en-US" sz="2400" dirty="0" smtClean="0">
                  <a:solidFill>
                    <a:schemeClr val="tx1"/>
                  </a:solidFill>
                </a:rPr>
                <a:t>:  </a:t>
              </a:r>
            </a:p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/>
                      </a:rPr>
                      <m:t>𝑭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lin"/>
                            <m:ctrlP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𝒂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sz="2400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𝒕</m:t>
                                </m:r>
                              </m:sup>
                            </m:sSup>
                            <m:r>
                              <a:rPr lang="en-US" sz="2400" b="1" i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𝐇</m:t>
                            </m:r>
                            <m:acc>
                              <m:accPr>
                                <m:chr m:val="⃗"/>
                                <m:ctrlPr>
                                  <a:rPr lang="en-US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𝒂</m:t>
                                </m:r>
                              </m:e>
                            </m:acc>
                          </m:num>
                          <m:den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𝒌</m:t>
                            </m:r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)</m:t>
                            </m:r>
                          </m:den>
                        </m:f>
                      </m:num>
                      <m:den>
                        <m:f>
                          <m:fPr>
                            <m:type m:val="lin"/>
                            <m:ctrlP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𝒂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sz="2400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𝒕</m:t>
                                </m:r>
                              </m:sup>
                            </m:sSup>
                            <m:r>
                              <a:rPr lang="en-US" sz="2400" b="1" i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𝐄</m:t>
                            </m:r>
                            <m:acc>
                              <m:accPr>
                                <m:chr m:val="⃗"/>
                                <m:ctrlPr>
                                  <a:rPr lang="en-US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𝒂</m:t>
                                </m:r>
                              </m:e>
                            </m:acc>
                          </m:num>
                          <m:den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𝒌𝒏</m:t>
                            </m:r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𝒌</m:t>
                            </m:r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)</m:t>
                            </m:r>
                          </m:den>
                        </m:f>
                      </m:den>
                    </m:f>
                  </m:oMath>
                </m:oMathPara>
              </a14:m>
              <a:endParaRPr lang="en-GB" sz="2400" b="1" dirty="0">
                <a:solidFill>
                  <a:schemeClr val="tx1"/>
                </a:solidFill>
              </a:endParaRPr>
            </a:p>
          </dgm:t>
        </dgm:pt>
      </mc:Choice>
      <mc:Fallback xmlns="">
        <dgm:pt modelId="{91C1A240-9ABA-45AE-8FEC-6495E23619E9}">
          <dgm:prSet phldrT="[Text]" custT="1"/>
          <dgm:spPr/>
          <dgm:t>
            <a:bodyPr/>
            <a:lstStyle/>
            <a:p>
              <a:r>
                <a:rPr lang="en-US" sz="2400" b="0" dirty="0" smtClean="0">
                  <a:solidFill>
                    <a:schemeClr val="tx1"/>
                  </a:solidFill>
                </a:rPr>
                <a:t>Uji </a:t>
              </a:r>
              <a:r>
                <a:rPr lang="en-US" sz="2400" b="0" i="0" smtClean="0">
                  <a:solidFill>
                    <a:schemeClr val="tx1"/>
                  </a:solidFill>
                  <a:latin typeface="Cambria Math"/>
                </a:rPr>
                <a:t>𝐹</a:t>
              </a:r>
              <a:r>
                <a:rPr lang="en-US" sz="2400" dirty="0" smtClean="0">
                  <a:solidFill>
                    <a:schemeClr val="tx1"/>
                  </a:solidFill>
                </a:rPr>
                <a:t> </a:t>
              </a:r>
              <a:r>
                <a:rPr lang="en-US" sz="2400" dirty="0" err="1" smtClean="0">
                  <a:solidFill>
                    <a:schemeClr val="tx1"/>
                  </a:solidFill>
                </a:rPr>
                <a:t>dari</a:t>
              </a:r>
              <a:r>
                <a:rPr lang="en-US" sz="2400" dirty="0" smtClean="0">
                  <a:solidFill>
                    <a:schemeClr val="tx1"/>
                  </a:solidFill>
                </a:rPr>
                <a:t> </a:t>
              </a:r>
              <a:r>
                <a:rPr lang="en-US" sz="2400" b="1" dirty="0" err="1" smtClean="0">
                  <a:solidFill>
                    <a:schemeClr val="tx1"/>
                  </a:solidFill>
                </a:rPr>
                <a:t>Manova</a:t>
              </a:r>
              <a:r>
                <a:rPr lang="en-US" sz="2400" dirty="0" smtClean="0">
                  <a:solidFill>
                    <a:schemeClr val="tx1"/>
                  </a:solidFill>
                </a:rPr>
                <a:t>:  </a:t>
              </a:r>
            </a:p>
            <a:p>
              <a:pPr/>
              <a:r>
                <a:rPr lang="en-US" sz="2400" b="1" i="0" smtClean="0">
                  <a:solidFill>
                    <a:schemeClr val="tx1"/>
                  </a:solidFill>
                  <a:latin typeface="Cambria Math"/>
                </a:rPr>
                <a:t>𝑭=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(〖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/>
                </a:rPr>
                <a:t>𝒂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 ⃗^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/>
                </a:rPr>
                <a:t>𝒕 𝐇𝒂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 ⃗〗∕〖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/>
                </a:rPr>
                <a:t>(𝒌−𝟏)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〗)/(〖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/>
                </a:rPr>
                <a:t>𝒂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 ⃗^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/>
                </a:rPr>
                <a:t>𝒕 𝐄𝒂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 ⃗〗∕〖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/>
                </a:rPr>
                <a:t>(𝒌𝒏−𝒌)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〗)</a:t>
              </a:r>
              <a:endParaRPr lang="en-GB" sz="2400" b="1" dirty="0">
                <a:solidFill>
                  <a:schemeClr val="tx1"/>
                </a:solidFill>
              </a:endParaRPr>
            </a:p>
          </dgm:t>
        </dgm:pt>
      </mc:Fallback>
    </mc:AlternateContent>
    <dgm:pt modelId="{55C56C5C-42CD-4312-A6DF-6F70125E4270}" type="parTrans" cxnId="{B88EC47D-863A-4F33-A7F2-1D0F3257CE3B}">
      <dgm:prSet/>
      <dgm:spPr/>
      <dgm:t>
        <a:bodyPr/>
        <a:lstStyle/>
        <a:p>
          <a:endParaRPr lang="en-GB" sz="2000">
            <a:solidFill>
              <a:schemeClr val="tx1"/>
            </a:solidFill>
          </a:endParaRPr>
        </a:p>
      </dgm:t>
    </dgm:pt>
    <dgm:pt modelId="{748D1F62-0C2D-41F8-8701-03907CB8E91C}" type="sibTrans" cxnId="{B88EC47D-863A-4F33-A7F2-1D0F3257CE3B}">
      <dgm:prSet custT="1"/>
      <dgm:spPr/>
      <dgm:t>
        <a:bodyPr/>
        <a:lstStyle/>
        <a:p>
          <a:endParaRPr lang="en-GB" sz="2000">
            <a:solidFill>
              <a:schemeClr val="tx1"/>
            </a:solidFill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375D34D6-84D8-4AE5-B5BC-E7A833A2ECBD}">
          <dgm:prSet phldrT="[Text]" custT="1"/>
          <dgm:spPr/>
          <dgm:t>
            <a:bodyPr/>
            <a:lstStyle/>
            <a:p>
              <a:r>
                <a:rPr lang="en-US" sz="2400" dirty="0" smtClean="0">
                  <a:solidFill>
                    <a:schemeClr val="tx1"/>
                  </a:solidFill>
                </a:rPr>
                <a:t>Koefisien model </a:t>
              </a:r>
              <a14:m>
                <m:oMath xmlns:m="http://schemas.openxmlformats.org/officeDocument/2006/math">
                  <m:d>
                    <m:dPr>
                      <m:ctrlP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acc>
                        <m:accPr>
                          <m:chr m:val="⃗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</m:acc>
                    </m:e>
                  </m:d>
                </m:oMath>
              </a14:m>
              <a:r>
                <a:rPr lang="en-US" sz="2400" dirty="0" smtClean="0">
                  <a:solidFill>
                    <a:schemeClr val="tx1"/>
                  </a:solidFill>
                </a:rPr>
                <a:t> </a:t>
              </a:r>
              <a:r>
                <a:rPr lang="en-US" sz="2400" dirty="0" err="1" smtClean="0">
                  <a:solidFill>
                    <a:schemeClr val="tx1"/>
                  </a:solidFill>
                </a:rPr>
                <a:t>untuk</a:t>
              </a:r>
              <a:r>
                <a:rPr lang="en-US" sz="2400" dirty="0" smtClean="0">
                  <a:solidFill>
                    <a:schemeClr val="tx1"/>
                  </a:solidFill>
                </a:rPr>
                <a:t> </a:t>
              </a:r>
              <a:r>
                <a:rPr lang="en-US" sz="2400" dirty="0" err="1" smtClean="0">
                  <a:solidFill>
                    <a:schemeClr val="tx1"/>
                  </a:solidFill>
                </a:rPr>
                <a:t>variabel</a:t>
              </a:r>
              <a:r>
                <a:rPr lang="en-US" sz="2400" dirty="0" smtClean="0">
                  <a:solidFill>
                    <a:schemeClr val="tx1"/>
                  </a:solidFill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</a:rPr>
                <a:t>respon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14:m>
                <m:oMath xmlns:m="http://schemas.openxmlformats.org/officeDocument/2006/math">
                  <m:r>
                    <a:rPr lang="en-US" sz="2400" b="0" i="1" dirty="0" smtClean="0">
                      <a:solidFill>
                        <a:schemeClr val="tx1"/>
                      </a:solidFill>
                      <a:latin typeface="Cambria Math"/>
                    </a:rPr>
                    <m:t>𝑘</m:t>
                  </m:r>
                </m:oMath>
              </a14:m>
              <a:r>
                <a:rPr lang="en-US" sz="2400" b="1" dirty="0" smtClean="0">
                  <a:solidFill>
                    <a:schemeClr val="tx1"/>
                  </a:solidFill>
                </a:rPr>
                <a:t> </a:t>
              </a:r>
              <a:r>
                <a:rPr lang="en-US" sz="2400" b="1" dirty="0" err="1" smtClean="0">
                  <a:solidFill>
                    <a:schemeClr val="tx1"/>
                  </a:solidFill>
                </a:rPr>
                <a:t>kategori</a:t>
              </a:r>
              <a:r>
                <a:rPr lang="en-US" sz="2400" dirty="0" smtClean="0">
                  <a:solidFill>
                    <a:schemeClr val="tx1"/>
                  </a:solidFill>
                </a:rPr>
                <a:t>:  </a:t>
              </a:r>
            </a:p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𝝀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⃗"/>
                                <m:ctrlPr>
                                  <a:rPr lang="en-US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𝒂</m:t>
                                </m:r>
                              </m:e>
                            </m:acc>
                          </m:e>
                          <m:sup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𝒕</m:t>
                            </m:r>
                          </m:sup>
                        </m:sSup>
                        <m:r>
                          <a:rPr lang="en-US" sz="2400" b="1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𝐇</m:t>
                        </m:r>
                        <m:acc>
                          <m:accPr>
                            <m:chr m:val="⃗"/>
                            <m:ctrlP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</m:acc>
                      </m:num>
                      <m:den>
                        <m:sSup>
                          <m:sSupPr>
                            <m:ctrlP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⃗"/>
                                <m:ctrlPr>
                                  <a:rPr lang="en-US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𝒂</m:t>
                                </m:r>
                              </m:e>
                            </m:acc>
                          </m:e>
                          <m:sup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𝒕</m:t>
                            </m:r>
                          </m:sup>
                        </m:sSup>
                        <m:r>
                          <a:rPr lang="en-US" sz="2400" b="1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𝐄</m:t>
                        </m:r>
                        <m:acc>
                          <m:accPr>
                            <m:chr m:val="⃗"/>
                            <m:ctrlP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</m:acc>
                      </m:den>
                    </m:f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→ </m:t>
                    </m:r>
                    <m:d>
                      <m:d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𝐄</m:t>
                            </m:r>
                          </m:e>
                          <m:sup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𝟏</m:t>
                            </m:r>
                          </m:sup>
                        </m:sSup>
                        <m:r>
                          <a:rPr lang="en-US" sz="2400" b="1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𝐇</m:t>
                        </m:r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𝝀</m:t>
                        </m:r>
                        <m:r>
                          <a:rPr lang="en-US" sz="2400" b="1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𝐈</m:t>
                        </m:r>
                      </m:e>
                    </m:d>
                    <m:acc>
                      <m:accPr>
                        <m:chr m:val="⃗"/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𝒂</m:t>
                        </m:r>
                      </m:e>
                    </m:acc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/>
                      </a:rPr>
                      <m:t>𝟎</m:t>
                    </m:r>
                  </m:oMath>
                </m:oMathPara>
              </a14:m>
              <a:endParaRPr lang="en-GB" sz="2400" b="1" dirty="0">
                <a:solidFill>
                  <a:schemeClr val="tx1"/>
                </a:solidFill>
              </a:endParaRPr>
            </a:p>
          </dgm:t>
        </dgm:pt>
      </mc:Choice>
      <mc:Fallback xmlns="">
        <dgm:pt modelId="{375D34D6-84D8-4AE5-B5BC-E7A833A2ECBD}">
          <dgm:prSet phldrT="[Text]" custT="1"/>
          <dgm:spPr/>
          <dgm:t>
            <a:bodyPr/>
            <a:lstStyle/>
            <a:p>
              <a:r>
                <a:rPr lang="en-US" sz="2400" dirty="0" smtClean="0">
                  <a:solidFill>
                    <a:schemeClr val="tx1"/>
                  </a:solidFill>
                </a:rPr>
                <a:t>Koefisien model </a:t>
              </a:r>
              <a:r>
                <a:rPr lang="en-US" sz="2400" b="0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(</a:t>
              </a:r>
              <a:r>
                <a:rPr lang="en-US" sz="2400" b="0" i="0" smtClean="0">
                  <a:solidFill>
                    <a:schemeClr val="tx1"/>
                  </a:solidFill>
                  <a:latin typeface="Cambria Math"/>
                </a:rPr>
                <a:t>𝑎</a:t>
              </a:r>
              <a:r>
                <a:rPr lang="en-US" sz="2400" b="0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 ⃗ )</a:t>
              </a:r>
              <a:r>
                <a:rPr lang="en-US" sz="2400" dirty="0" smtClean="0">
                  <a:solidFill>
                    <a:schemeClr val="tx1"/>
                  </a:solidFill>
                </a:rPr>
                <a:t> </a:t>
              </a:r>
              <a:r>
                <a:rPr lang="en-US" sz="2400" dirty="0" err="1" smtClean="0">
                  <a:solidFill>
                    <a:schemeClr val="tx1"/>
                  </a:solidFill>
                </a:rPr>
                <a:t>untuk</a:t>
              </a:r>
              <a:r>
                <a:rPr lang="en-US" sz="2400" dirty="0" smtClean="0">
                  <a:solidFill>
                    <a:schemeClr val="tx1"/>
                  </a:solidFill>
                </a:rPr>
                <a:t> </a:t>
              </a:r>
              <a:r>
                <a:rPr lang="en-US" sz="2400" dirty="0" err="1" smtClean="0">
                  <a:solidFill>
                    <a:schemeClr val="tx1"/>
                  </a:solidFill>
                </a:rPr>
                <a:t>variabel</a:t>
              </a:r>
              <a:r>
                <a:rPr lang="en-US" sz="2400" dirty="0" smtClean="0">
                  <a:solidFill>
                    <a:schemeClr val="tx1"/>
                  </a:solidFill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</a:rPr>
                <a:t>respon</a:t>
              </a:r>
              <a:r>
                <a:rPr lang="en-US" sz="2400" dirty="0">
                  <a:solidFill>
                    <a:schemeClr val="tx1"/>
                  </a:solidFill>
                </a:rPr>
                <a:t> </a:t>
              </a:r>
              <a:r>
                <a:rPr lang="en-US" sz="2400" b="0" i="0" dirty="0" smtClean="0">
                  <a:solidFill>
                    <a:schemeClr val="tx1"/>
                  </a:solidFill>
                  <a:latin typeface="Cambria Math"/>
                </a:rPr>
                <a:t>𝑘</a:t>
              </a:r>
              <a:r>
                <a:rPr lang="en-US" sz="2400" b="1" dirty="0" smtClean="0">
                  <a:solidFill>
                    <a:schemeClr val="tx1"/>
                  </a:solidFill>
                </a:rPr>
                <a:t> </a:t>
              </a:r>
              <a:r>
                <a:rPr lang="en-US" sz="2400" b="1" dirty="0" err="1" smtClean="0">
                  <a:solidFill>
                    <a:schemeClr val="tx1"/>
                  </a:solidFill>
                </a:rPr>
                <a:t>kategori</a:t>
              </a:r>
              <a:r>
                <a:rPr lang="en-US" sz="2400" dirty="0" smtClean="0">
                  <a:solidFill>
                    <a:schemeClr val="tx1"/>
                  </a:solidFill>
                </a:rPr>
                <a:t>:  </a:t>
              </a:r>
            </a:p>
            <a:p>
              <a:pPr/>
              <a:r>
                <a:rPr lang="en-US" sz="2400" b="1" i="0" smtClean="0">
                  <a:solidFill>
                    <a:schemeClr val="tx1"/>
                  </a:solidFill>
                  <a:latin typeface="Cambria Math"/>
                  <a:ea typeface="Cambria Math"/>
                </a:rPr>
                <a:t>𝝀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/>
                </a:rPr>
                <a:t>=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(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/>
                </a:rPr>
                <a:t>𝒂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 ⃗^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/>
                </a:rPr>
                <a:t>𝒕 𝐇𝒂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 ⃗)/(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/>
                </a:rPr>
                <a:t>𝒂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 ⃗^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/>
                </a:rPr>
                <a:t>𝒕 𝐄𝒂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 ⃗ )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/>
                </a:rPr>
                <a:t>  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/>
                  <a:ea typeface="Cambria Math"/>
                </a:rPr>
                <a:t>→ 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 panose="02040503050406030204" pitchFamily="18" charset="0"/>
                  <a:ea typeface="Cambria Math"/>
                </a:rPr>
                <a:t>(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/>
                </a:rPr>
                <a:t>𝐄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^(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/>
                </a:rPr>
                <a:t>−𝟏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)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/>
                </a:rPr>
                <a:t> 𝐇−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/>
                  <a:ea typeface="Cambria Math"/>
                </a:rPr>
                <a:t>𝝀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/>
                </a:rPr>
                <a:t>𝐈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) 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/>
                </a:rPr>
                <a:t>𝒂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 ⃗</a:t>
              </a:r>
              <a:r>
                <a:rPr lang="en-US" sz="2400" b="1" i="0" smtClean="0">
                  <a:solidFill>
                    <a:schemeClr val="tx1"/>
                  </a:solidFill>
                  <a:latin typeface="Cambria Math"/>
                </a:rPr>
                <a:t>=𝟎</a:t>
              </a:r>
              <a:endParaRPr lang="en-GB" sz="2400" b="1" dirty="0">
                <a:solidFill>
                  <a:schemeClr val="tx1"/>
                </a:solidFill>
              </a:endParaRPr>
            </a:p>
          </dgm:t>
        </dgm:pt>
      </mc:Fallback>
    </mc:AlternateContent>
    <dgm:pt modelId="{90C98808-3902-456E-8E20-DD2DCE64D007}" type="parTrans" cxnId="{04349CD0-F6B4-486A-913D-B7BB0F46E0F3}">
      <dgm:prSet/>
      <dgm:spPr/>
      <dgm:t>
        <a:bodyPr/>
        <a:lstStyle/>
        <a:p>
          <a:endParaRPr lang="en-GB" sz="2000">
            <a:solidFill>
              <a:schemeClr val="tx1"/>
            </a:solidFill>
          </a:endParaRPr>
        </a:p>
      </dgm:t>
    </dgm:pt>
    <dgm:pt modelId="{E67D3EB0-3545-4102-8FE8-B0C05C4C69E5}" type="sibTrans" cxnId="{04349CD0-F6B4-486A-913D-B7BB0F46E0F3}">
      <dgm:prSet/>
      <dgm:spPr/>
      <dgm:t>
        <a:bodyPr/>
        <a:lstStyle/>
        <a:p>
          <a:endParaRPr lang="en-GB" sz="2000">
            <a:solidFill>
              <a:schemeClr val="tx1"/>
            </a:solidFill>
          </a:endParaRPr>
        </a:p>
      </dgm:t>
    </dgm:pt>
    <dgm:pt modelId="{A1240D7D-FB80-4E8A-8A0F-C1D0A76149B8}" type="pres">
      <dgm:prSet presAssocID="{37A22449-9966-4641-B137-A15D61E699FE}" presName="linearFlow" presStyleCnt="0">
        <dgm:presLayoutVars>
          <dgm:resizeHandles val="exact"/>
        </dgm:presLayoutVars>
      </dgm:prSet>
      <dgm:spPr/>
    </dgm:pt>
    <dgm:pt modelId="{A12A7F99-3A62-422A-B186-E9B517C3F017}" type="pres">
      <dgm:prSet presAssocID="{91C1A240-9ABA-45AE-8FEC-6495E23619E9}" presName="node" presStyleLbl="node1" presStyleIdx="0" presStyleCnt="2" custScaleX="276109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307D0BD7-FF7D-4EBC-B3D0-7825D2241C46}" type="pres">
      <dgm:prSet presAssocID="{748D1F62-0C2D-41F8-8701-03907CB8E91C}" presName="sibTrans" presStyleLbl="sibTrans2D1" presStyleIdx="0" presStyleCnt="1"/>
      <dgm:spPr/>
      <dgm:t>
        <a:bodyPr/>
        <a:lstStyle/>
        <a:p>
          <a:endParaRPr lang="en-GB"/>
        </a:p>
      </dgm:t>
    </dgm:pt>
    <dgm:pt modelId="{6843C806-56C0-4F47-A4FD-094F190C7658}" type="pres">
      <dgm:prSet presAssocID="{748D1F62-0C2D-41F8-8701-03907CB8E91C}" presName="connectorText" presStyleLbl="sibTrans2D1" presStyleIdx="0" presStyleCnt="1"/>
      <dgm:spPr/>
      <dgm:t>
        <a:bodyPr/>
        <a:lstStyle/>
        <a:p>
          <a:endParaRPr lang="en-GB"/>
        </a:p>
      </dgm:t>
    </dgm:pt>
    <dgm:pt modelId="{E9032423-17E3-41E8-A631-F06D8326A0DD}" type="pres">
      <dgm:prSet presAssocID="{375D34D6-84D8-4AE5-B5BC-E7A833A2ECBD}" presName="node" presStyleLbl="node1" presStyleIdx="1" presStyleCnt="2" custScaleX="276109" custLinFactNeighborX="2605" custLinFactNeighborY="61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55C8F258-150D-4450-BDE1-F99CB3114A8B}" type="presOf" srcId="{375D34D6-84D8-4AE5-B5BC-E7A833A2ECBD}" destId="{E9032423-17E3-41E8-A631-F06D8326A0DD}" srcOrd="0" destOrd="0" presId="urn:microsoft.com/office/officeart/2005/8/layout/process2"/>
    <dgm:cxn modelId="{F0B49839-CC3C-47E7-9957-16A5B75CE736}" type="presOf" srcId="{91C1A240-9ABA-45AE-8FEC-6495E23619E9}" destId="{A12A7F99-3A62-422A-B186-E9B517C3F017}" srcOrd="0" destOrd="0" presId="urn:microsoft.com/office/officeart/2005/8/layout/process2"/>
    <dgm:cxn modelId="{9D85D5D3-7F2A-4AE4-8554-7ABAC70D028B}" type="presOf" srcId="{748D1F62-0C2D-41F8-8701-03907CB8E91C}" destId="{6843C806-56C0-4F47-A4FD-094F190C7658}" srcOrd="1" destOrd="0" presId="urn:microsoft.com/office/officeart/2005/8/layout/process2"/>
    <dgm:cxn modelId="{B88EC47D-863A-4F33-A7F2-1D0F3257CE3B}" srcId="{37A22449-9966-4641-B137-A15D61E699FE}" destId="{91C1A240-9ABA-45AE-8FEC-6495E23619E9}" srcOrd="0" destOrd="0" parTransId="{55C56C5C-42CD-4312-A6DF-6F70125E4270}" sibTransId="{748D1F62-0C2D-41F8-8701-03907CB8E91C}"/>
    <dgm:cxn modelId="{04349CD0-F6B4-486A-913D-B7BB0F46E0F3}" srcId="{37A22449-9966-4641-B137-A15D61E699FE}" destId="{375D34D6-84D8-4AE5-B5BC-E7A833A2ECBD}" srcOrd="1" destOrd="0" parTransId="{90C98808-3902-456E-8E20-DD2DCE64D007}" sibTransId="{E67D3EB0-3545-4102-8FE8-B0C05C4C69E5}"/>
    <dgm:cxn modelId="{B1A15BFE-CEFA-491B-8D57-405B1933BC2E}" type="presOf" srcId="{37A22449-9966-4641-B137-A15D61E699FE}" destId="{A1240D7D-FB80-4E8A-8A0F-C1D0A76149B8}" srcOrd="0" destOrd="0" presId="urn:microsoft.com/office/officeart/2005/8/layout/process2"/>
    <dgm:cxn modelId="{7766E1E0-A1F5-4037-A691-E8570FE2AFD4}" type="presOf" srcId="{748D1F62-0C2D-41F8-8701-03907CB8E91C}" destId="{307D0BD7-FF7D-4EBC-B3D0-7825D2241C46}" srcOrd="0" destOrd="0" presId="urn:microsoft.com/office/officeart/2005/8/layout/process2"/>
    <dgm:cxn modelId="{3BC95939-38C6-43A3-A5A9-7329889B493B}" type="presParOf" srcId="{A1240D7D-FB80-4E8A-8A0F-C1D0A76149B8}" destId="{A12A7F99-3A62-422A-B186-E9B517C3F017}" srcOrd="0" destOrd="0" presId="urn:microsoft.com/office/officeart/2005/8/layout/process2"/>
    <dgm:cxn modelId="{8A72C6EA-59E0-4DB8-B8E6-F8BFC80A952F}" type="presParOf" srcId="{A1240D7D-FB80-4E8A-8A0F-C1D0A76149B8}" destId="{307D0BD7-FF7D-4EBC-B3D0-7825D2241C46}" srcOrd="1" destOrd="0" presId="urn:microsoft.com/office/officeart/2005/8/layout/process2"/>
    <dgm:cxn modelId="{FF457FCA-2653-41BE-BB4A-4EB91F8AFDE2}" type="presParOf" srcId="{307D0BD7-FF7D-4EBC-B3D0-7825D2241C46}" destId="{6843C806-56C0-4F47-A4FD-094F190C7658}" srcOrd="0" destOrd="0" presId="urn:microsoft.com/office/officeart/2005/8/layout/process2"/>
    <dgm:cxn modelId="{14C0B7B6-3179-4E72-B879-9CD069F4F28C}" type="presParOf" srcId="{A1240D7D-FB80-4E8A-8A0F-C1D0A76149B8}" destId="{E9032423-17E3-41E8-A631-F06D8326A0DD}" srcOrd="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7A22449-9966-4641-B137-A15D61E699FE}" type="doc">
      <dgm:prSet loTypeId="urn:microsoft.com/office/officeart/2005/8/layout/process2" loCatId="process" qsTypeId="urn:microsoft.com/office/officeart/2005/8/quickstyle/simple1" qsCatId="simple" csTypeId="urn:microsoft.com/office/officeart/2005/8/colors/accent3_5" csCatId="accent3" phldr="1"/>
      <dgm:spPr/>
    </dgm:pt>
    <dgm:pt modelId="{91C1A240-9ABA-45AE-8FEC-6495E23619E9}">
      <dgm:prSet phldrT="[Text]" custT="1"/>
      <dgm:spPr>
        <a:blipFill rotWithShape="0">
          <a:blip xmlns:r="http://schemas.openxmlformats.org/officeDocument/2006/relationships" r:embed="rId1"/>
          <a:stretch>
            <a:fillRect t="-1493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55C56C5C-42CD-4312-A6DF-6F70125E4270}" type="parTrans" cxnId="{B88EC47D-863A-4F33-A7F2-1D0F3257CE3B}">
      <dgm:prSet/>
      <dgm:spPr/>
      <dgm:t>
        <a:bodyPr/>
        <a:lstStyle/>
        <a:p>
          <a:endParaRPr lang="en-GB" sz="2000">
            <a:solidFill>
              <a:schemeClr val="tx1"/>
            </a:solidFill>
          </a:endParaRPr>
        </a:p>
      </dgm:t>
    </dgm:pt>
    <dgm:pt modelId="{748D1F62-0C2D-41F8-8701-03907CB8E91C}" type="sibTrans" cxnId="{B88EC47D-863A-4F33-A7F2-1D0F3257CE3B}">
      <dgm:prSet custT="1"/>
      <dgm:spPr/>
      <dgm:t>
        <a:bodyPr/>
        <a:lstStyle/>
        <a:p>
          <a:endParaRPr lang="en-GB" sz="2000">
            <a:solidFill>
              <a:schemeClr val="tx1"/>
            </a:solidFill>
          </a:endParaRPr>
        </a:p>
      </dgm:t>
    </dgm:pt>
    <dgm:pt modelId="{375D34D6-84D8-4AE5-B5BC-E7A833A2ECBD}">
      <dgm:prSet phldrT="[Text]" custT="1"/>
      <dgm:spPr>
        <a:blipFill rotWithShape="0">
          <a:blip xmlns:r="http://schemas.openxmlformats.org/officeDocument/2006/relationships" r:embed="rId2"/>
          <a:stretch>
            <a:fillRect t="-1859" r="-829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90C98808-3902-456E-8E20-DD2DCE64D007}" type="parTrans" cxnId="{04349CD0-F6B4-486A-913D-B7BB0F46E0F3}">
      <dgm:prSet/>
      <dgm:spPr/>
      <dgm:t>
        <a:bodyPr/>
        <a:lstStyle/>
        <a:p>
          <a:endParaRPr lang="en-GB" sz="2000">
            <a:solidFill>
              <a:schemeClr val="tx1"/>
            </a:solidFill>
          </a:endParaRPr>
        </a:p>
      </dgm:t>
    </dgm:pt>
    <dgm:pt modelId="{E67D3EB0-3545-4102-8FE8-B0C05C4C69E5}" type="sibTrans" cxnId="{04349CD0-F6B4-486A-913D-B7BB0F46E0F3}">
      <dgm:prSet/>
      <dgm:spPr/>
      <dgm:t>
        <a:bodyPr/>
        <a:lstStyle/>
        <a:p>
          <a:endParaRPr lang="en-GB" sz="2000">
            <a:solidFill>
              <a:schemeClr val="tx1"/>
            </a:solidFill>
          </a:endParaRPr>
        </a:p>
      </dgm:t>
    </dgm:pt>
    <dgm:pt modelId="{A1240D7D-FB80-4E8A-8A0F-C1D0A76149B8}" type="pres">
      <dgm:prSet presAssocID="{37A22449-9966-4641-B137-A15D61E699FE}" presName="linearFlow" presStyleCnt="0">
        <dgm:presLayoutVars>
          <dgm:resizeHandles val="exact"/>
        </dgm:presLayoutVars>
      </dgm:prSet>
      <dgm:spPr/>
    </dgm:pt>
    <dgm:pt modelId="{A12A7F99-3A62-422A-B186-E9B517C3F017}" type="pres">
      <dgm:prSet presAssocID="{91C1A240-9ABA-45AE-8FEC-6495E23619E9}" presName="node" presStyleLbl="node1" presStyleIdx="0" presStyleCnt="2" custScaleX="276109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307D0BD7-FF7D-4EBC-B3D0-7825D2241C46}" type="pres">
      <dgm:prSet presAssocID="{748D1F62-0C2D-41F8-8701-03907CB8E91C}" presName="sibTrans" presStyleLbl="sibTrans2D1" presStyleIdx="0" presStyleCnt="1"/>
      <dgm:spPr/>
      <dgm:t>
        <a:bodyPr/>
        <a:lstStyle/>
        <a:p>
          <a:endParaRPr lang="en-GB"/>
        </a:p>
      </dgm:t>
    </dgm:pt>
    <dgm:pt modelId="{6843C806-56C0-4F47-A4FD-094F190C7658}" type="pres">
      <dgm:prSet presAssocID="{748D1F62-0C2D-41F8-8701-03907CB8E91C}" presName="connectorText" presStyleLbl="sibTrans2D1" presStyleIdx="0" presStyleCnt="1"/>
      <dgm:spPr/>
      <dgm:t>
        <a:bodyPr/>
        <a:lstStyle/>
        <a:p>
          <a:endParaRPr lang="en-GB"/>
        </a:p>
      </dgm:t>
    </dgm:pt>
    <dgm:pt modelId="{E9032423-17E3-41E8-A631-F06D8326A0DD}" type="pres">
      <dgm:prSet presAssocID="{375D34D6-84D8-4AE5-B5BC-E7A833A2ECBD}" presName="node" presStyleLbl="node1" presStyleIdx="1" presStyleCnt="2" custScaleX="276109" custLinFactNeighborX="2605" custLinFactNeighborY="61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55C8F258-150D-4450-BDE1-F99CB3114A8B}" type="presOf" srcId="{375D34D6-84D8-4AE5-B5BC-E7A833A2ECBD}" destId="{E9032423-17E3-41E8-A631-F06D8326A0DD}" srcOrd="0" destOrd="0" presId="urn:microsoft.com/office/officeart/2005/8/layout/process2"/>
    <dgm:cxn modelId="{F0B49839-CC3C-47E7-9957-16A5B75CE736}" type="presOf" srcId="{91C1A240-9ABA-45AE-8FEC-6495E23619E9}" destId="{A12A7F99-3A62-422A-B186-E9B517C3F017}" srcOrd="0" destOrd="0" presId="urn:microsoft.com/office/officeart/2005/8/layout/process2"/>
    <dgm:cxn modelId="{9D85D5D3-7F2A-4AE4-8554-7ABAC70D028B}" type="presOf" srcId="{748D1F62-0C2D-41F8-8701-03907CB8E91C}" destId="{6843C806-56C0-4F47-A4FD-094F190C7658}" srcOrd="1" destOrd="0" presId="urn:microsoft.com/office/officeart/2005/8/layout/process2"/>
    <dgm:cxn modelId="{B88EC47D-863A-4F33-A7F2-1D0F3257CE3B}" srcId="{37A22449-9966-4641-B137-A15D61E699FE}" destId="{91C1A240-9ABA-45AE-8FEC-6495E23619E9}" srcOrd="0" destOrd="0" parTransId="{55C56C5C-42CD-4312-A6DF-6F70125E4270}" sibTransId="{748D1F62-0C2D-41F8-8701-03907CB8E91C}"/>
    <dgm:cxn modelId="{04349CD0-F6B4-486A-913D-B7BB0F46E0F3}" srcId="{37A22449-9966-4641-B137-A15D61E699FE}" destId="{375D34D6-84D8-4AE5-B5BC-E7A833A2ECBD}" srcOrd="1" destOrd="0" parTransId="{90C98808-3902-456E-8E20-DD2DCE64D007}" sibTransId="{E67D3EB0-3545-4102-8FE8-B0C05C4C69E5}"/>
    <dgm:cxn modelId="{7766E1E0-A1F5-4037-A691-E8570FE2AFD4}" type="presOf" srcId="{748D1F62-0C2D-41F8-8701-03907CB8E91C}" destId="{307D0BD7-FF7D-4EBC-B3D0-7825D2241C46}" srcOrd="0" destOrd="0" presId="urn:microsoft.com/office/officeart/2005/8/layout/process2"/>
    <dgm:cxn modelId="{B1A15BFE-CEFA-491B-8D57-405B1933BC2E}" type="presOf" srcId="{37A22449-9966-4641-B137-A15D61E699FE}" destId="{A1240D7D-FB80-4E8A-8A0F-C1D0A76149B8}" srcOrd="0" destOrd="0" presId="urn:microsoft.com/office/officeart/2005/8/layout/process2"/>
    <dgm:cxn modelId="{3BC95939-38C6-43A3-A5A9-7329889B493B}" type="presParOf" srcId="{A1240D7D-FB80-4E8A-8A0F-C1D0A76149B8}" destId="{A12A7F99-3A62-422A-B186-E9B517C3F017}" srcOrd="0" destOrd="0" presId="urn:microsoft.com/office/officeart/2005/8/layout/process2"/>
    <dgm:cxn modelId="{8A72C6EA-59E0-4DB8-B8E6-F8BFC80A952F}" type="presParOf" srcId="{A1240D7D-FB80-4E8A-8A0F-C1D0A76149B8}" destId="{307D0BD7-FF7D-4EBC-B3D0-7825D2241C46}" srcOrd="1" destOrd="0" presId="urn:microsoft.com/office/officeart/2005/8/layout/process2"/>
    <dgm:cxn modelId="{FF457FCA-2653-41BE-BB4A-4EB91F8AFDE2}" type="presParOf" srcId="{307D0BD7-FF7D-4EBC-B3D0-7825D2241C46}" destId="{6843C806-56C0-4F47-A4FD-094F190C7658}" srcOrd="0" destOrd="0" presId="urn:microsoft.com/office/officeart/2005/8/layout/process2"/>
    <dgm:cxn modelId="{14C0B7B6-3179-4E72-B879-9CD069F4F28C}" type="presParOf" srcId="{A1240D7D-FB80-4E8A-8A0F-C1D0A76149B8}" destId="{E9032423-17E3-41E8-A631-F06D8326A0DD}" srcOrd="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A5227B3-569E-4543-A3F2-C185D5C3AA47}" type="doc">
      <dgm:prSet loTypeId="urn:microsoft.com/office/officeart/2005/8/layout/process5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id-ID"/>
        </a:p>
      </dgm:t>
    </dgm:pt>
    <mc:AlternateContent xmlns:mc="http://schemas.openxmlformats.org/markup-compatibility/2006" xmlns:a14="http://schemas.microsoft.com/office/drawing/2010/main">
      <mc:Choice Requires="a14">
        <dgm:pt modelId="{44D17B0D-64C5-4F61-B537-9E282C062F3E}">
          <dgm:prSet phldrT="[Text]" custT="1"/>
          <dgm:spPr>
            <a:solidFill>
              <a:srgbClr val="FF99FF"/>
            </a:solidFill>
            <a:ln>
              <a:solidFill>
                <a:srgbClr val="FF99FF"/>
              </a:solidFill>
            </a:ln>
          </dgm:spPr>
          <dgm:t>
            <a:bodyPr/>
            <a:lstStyle/>
            <a:p>
              <a:r>
                <a:rPr lang="en-US" sz="1200" b="1" dirty="0" smtClean="0">
                  <a:solidFill>
                    <a:schemeClr val="tx2"/>
                  </a:solidFill>
                </a:rPr>
                <a:t>N</a:t>
              </a:r>
              <a:r>
                <a:rPr lang="id-ID" sz="1200" b="1" dirty="0" smtClean="0">
                  <a:solidFill>
                    <a:schemeClr val="tx2"/>
                  </a:solidFill>
                </a:rPr>
                <a:t>yatakan </a:t>
              </a:r>
              <a:r>
                <a:rPr lang="id-ID" sz="1200" b="1" dirty="0">
                  <a:solidFill>
                    <a:schemeClr val="tx2"/>
                  </a:solidFill>
                </a:rPr>
                <a:t>matriks data </a:t>
              </a:r>
              <a:r>
                <a:rPr lang="en-US" sz="1200" b="1" dirty="0" err="1" smtClean="0">
                  <a:solidFill>
                    <a:schemeClr val="tx2"/>
                  </a:solidFill>
                </a:rPr>
                <a:t>sebagai</a:t>
              </a:r>
              <a:r>
                <a:rPr lang="en-US" sz="1200" b="1" dirty="0" smtClean="0">
                  <a:solidFill>
                    <a:schemeClr val="tx2"/>
                  </a:solidFill>
                </a:rPr>
                <a:t> </a:t>
              </a:r>
              <a14:m>
                <m:oMath xmlns:m="http://schemas.openxmlformats.org/officeDocument/2006/math">
                  <m:r>
                    <a:rPr lang="en-US" sz="1200" b="1" i="1" smtClean="0">
                      <a:solidFill>
                        <a:schemeClr val="tx2"/>
                      </a:solidFill>
                      <a:latin typeface="Cambria Math"/>
                    </a:rPr>
                    <m:t>𝑿</m:t>
                  </m:r>
                </m:oMath>
              </a14:m>
              <a:r>
                <a:rPr lang="en-US" sz="1200" b="1" dirty="0" smtClean="0">
                  <a:solidFill>
                    <a:schemeClr val="tx2"/>
                  </a:solidFill>
                </a:rPr>
                <a:t> </a:t>
              </a:r>
              <a:r>
                <a:rPr lang="en-US" sz="1200" b="1" dirty="0" err="1" smtClean="0">
                  <a:solidFill>
                    <a:schemeClr val="tx2"/>
                  </a:solidFill>
                </a:rPr>
                <a:t>dengan</a:t>
              </a:r>
              <a:r>
                <a:rPr lang="en-US" sz="1200" b="1" dirty="0" smtClean="0">
                  <a:solidFill>
                    <a:schemeClr val="tx2"/>
                  </a:solidFill>
                </a:rPr>
                <a:t> </a:t>
              </a:r>
              <a:r>
                <a:rPr lang="en-US" sz="1200" b="1" dirty="0" err="1" smtClean="0">
                  <a:solidFill>
                    <a:schemeClr val="tx2"/>
                  </a:solidFill>
                </a:rPr>
                <a:t>variabel</a:t>
              </a:r>
              <a:r>
                <a:rPr lang="en-US" sz="1200" b="1" dirty="0" smtClean="0">
                  <a:solidFill>
                    <a:schemeClr val="tx2"/>
                  </a:solidFill>
                </a:rPr>
                <a:t> </a:t>
              </a:r>
              <a14:m>
                <m:oMath xmlns:m="http://schemas.openxmlformats.org/officeDocument/2006/math">
                  <m:r>
                    <a:rPr lang="en-US" sz="1200" b="1" i="1" dirty="0" smtClean="0">
                      <a:solidFill>
                        <a:schemeClr val="tx2"/>
                      </a:solidFill>
                      <a:latin typeface="Cambria Math"/>
                    </a:rPr>
                    <m:t>𝒀</m:t>
                  </m:r>
                </m:oMath>
              </a14:m>
              <a:r>
                <a:rPr lang="en-US" sz="1200" b="1" dirty="0" smtClean="0">
                  <a:solidFill>
                    <a:schemeClr val="tx2"/>
                  </a:solidFill>
                </a:rPr>
                <a:t> </a:t>
              </a:r>
              <a:r>
                <a:rPr lang="en-US" sz="1200" b="1" dirty="0" err="1" smtClean="0">
                  <a:solidFill>
                    <a:schemeClr val="tx2"/>
                  </a:solidFill>
                </a:rPr>
                <a:t>terurut</a:t>
              </a:r>
              <a:endParaRPr lang="id-ID" sz="1200" b="1" dirty="0">
                <a:solidFill>
                  <a:schemeClr val="tx2"/>
                </a:solidFill>
              </a:endParaRPr>
            </a:p>
          </dgm:t>
        </dgm:pt>
      </mc:Choice>
      <mc:Fallback xmlns="">
        <dgm:pt modelId="{44D17B0D-64C5-4F61-B537-9E282C062F3E}">
          <dgm:prSet phldrT="[Text]" custT="1"/>
          <dgm:spPr>
            <a:solidFill>
              <a:srgbClr val="FF99FF"/>
            </a:solidFill>
            <a:ln>
              <a:solidFill>
                <a:srgbClr val="FF99FF"/>
              </a:solidFill>
            </a:ln>
          </dgm:spPr>
          <dgm:t>
            <a:bodyPr/>
            <a:lstStyle/>
            <a:p>
              <a:r>
                <a:rPr lang="en-US" sz="1200" b="1" dirty="0" smtClean="0">
                  <a:solidFill>
                    <a:schemeClr val="tx2"/>
                  </a:solidFill>
                </a:rPr>
                <a:t>N</a:t>
              </a:r>
              <a:r>
                <a:rPr lang="id-ID" sz="1200" b="1" dirty="0" smtClean="0">
                  <a:solidFill>
                    <a:schemeClr val="tx2"/>
                  </a:solidFill>
                </a:rPr>
                <a:t>yatakan </a:t>
              </a:r>
              <a:r>
                <a:rPr lang="id-ID" sz="1200" b="1" dirty="0">
                  <a:solidFill>
                    <a:schemeClr val="tx2"/>
                  </a:solidFill>
                </a:rPr>
                <a:t>matriks data </a:t>
              </a:r>
              <a:r>
                <a:rPr lang="en-US" sz="1200" b="1" dirty="0" err="1" smtClean="0">
                  <a:solidFill>
                    <a:schemeClr val="tx2"/>
                  </a:solidFill>
                </a:rPr>
                <a:t>sebagai</a:t>
              </a:r>
              <a:r>
                <a:rPr lang="en-US" sz="1200" b="1" dirty="0" smtClean="0">
                  <a:solidFill>
                    <a:schemeClr val="tx2"/>
                  </a:solidFill>
                </a:rPr>
                <a:t> </a:t>
              </a:r>
              <a:r>
                <a:rPr lang="en-US" sz="1200" b="1" i="0" smtClean="0">
                  <a:solidFill>
                    <a:schemeClr val="tx2"/>
                  </a:solidFill>
                  <a:latin typeface="Cambria Math"/>
                </a:rPr>
                <a:t>𝑿</a:t>
              </a:r>
              <a:r>
                <a:rPr lang="en-US" sz="1200" b="1" dirty="0" smtClean="0">
                  <a:solidFill>
                    <a:schemeClr val="tx2"/>
                  </a:solidFill>
                </a:rPr>
                <a:t> </a:t>
              </a:r>
              <a:r>
                <a:rPr lang="en-US" sz="1200" b="1" dirty="0" err="1" smtClean="0">
                  <a:solidFill>
                    <a:schemeClr val="tx2"/>
                  </a:solidFill>
                </a:rPr>
                <a:t>dengan</a:t>
              </a:r>
              <a:r>
                <a:rPr lang="en-US" sz="1200" b="1" dirty="0" smtClean="0">
                  <a:solidFill>
                    <a:schemeClr val="tx2"/>
                  </a:solidFill>
                </a:rPr>
                <a:t> </a:t>
              </a:r>
              <a:r>
                <a:rPr lang="en-US" sz="1200" b="1" dirty="0" err="1" smtClean="0">
                  <a:solidFill>
                    <a:schemeClr val="tx2"/>
                  </a:solidFill>
                </a:rPr>
                <a:t>variabel</a:t>
              </a:r>
              <a:r>
                <a:rPr lang="en-US" sz="1200" b="1" dirty="0" smtClean="0">
                  <a:solidFill>
                    <a:schemeClr val="tx2"/>
                  </a:solidFill>
                </a:rPr>
                <a:t> </a:t>
              </a:r>
              <a:r>
                <a:rPr lang="en-US" sz="1200" b="1" i="0" dirty="0" smtClean="0">
                  <a:solidFill>
                    <a:schemeClr val="tx2"/>
                  </a:solidFill>
                  <a:latin typeface="Cambria Math"/>
                </a:rPr>
                <a:t>𝒀</a:t>
              </a:r>
              <a:r>
                <a:rPr lang="en-US" sz="1200" b="1" dirty="0" smtClean="0">
                  <a:solidFill>
                    <a:schemeClr val="tx2"/>
                  </a:solidFill>
                </a:rPr>
                <a:t> </a:t>
              </a:r>
              <a:r>
                <a:rPr lang="en-US" sz="1200" b="1" dirty="0" err="1" smtClean="0">
                  <a:solidFill>
                    <a:schemeClr val="tx2"/>
                  </a:solidFill>
                </a:rPr>
                <a:t>terurut</a:t>
              </a:r>
              <a:endParaRPr lang="id-ID" sz="1200" b="1" dirty="0">
                <a:solidFill>
                  <a:schemeClr val="tx2"/>
                </a:solidFill>
              </a:endParaRPr>
            </a:p>
          </dgm:t>
        </dgm:pt>
      </mc:Fallback>
    </mc:AlternateContent>
    <dgm:pt modelId="{3A0DBCD4-1DC0-40E5-9252-38C018A7F68C}" type="parTrans" cxnId="{35A43F40-73EB-4023-9AF9-122ED03CA104}">
      <dgm:prSet/>
      <dgm:spPr/>
      <dgm:t>
        <a:bodyPr/>
        <a:lstStyle/>
        <a:p>
          <a:endParaRPr lang="id-ID"/>
        </a:p>
      </dgm:t>
    </dgm:pt>
    <dgm:pt modelId="{781332FE-2B05-47C3-A3D6-53BB8464EE0F}" type="sibTrans" cxnId="{35A43F40-73EB-4023-9AF9-122ED03CA104}">
      <dgm:prSet/>
      <dgm:spPr>
        <a:solidFill>
          <a:srgbClr val="7030A0"/>
        </a:solidFill>
      </dgm:spPr>
      <dgm:t>
        <a:bodyPr/>
        <a:lstStyle/>
        <a:p>
          <a:endParaRPr lang="id-ID"/>
        </a:p>
      </dgm:t>
    </dgm:pt>
    <dgm:pt modelId="{29F87AB8-C566-4D77-9123-02CE98411B15}">
      <dgm:prSet phldrT="[Text]" custT="1"/>
      <dgm:spPr>
        <a:solidFill>
          <a:srgbClr val="33CCFF"/>
        </a:solidFill>
        <a:ln>
          <a:solidFill>
            <a:srgbClr val="33CCFF"/>
          </a:solidFill>
        </a:ln>
      </dgm:spPr>
      <dgm:t>
        <a:bodyPr/>
        <a:lstStyle/>
        <a:p>
          <a:r>
            <a:rPr lang="en-US" sz="1600" b="1" dirty="0" err="1" smtClean="0">
              <a:solidFill>
                <a:schemeClr val="tx1"/>
              </a:solidFill>
            </a:rPr>
            <a:t>Hitung</a:t>
          </a:r>
          <a:r>
            <a:rPr lang="en-US" sz="1600" b="1" dirty="0" smtClean="0">
              <a:solidFill>
                <a:schemeClr val="tx1"/>
              </a:solidFill>
            </a:rPr>
            <a:t> </a:t>
          </a:r>
          <a:r>
            <a:rPr lang="en-US" sz="1600" b="1" dirty="0" err="1" smtClean="0">
              <a:solidFill>
                <a:schemeClr val="tx1"/>
              </a:solidFill>
            </a:rPr>
            <a:t>matriks</a:t>
          </a:r>
          <a:r>
            <a:rPr lang="en-US" sz="1600" b="1" dirty="0" smtClean="0">
              <a:solidFill>
                <a:schemeClr val="tx1"/>
              </a:solidFill>
            </a:rPr>
            <a:t> </a:t>
          </a:r>
          <a:r>
            <a:rPr lang="en-US" sz="1600" b="1" i="1" dirty="0" smtClean="0">
              <a:solidFill>
                <a:schemeClr val="tx1"/>
              </a:solidFill>
            </a:rPr>
            <a:t>between H</a:t>
          </a:r>
          <a:endParaRPr lang="id-ID" sz="1600" b="1" i="1" dirty="0">
            <a:solidFill>
              <a:schemeClr val="tx1"/>
            </a:solidFill>
          </a:endParaRPr>
        </a:p>
      </dgm:t>
    </dgm:pt>
    <dgm:pt modelId="{005B1319-A3A5-410A-B868-3A323022C61A}" type="parTrans" cxnId="{00AC21D3-E7D0-45E9-8441-C2BC9E5EAB9A}">
      <dgm:prSet/>
      <dgm:spPr/>
      <dgm:t>
        <a:bodyPr/>
        <a:lstStyle/>
        <a:p>
          <a:endParaRPr lang="id-ID"/>
        </a:p>
      </dgm:t>
    </dgm:pt>
    <dgm:pt modelId="{BC7CFC4A-09FA-4C4B-889F-2C595F055BDA}" type="sibTrans" cxnId="{00AC21D3-E7D0-45E9-8441-C2BC9E5EAB9A}">
      <dgm:prSet/>
      <dgm:spPr>
        <a:solidFill>
          <a:srgbClr val="7030A0"/>
        </a:solidFill>
      </dgm:spPr>
      <dgm:t>
        <a:bodyPr/>
        <a:lstStyle/>
        <a:p>
          <a:endParaRPr lang="id-ID"/>
        </a:p>
      </dgm:t>
    </dgm:pt>
    <mc:AlternateContent xmlns:mc="http://schemas.openxmlformats.org/markup-compatibility/2006" xmlns:a14="http://schemas.microsoft.com/office/drawing/2010/main">
      <mc:Choice Requires="a14">
        <dgm:pt modelId="{398E0822-2FD7-490A-88E5-872C22CA5F5D}">
          <dgm:prSet phldrT="[Text]" custT="1"/>
          <dgm:spPr>
            <a:solidFill>
              <a:srgbClr val="FF9933"/>
            </a:solidFill>
            <a:ln>
              <a:solidFill>
                <a:srgbClr val="FF9933"/>
              </a:solidFill>
            </a:ln>
          </dgm:spPr>
          <dgm:t>
            <a:bodyPr/>
            <a:lstStyle/>
            <a:p>
              <a:r>
                <a:rPr lang="en-US" sz="1600" b="1" dirty="0" smtClean="0">
                  <a:solidFill>
                    <a:schemeClr val="tx1"/>
                  </a:solidFill>
                </a:rPr>
                <a:t>Hitung </a:t>
              </a:r>
              <a:r>
                <a:rPr lang="en-US" sz="1600" b="1" dirty="0" err="1" smtClean="0">
                  <a:solidFill>
                    <a:schemeClr val="tx1"/>
                  </a:solidFill>
                </a:rPr>
                <a:t>mariks</a:t>
              </a:r>
              <a:r>
                <a:rPr lang="en-US" sz="1600" b="1" dirty="0" smtClean="0">
                  <a:solidFill>
                    <a:schemeClr val="tx1"/>
                  </a:solidFill>
                </a:rPr>
                <a:t> </a:t>
              </a:r>
              <a:r>
                <a:rPr lang="en-GB" sz="1600" b="1" i="1" dirty="0" smtClean="0">
                  <a:solidFill>
                    <a:schemeClr val="tx1"/>
                  </a:solidFill>
                </a:rPr>
                <a:t>within</a:t>
              </a:r>
              <a:r>
                <a:rPr lang="en-GB" sz="1600" b="1" dirty="0" smtClean="0">
                  <a:solidFill>
                    <a:schemeClr val="tx1"/>
                  </a:solidFill>
                </a:rPr>
                <a:t> </a:t>
              </a:r>
              <a14:m>
                <m:oMath xmlns:m="http://schemas.openxmlformats.org/officeDocument/2006/math">
                  <m:r>
                    <a:rPr lang="en-US" sz="1600" b="1" i="0" smtClean="0">
                      <a:solidFill>
                        <a:schemeClr val="tx1"/>
                      </a:solidFill>
                      <a:latin typeface="Cambria Math"/>
                    </a:rPr>
                    <m:t>𝐄</m:t>
                  </m:r>
                </m:oMath>
              </a14:m>
              <a:endParaRPr lang="id-ID" sz="1600" b="1" dirty="0">
                <a:solidFill>
                  <a:schemeClr val="tx1"/>
                </a:solidFill>
              </a:endParaRPr>
            </a:p>
          </dgm:t>
        </dgm:pt>
      </mc:Choice>
      <mc:Fallback xmlns="">
        <dgm:pt modelId="{398E0822-2FD7-490A-88E5-872C22CA5F5D}">
          <dgm:prSet phldrT="[Text]" custT="1"/>
          <dgm:spPr>
            <a:solidFill>
              <a:srgbClr val="FF9933"/>
            </a:solidFill>
            <a:ln>
              <a:solidFill>
                <a:srgbClr val="FF9933"/>
              </a:solidFill>
            </a:ln>
          </dgm:spPr>
          <dgm:t>
            <a:bodyPr/>
            <a:lstStyle/>
            <a:p>
              <a:r>
                <a:rPr lang="en-US" sz="1600" b="1" dirty="0" smtClean="0">
                  <a:solidFill>
                    <a:schemeClr val="tx1"/>
                  </a:solidFill>
                </a:rPr>
                <a:t>Hitung</a:t>
              </a:r>
              <a:r>
                <a:rPr lang="en-US" sz="1600" b="1" dirty="0" smtClean="0">
                  <a:solidFill>
                    <a:schemeClr val="tx1"/>
                  </a:solidFill>
                </a:rPr>
                <a:t> </a:t>
              </a:r>
              <a:r>
                <a:rPr lang="en-US" sz="1600" b="1" dirty="0" err="1" smtClean="0">
                  <a:solidFill>
                    <a:schemeClr val="tx1"/>
                  </a:solidFill>
                </a:rPr>
                <a:t>mariks</a:t>
              </a:r>
              <a:r>
                <a:rPr lang="en-US" sz="1600" b="1" dirty="0" smtClean="0">
                  <a:solidFill>
                    <a:schemeClr val="tx1"/>
                  </a:solidFill>
                </a:rPr>
                <a:t> </a:t>
              </a:r>
              <a:r>
                <a:rPr lang="en-GB" sz="1600" b="1" i="1" dirty="0" smtClean="0">
                  <a:solidFill>
                    <a:schemeClr val="tx1"/>
                  </a:solidFill>
                </a:rPr>
                <a:t>within</a:t>
              </a:r>
              <a:r>
                <a:rPr lang="en-GB" sz="1600" b="1" dirty="0" smtClean="0">
                  <a:solidFill>
                    <a:schemeClr val="tx1"/>
                  </a:solidFill>
                </a:rPr>
                <a:t> </a:t>
              </a:r>
              <a:r>
                <a:rPr lang="en-US" sz="1600" b="1" i="0" smtClean="0">
                  <a:solidFill>
                    <a:schemeClr val="tx1"/>
                  </a:solidFill>
                  <a:latin typeface="Cambria Math"/>
                </a:rPr>
                <a:t>𝐄</a:t>
              </a:r>
              <a:endParaRPr lang="id-ID" sz="1600" b="1" dirty="0">
                <a:solidFill>
                  <a:schemeClr val="tx1"/>
                </a:solidFill>
              </a:endParaRPr>
            </a:p>
          </dgm:t>
        </dgm:pt>
      </mc:Fallback>
    </mc:AlternateContent>
    <dgm:pt modelId="{2B295A94-681B-4EFA-85C4-9B195ED8BF53}" type="parTrans" cxnId="{7A51D9B3-DDDF-4499-807B-1A2AB33F588E}">
      <dgm:prSet/>
      <dgm:spPr/>
      <dgm:t>
        <a:bodyPr/>
        <a:lstStyle/>
        <a:p>
          <a:endParaRPr lang="id-ID"/>
        </a:p>
      </dgm:t>
    </dgm:pt>
    <dgm:pt modelId="{CC9C0A35-F171-473D-B375-1601E849681E}" type="sibTrans" cxnId="{7A51D9B3-DDDF-4499-807B-1A2AB33F588E}">
      <dgm:prSet/>
      <dgm:spPr>
        <a:solidFill>
          <a:srgbClr val="7030A0"/>
        </a:solidFill>
      </dgm:spPr>
      <dgm:t>
        <a:bodyPr/>
        <a:lstStyle/>
        <a:p>
          <a:endParaRPr lang="id-ID"/>
        </a:p>
      </dgm:t>
    </dgm:pt>
    <mc:AlternateContent xmlns:mc="http://schemas.openxmlformats.org/markup-compatibility/2006" xmlns:a14="http://schemas.microsoft.com/office/drawing/2010/main">
      <mc:Choice Requires="a14">
        <dgm:pt modelId="{B4D4D99B-4333-46B3-8C58-9CA17F061DEF}">
          <dgm:prSet phldrT="[Text]" custT="1"/>
          <dgm:spPr>
            <a:solidFill>
              <a:srgbClr val="92D050"/>
            </a:solidFill>
            <a:ln>
              <a:solidFill>
                <a:srgbClr val="92D050"/>
              </a:solidFill>
            </a:ln>
          </dgm:spPr>
          <dgm:t>
            <a:bodyPr/>
            <a:lstStyle/>
            <a:p>
              <a:r>
                <a:rPr lang="en-US" sz="1600" b="1" dirty="0" smtClean="0">
                  <a:solidFill>
                    <a:schemeClr val="tx1"/>
                  </a:solidFill>
                </a:rPr>
                <a:t>Hitung invers </a:t>
              </a:r>
              <a:r>
                <a:rPr lang="en-US" sz="1600" b="1" dirty="0" err="1" smtClean="0">
                  <a:solidFill>
                    <a:schemeClr val="tx1"/>
                  </a:solidFill>
                </a:rPr>
                <a:t>mariks</a:t>
              </a:r>
              <a:r>
                <a:rPr lang="en-US" sz="1600" b="1" dirty="0" smtClean="0">
                  <a:solidFill>
                    <a:schemeClr val="tx1"/>
                  </a:solidFill>
                </a:rPr>
                <a:t> </a:t>
              </a:r>
              <a:r>
                <a:rPr lang="en-GB" sz="1600" b="1" i="1" dirty="0">
                  <a:solidFill>
                    <a:schemeClr val="tx1"/>
                  </a:solidFill>
                </a:rPr>
                <a:t>within</a:t>
              </a:r>
              <a:r>
                <a:rPr lang="en-GB" sz="1600" b="1" dirty="0">
                  <a:solidFill>
                    <a:schemeClr val="tx1"/>
                  </a:solidFill>
                </a:rPr>
                <a:t> </a:t>
              </a:r>
              <a14:m>
                <m:oMath xmlns:m="http://schemas.openxmlformats.org/officeDocument/2006/math">
                  <m:sSup>
                    <m:sSupPr>
                      <m:ctrlPr>
                        <a:rPr lang="en-US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 lang="en-US" sz="1600" b="1">
                          <a:solidFill>
                            <a:schemeClr val="tx1"/>
                          </a:solidFill>
                          <a:latin typeface="Cambria Math"/>
                        </a:rPr>
                        <m:t>𝐄</m:t>
                      </m:r>
                    </m:e>
                    <m:sup>
                      <m:r>
                        <a:rPr lang="en-US" sz="1600" b="1" i="0" smtClean="0">
                          <a:solidFill>
                            <a:schemeClr val="tx1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600" b="1" i="0" smtClean="0">
                          <a:solidFill>
                            <a:schemeClr val="tx1"/>
                          </a:solidFill>
                          <a:latin typeface="Cambria Math"/>
                        </a:rPr>
                        <m:t>𝟏</m:t>
                      </m:r>
                    </m:sup>
                  </m:sSup>
                </m:oMath>
              </a14:m>
              <a:endParaRPr lang="id-ID" sz="1600" b="1" dirty="0">
                <a:solidFill>
                  <a:schemeClr val="tx1"/>
                </a:solidFill>
              </a:endParaRPr>
            </a:p>
          </dgm:t>
        </dgm:pt>
      </mc:Choice>
      <mc:Fallback xmlns="">
        <dgm:pt modelId="{B4D4D99B-4333-46B3-8C58-9CA17F061DEF}">
          <dgm:prSet phldrT="[Text]" custT="1"/>
          <dgm:spPr>
            <a:solidFill>
              <a:srgbClr val="92D050"/>
            </a:solidFill>
            <a:ln>
              <a:solidFill>
                <a:srgbClr val="92D050"/>
              </a:solidFill>
            </a:ln>
          </dgm:spPr>
          <dgm:t>
            <a:bodyPr/>
            <a:lstStyle/>
            <a:p>
              <a:r>
                <a:rPr lang="en-US" sz="1600" b="1" dirty="0" smtClean="0">
                  <a:solidFill>
                    <a:schemeClr val="tx1"/>
                  </a:solidFill>
                </a:rPr>
                <a:t>Hitung</a:t>
              </a:r>
              <a:r>
                <a:rPr lang="en-US" sz="1600" b="1" dirty="0" smtClean="0">
                  <a:solidFill>
                    <a:schemeClr val="tx1"/>
                  </a:solidFill>
                </a:rPr>
                <a:t> invers </a:t>
              </a:r>
              <a:r>
                <a:rPr lang="en-US" sz="1600" b="1" dirty="0" err="1" smtClean="0">
                  <a:solidFill>
                    <a:schemeClr val="tx1"/>
                  </a:solidFill>
                </a:rPr>
                <a:t>mariks</a:t>
              </a:r>
              <a:r>
                <a:rPr lang="en-US" sz="1600" b="1" dirty="0" smtClean="0">
                  <a:solidFill>
                    <a:schemeClr val="tx1"/>
                  </a:solidFill>
                </a:rPr>
                <a:t> </a:t>
              </a:r>
              <a:r>
                <a:rPr lang="en-GB" sz="1600" b="1" i="1" dirty="0">
                  <a:solidFill>
                    <a:schemeClr val="tx1"/>
                  </a:solidFill>
                </a:rPr>
                <a:t>within</a:t>
              </a:r>
              <a:r>
                <a:rPr lang="en-GB" sz="1600" b="1" dirty="0">
                  <a:solidFill>
                    <a:schemeClr val="tx1"/>
                  </a:solidFill>
                </a:rPr>
                <a:t> </a:t>
              </a:r>
              <a:r>
                <a:rPr lang="en-US" sz="1600" b="1" i="0">
                  <a:solidFill>
                    <a:schemeClr val="tx1"/>
                  </a:solidFill>
                  <a:latin typeface="Cambria Math"/>
                </a:rPr>
                <a:t>𝐄</a:t>
              </a:r>
              <a:r>
                <a:rPr lang="en-US" sz="1600" b="1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^(</a:t>
              </a:r>
              <a:r>
                <a:rPr lang="en-US" sz="1600" b="1" i="0" smtClean="0">
                  <a:solidFill>
                    <a:schemeClr val="tx1"/>
                  </a:solidFill>
                  <a:latin typeface="Cambria Math"/>
                </a:rPr>
                <a:t>−𝟏</a:t>
              </a:r>
              <a:r>
                <a:rPr lang="en-US" sz="1600" b="1" i="0" smtClean="0">
                  <a:solidFill>
                    <a:schemeClr val="tx1"/>
                  </a:solidFill>
                  <a:latin typeface="Cambria Math" panose="02040503050406030204" pitchFamily="18" charset="0"/>
                </a:rPr>
                <a:t>)</a:t>
              </a:r>
              <a:endParaRPr lang="id-ID" sz="1600" b="1" dirty="0">
                <a:solidFill>
                  <a:schemeClr val="tx1"/>
                </a:solidFill>
              </a:endParaRPr>
            </a:p>
          </dgm:t>
        </dgm:pt>
      </mc:Fallback>
    </mc:AlternateContent>
    <dgm:pt modelId="{DFD1E498-AEB7-464A-A315-09A55584B6D3}" type="parTrans" cxnId="{6CB72198-A21F-4778-8BC1-AE629BBE4B44}">
      <dgm:prSet/>
      <dgm:spPr/>
      <dgm:t>
        <a:bodyPr/>
        <a:lstStyle/>
        <a:p>
          <a:endParaRPr lang="id-ID"/>
        </a:p>
      </dgm:t>
    </dgm:pt>
    <dgm:pt modelId="{879AB19C-372C-4A68-83FC-A4DF7A6C27AF}" type="sibTrans" cxnId="{6CB72198-A21F-4778-8BC1-AE629BBE4B44}">
      <dgm:prSet/>
      <dgm:spPr>
        <a:solidFill>
          <a:srgbClr val="7030A0"/>
        </a:solidFill>
      </dgm:spPr>
      <dgm:t>
        <a:bodyPr/>
        <a:lstStyle/>
        <a:p>
          <a:endParaRPr lang="id-ID"/>
        </a:p>
      </dgm:t>
    </dgm:pt>
    <mc:AlternateContent xmlns:mc="http://schemas.openxmlformats.org/markup-compatibility/2006" xmlns:a14="http://schemas.microsoft.com/office/drawing/2010/main">
      <mc:Choice Requires="a14">
        <dgm:pt modelId="{1DDEC921-8159-46C2-B22A-6FF788C899B9}">
          <dgm:prSet phldrT="[Text]" custT="1"/>
          <dgm:spPr>
            <a:solidFill>
              <a:srgbClr val="6666FF"/>
            </a:solidFill>
            <a:ln>
              <a:solidFill>
                <a:srgbClr val="FFFF99"/>
              </a:solidFill>
            </a:ln>
          </dgm:spPr>
          <dgm:t>
            <a:bodyPr/>
            <a:lstStyle/>
            <a:p>
              <a:r>
                <a:rPr lang="en-US" sz="1600" b="1" dirty="0" smtClean="0">
                  <a:solidFill>
                    <a:schemeClr val="tx1"/>
                  </a:solidFill>
                </a:rPr>
                <a:t>Hitung </a:t>
              </a:r>
              <a:r>
                <a:rPr lang="en-US" sz="1600" b="1" dirty="0" err="1" smtClean="0">
                  <a:solidFill>
                    <a:schemeClr val="tx1"/>
                  </a:solidFill>
                </a:rPr>
                <a:t>mariks</a:t>
              </a:r>
              <a:r>
                <a:rPr lang="en-US" sz="1600" b="1" dirty="0" smtClean="0">
                  <a:solidFill>
                    <a:schemeClr val="tx1"/>
                  </a:solidFill>
                </a:rPr>
                <a:t> </a:t>
              </a:r>
              <a14:m>
                <m:oMath xmlns:m="http://schemas.openxmlformats.org/officeDocument/2006/math">
                  <m:sSup>
                    <m:sSupPr>
                      <m:ctrlP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 lang="en-US" sz="1600" b="1">
                          <a:solidFill>
                            <a:schemeClr val="tx1"/>
                          </a:solidFill>
                          <a:latin typeface="Cambria Math"/>
                        </a:rPr>
                        <m:t>𝐄</m:t>
                      </m:r>
                    </m:e>
                    <m:sup>
                      <m:r>
                        <a:rPr lang="en-US" sz="1600" b="1">
                          <a:solidFill>
                            <a:schemeClr val="tx1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/>
                        </a:rPr>
                        <m:t>𝟏</m:t>
                      </m:r>
                    </m:sup>
                  </m:sSup>
                  <m:r>
                    <a:rPr lang="en-US" sz="1600" b="1" i="0" smtClean="0">
                      <a:solidFill>
                        <a:schemeClr val="tx1"/>
                      </a:solidFill>
                      <a:latin typeface="Cambria Math"/>
                    </a:rPr>
                    <m:t>𝐇</m:t>
                  </m:r>
                </m:oMath>
              </a14:m>
              <a:endParaRPr lang="id-ID" sz="1600" b="1" dirty="0">
                <a:solidFill>
                  <a:schemeClr val="tx1"/>
                </a:solidFill>
              </a:endParaRPr>
            </a:p>
          </dgm:t>
        </dgm:pt>
      </mc:Choice>
      <mc:Fallback xmlns="">
        <dgm:pt modelId="{1DDEC921-8159-46C2-B22A-6FF788C899B9}">
          <dgm:prSet phldrT="[Text]" custT="1"/>
          <dgm:spPr>
            <a:solidFill>
              <a:srgbClr val="6666FF"/>
            </a:solidFill>
            <a:ln>
              <a:solidFill>
                <a:srgbClr val="FFFF99"/>
              </a:solidFill>
            </a:ln>
          </dgm:spPr>
          <dgm:t>
            <a:bodyPr/>
            <a:lstStyle/>
            <a:p>
              <a:r>
                <a:rPr lang="en-US" sz="1600" b="1" dirty="0" smtClean="0">
                  <a:solidFill>
                    <a:schemeClr val="tx1"/>
                  </a:solidFill>
                </a:rPr>
                <a:t>Hitung</a:t>
              </a:r>
              <a:r>
                <a:rPr lang="en-US" sz="1600" b="1" dirty="0" smtClean="0">
                  <a:solidFill>
                    <a:schemeClr val="tx1"/>
                  </a:solidFill>
                </a:rPr>
                <a:t> </a:t>
              </a:r>
              <a:r>
                <a:rPr lang="en-US" sz="1600" b="1" dirty="0" err="1" smtClean="0">
                  <a:solidFill>
                    <a:schemeClr val="tx1"/>
                  </a:solidFill>
                </a:rPr>
                <a:t>mariks</a:t>
              </a:r>
              <a:r>
                <a:rPr lang="en-US" sz="1600" b="1" dirty="0" smtClean="0">
                  <a:solidFill>
                    <a:schemeClr val="tx1"/>
                  </a:solidFill>
                </a:rPr>
                <a:t> </a:t>
              </a:r>
              <a:r>
                <a:rPr lang="en-US" sz="1600" b="1" i="0">
                  <a:solidFill>
                    <a:schemeClr val="tx1"/>
                  </a:solidFill>
                  <a:latin typeface="Cambria Math"/>
                </a:rPr>
                <a:t>𝐄</a:t>
              </a:r>
              <a:r>
                <a:rPr lang="en-US" sz="1600" b="1" i="0">
                  <a:solidFill>
                    <a:schemeClr val="tx1"/>
                  </a:solidFill>
                  <a:latin typeface="Cambria Math" panose="02040503050406030204" pitchFamily="18" charset="0"/>
                </a:rPr>
                <a:t>^(</a:t>
              </a:r>
              <a:r>
                <a:rPr lang="en-US" sz="1600" b="1" i="0">
                  <a:solidFill>
                    <a:schemeClr val="tx1"/>
                  </a:solidFill>
                  <a:latin typeface="Cambria Math"/>
                </a:rPr>
                <a:t>−𝟏</a:t>
              </a:r>
              <a:r>
                <a:rPr lang="en-US" sz="1600" b="1" i="0">
                  <a:solidFill>
                    <a:schemeClr val="tx1"/>
                  </a:solidFill>
                  <a:latin typeface="Cambria Math" panose="02040503050406030204" pitchFamily="18" charset="0"/>
                </a:rPr>
                <a:t>)</a:t>
              </a:r>
              <a:r>
                <a:rPr lang="en-US" sz="1600" b="1" i="0" smtClean="0">
                  <a:solidFill>
                    <a:schemeClr val="tx1"/>
                  </a:solidFill>
                  <a:latin typeface="Cambria Math"/>
                </a:rPr>
                <a:t> 𝐇</a:t>
              </a:r>
              <a:endParaRPr lang="id-ID" sz="1600" b="1" dirty="0">
                <a:solidFill>
                  <a:schemeClr val="tx1"/>
                </a:solidFill>
              </a:endParaRPr>
            </a:p>
          </dgm:t>
        </dgm:pt>
      </mc:Fallback>
    </mc:AlternateContent>
    <dgm:pt modelId="{E245D139-39E4-41BD-B857-4D581525A005}" type="parTrans" cxnId="{EE5D1F55-3BCE-488D-BA5F-5EBC321CD113}">
      <dgm:prSet/>
      <dgm:spPr/>
      <dgm:t>
        <a:bodyPr/>
        <a:lstStyle/>
        <a:p>
          <a:endParaRPr lang="id-ID"/>
        </a:p>
      </dgm:t>
    </dgm:pt>
    <dgm:pt modelId="{8DCECDCC-CC15-49C5-9037-3344CA13E213}" type="sibTrans" cxnId="{EE5D1F55-3BCE-488D-BA5F-5EBC321CD113}">
      <dgm:prSet/>
      <dgm:spPr>
        <a:solidFill>
          <a:srgbClr val="7030A0"/>
        </a:solidFill>
      </dgm:spPr>
      <dgm:t>
        <a:bodyPr/>
        <a:lstStyle/>
        <a:p>
          <a:endParaRPr lang="id-ID"/>
        </a:p>
      </dgm:t>
    </dgm:pt>
    <dgm:pt modelId="{80986B52-A662-4451-9A82-5DD19D1E85B1}">
      <dgm:prSet phldrT="[Text]" custT="1"/>
      <dgm:spPr>
        <a:solidFill>
          <a:srgbClr val="FFFF00"/>
        </a:solidFill>
        <a:ln>
          <a:solidFill>
            <a:srgbClr val="FFFF99"/>
          </a:solidFill>
        </a:ln>
      </dgm:spPr>
      <dgm:t>
        <a:bodyPr/>
        <a:lstStyle/>
        <a:p>
          <a:r>
            <a:rPr lang="en-US" sz="1600" b="1" dirty="0" err="1" smtClean="0">
              <a:solidFill>
                <a:schemeClr val="tx1"/>
              </a:solidFill>
            </a:rPr>
            <a:t>Hitung</a:t>
          </a:r>
          <a:r>
            <a:rPr lang="en-US" sz="1600" b="1" dirty="0" smtClean="0">
              <a:solidFill>
                <a:schemeClr val="tx1"/>
              </a:solidFill>
            </a:rPr>
            <a:t> </a:t>
          </a:r>
          <a:r>
            <a:rPr lang="en-US" sz="1600" b="1" dirty="0" err="1" smtClean="0">
              <a:solidFill>
                <a:schemeClr val="tx1"/>
              </a:solidFill>
            </a:rPr>
            <a:t>proporsi</a:t>
          </a:r>
          <a:r>
            <a:rPr lang="en-US" sz="1600" b="1" dirty="0" smtClean="0">
              <a:solidFill>
                <a:schemeClr val="tx1"/>
              </a:solidFill>
            </a:rPr>
            <a:t> </a:t>
          </a:r>
          <a:r>
            <a:rPr lang="en-US" sz="1600" b="1" dirty="0" err="1" smtClean="0">
              <a:solidFill>
                <a:schemeClr val="tx1"/>
              </a:solidFill>
            </a:rPr>
            <a:t>nilai</a:t>
          </a:r>
          <a:r>
            <a:rPr lang="en-US" sz="1600" b="1" dirty="0" smtClean="0">
              <a:solidFill>
                <a:schemeClr val="tx1"/>
              </a:solidFill>
            </a:rPr>
            <a:t> </a:t>
          </a:r>
          <a:r>
            <a:rPr lang="en-US" sz="1600" b="1" dirty="0" err="1" smtClean="0">
              <a:solidFill>
                <a:schemeClr val="tx1"/>
              </a:solidFill>
            </a:rPr>
            <a:t>eigen</a:t>
          </a:r>
          <a:r>
            <a:rPr lang="en-US" sz="1600" b="1" dirty="0" smtClean="0">
              <a:solidFill>
                <a:schemeClr val="tx1"/>
              </a:solidFill>
            </a:rPr>
            <a:t> </a:t>
          </a:r>
          <a:endParaRPr lang="id-ID" sz="1600" b="1" dirty="0">
            <a:solidFill>
              <a:schemeClr val="tx1"/>
            </a:solidFill>
          </a:endParaRPr>
        </a:p>
      </dgm:t>
    </dgm:pt>
    <dgm:pt modelId="{56E19262-0E9D-444E-977D-52C3B842CA1A}" type="parTrans" cxnId="{21AD90F7-F56A-4D2B-B966-E49193BCC845}">
      <dgm:prSet/>
      <dgm:spPr/>
      <dgm:t>
        <a:bodyPr/>
        <a:lstStyle/>
        <a:p>
          <a:endParaRPr lang="id-ID"/>
        </a:p>
      </dgm:t>
    </dgm:pt>
    <dgm:pt modelId="{E32C8ADE-41CC-4C31-91E6-061DB95D71F3}" type="sibTrans" cxnId="{21AD90F7-F56A-4D2B-B966-E49193BCC845}">
      <dgm:prSet/>
      <dgm:spPr/>
      <dgm:t>
        <a:bodyPr/>
        <a:lstStyle/>
        <a:p>
          <a:endParaRPr lang="id-ID"/>
        </a:p>
      </dgm:t>
    </dgm:pt>
    <mc:AlternateContent xmlns:mc="http://schemas.openxmlformats.org/markup-compatibility/2006" xmlns:a14="http://schemas.microsoft.com/office/drawing/2010/main">
      <mc:Choice Requires="a14">
        <dgm:pt modelId="{B1261150-2A2B-470D-BBF4-B85AFDBAC87B}">
          <dgm:prSet phldrT="[Text]" custT="1"/>
          <dgm:spPr>
            <a:solidFill>
              <a:srgbClr val="FF0066"/>
            </a:solidFill>
            <a:ln>
              <a:solidFill>
                <a:srgbClr val="FF0066"/>
              </a:solidFill>
            </a:ln>
          </dgm:spPr>
          <dgm:t>
            <a:bodyPr/>
            <a:lstStyle/>
            <a:p>
              <a:r>
                <a:rPr lang="en-US" sz="1600" b="1" dirty="0" smtClean="0">
                  <a:solidFill>
                    <a:schemeClr val="tx1"/>
                  </a:solidFill>
                </a:rPr>
                <a:t>Hitung </a:t>
              </a:r>
              <a:r>
                <a:rPr lang="en-US" sz="1600" b="1" dirty="0" err="1" smtClean="0">
                  <a:solidFill>
                    <a:schemeClr val="tx1"/>
                  </a:solidFill>
                </a:rPr>
                <a:t>nilai</a:t>
              </a:r>
              <a:r>
                <a:rPr lang="en-US" sz="1600" b="1" dirty="0" smtClean="0">
                  <a:solidFill>
                    <a:schemeClr val="tx1"/>
                  </a:solidFill>
                </a:rPr>
                <a:t> </a:t>
              </a:r>
              <a:r>
                <a:rPr lang="en-US" sz="1600" b="1" dirty="0" err="1" smtClean="0">
                  <a:solidFill>
                    <a:schemeClr val="tx1"/>
                  </a:solidFill>
                </a:rPr>
                <a:t>dan</a:t>
              </a:r>
              <a:r>
                <a:rPr lang="en-US" sz="1600" b="1" dirty="0" smtClean="0">
                  <a:solidFill>
                    <a:schemeClr val="tx1"/>
                  </a:solidFill>
                </a:rPr>
                <a:t> </a:t>
              </a:r>
              <a:r>
                <a:rPr lang="en-US" sz="1600" b="1" dirty="0" err="1" smtClean="0">
                  <a:solidFill>
                    <a:schemeClr val="tx1"/>
                  </a:solidFill>
                </a:rPr>
                <a:t>vektor</a:t>
              </a:r>
              <a:r>
                <a:rPr lang="en-US" sz="1600" b="1" dirty="0" smtClean="0">
                  <a:solidFill>
                    <a:schemeClr val="tx1"/>
                  </a:solidFill>
                </a:rPr>
                <a:t> </a:t>
              </a:r>
              <a:r>
                <a:rPr lang="en-US" sz="1600" b="1" dirty="0" err="1" smtClean="0">
                  <a:solidFill>
                    <a:schemeClr val="tx1"/>
                  </a:solidFill>
                </a:rPr>
                <a:t>eigen</a:t>
              </a:r>
              <a:r>
                <a:rPr lang="en-US" sz="1600" b="1" dirty="0" smtClean="0">
                  <a:solidFill>
                    <a:schemeClr val="tx1"/>
                  </a:solidFill>
                </a:rPr>
                <a:t> </a:t>
              </a:r>
              <a:r>
                <a:rPr lang="en-US" sz="1600" b="1" dirty="0" err="1" smtClean="0">
                  <a:solidFill>
                    <a:schemeClr val="tx1"/>
                  </a:solidFill>
                </a:rPr>
                <a:t>dari</a:t>
              </a:r>
              <a:r>
                <a:rPr lang="en-US" sz="1600" b="1" dirty="0" smtClean="0">
                  <a:solidFill>
                    <a:schemeClr val="tx1"/>
                  </a:solidFill>
                </a:rPr>
                <a:t> </a:t>
              </a:r>
              <a14:m>
                <m:oMath xmlns:m="http://schemas.openxmlformats.org/officeDocument/2006/math">
                  <m:sSup>
                    <m:sSupPr>
                      <m:ctrlP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 lang="en-US" sz="1600" b="1">
                          <a:solidFill>
                            <a:schemeClr val="tx1"/>
                          </a:solidFill>
                          <a:latin typeface="Cambria Math"/>
                        </a:rPr>
                        <m:t>𝐄</m:t>
                      </m:r>
                    </m:e>
                    <m:sup>
                      <m:r>
                        <a:rPr lang="en-US" sz="1600" b="1">
                          <a:solidFill>
                            <a:schemeClr val="tx1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/>
                        </a:rPr>
                        <m:t>𝟏</m:t>
                      </m:r>
                    </m:sup>
                  </m:sSup>
                  <m:r>
                    <a:rPr lang="en-US" sz="1600" b="1" i="0" smtClean="0">
                      <a:solidFill>
                        <a:schemeClr val="tx1"/>
                      </a:solidFill>
                      <a:latin typeface="Cambria Math"/>
                    </a:rPr>
                    <m:t>𝐇</m:t>
                  </m:r>
                </m:oMath>
              </a14:m>
              <a:endParaRPr lang="id-ID" sz="1600" b="1" dirty="0">
                <a:solidFill>
                  <a:schemeClr val="tx1"/>
                </a:solidFill>
              </a:endParaRPr>
            </a:p>
          </dgm:t>
        </dgm:pt>
      </mc:Choice>
      <mc:Fallback xmlns="">
        <dgm:pt modelId="{B1261150-2A2B-470D-BBF4-B85AFDBAC87B}">
          <dgm:prSet phldrT="[Text]" custT="1"/>
          <dgm:spPr>
            <a:solidFill>
              <a:srgbClr val="FF0066"/>
            </a:solidFill>
            <a:ln>
              <a:solidFill>
                <a:srgbClr val="FF0066"/>
              </a:solidFill>
            </a:ln>
          </dgm:spPr>
          <dgm:t>
            <a:bodyPr/>
            <a:lstStyle/>
            <a:p>
              <a:r>
                <a:rPr lang="en-US" sz="1600" b="1" dirty="0" smtClean="0">
                  <a:solidFill>
                    <a:schemeClr val="tx1"/>
                  </a:solidFill>
                </a:rPr>
                <a:t>Hitung</a:t>
              </a:r>
              <a:r>
                <a:rPr lang="en-US" sz="1600" b="1" dirty="0" smtClean="0">
                  <a:solidFill>
                    <a:schemeClr val="tx1"/>
                  </a:solidFill>
                </a:rPr>
                <a:t> </a:t>
              </a:r>
              <a:r>
                <a:rPr lang="en-US" sz="1600" b="1" dirty="0" err="1" smtClean="0">
                  <a:solidFill>
                    <a:schemeClr val="tx1"/>
                  </a:solidFill>
                </a:rPr>
                <a:t>nilai</a:t>
              </a:r>
              <a:r>
                <a:rPr lang="en-US" sz="1600" b="1" dirty="0" smtClean="0">
                  <a:solidFill>
                    <a:schemeClr val="tx1"/>
                  </a:solidFill>
                </a:rPr>
                <a:t> </a:t>
              </a:r>
              <a:r>
                <a:rPr lang="en-US" sz="1600" b="1" dirty="0" err="1" smtClean="0">
                  <a:solidFill>
                    <a:schemeClr val="tx1"/>
                  </a:solidFill>
                </a:rPr>
                <a:t>dan</a:t>
              </a:r>
              <a:r>
                <a:rPr lang="en-US" sz="1600" b="1" dirty="0" smtClean="0">
                  <a:solidFill>
                    <a:schemeClr val="tx1"/>
                  </a:solidFill>
                </a:rPr>
                <a:t> </a:t>
              </a:r>
              <a:r>
                <a:rPr lang="en-US" sz="1600" b="1" dirty="0" err="1" smtClean="0">
                  <a:solidFill>
                    <a:schemeClr val="tx1"/>
                  </a:solidFill>
                </a:rPr>
                <a:t>vektor</a:t>
              </a:r>
              <a:r>
                <a:rPr lang="en-US" sz="1600" b="1" dirty="0" smtClean="0">
                  <a:solidFill>
                    <a:schemeClr val="tx1"/>
                  </a:solidFill>
                </a:rPr>
                <a:t> </a:t>
              </a:r>
              <a:r>
                <a:rPr lang="en-US" sz="1600" b="1" dirty="0" err="1" smtClean="0">
                  <a:solidFill>
                    <a:schemeClr val="tx1"/>
                  </a:solidFill>
                </a:rPr>
                <a:t>eigen</a:t>
              </a:r>
              <a:r>
                <a:rPr lang="en-US" sz="1600" b="1" dirty="0" smtClean="0">
                  <a:solidFill>
                    <a:schemeClr val="tx1"/>
                  </a:solidFill>
                </a:rPr>
                <a:t> </a:t>
              </a:r>
              <a:r>
                <a:rPr lang="en-US" sz="1600" b="1" dirty="0" err="1" smtClean="0">
                  <a:solidFill>
                    <a:schemeClr val="tx1"/>
                  </a:solidFill>
                </a:rPr>
                <a:t>dari</a:t>
              </a:r>
              <a:r>
                <a:rPr lang="en-US" sz="1600" b="1" dirty="0" smtClean="0">
                  <a:solidFill>
                    <a:schemeClr val="tx1"/>
                  </a:solidFill>
                </a:rPr>
                <a:t> </a:t>
              </a:r>
              <a:r>
                <a:rPr lang="en-US" sz="1600" b="1" i="0">
                  <a:solidFill>
                    <a:schemeClr val="tx1"/>
                  </a:solidFill>
                  <a:latin typeface="Cambria Math"/>
                </a:rPr>
                <a:t>𝐄</a:t>
              </a:r>
              <a:r>
                <a:rPr lang="en-US" sz="1600" b="1" i="0">
                  <a:solidFill>
                    <a:schemeClr val="tx1"/>
                  </a:solidFill>
                  <a:latin typeface="Cambria Math" panose="02040503050406030204" pitchFamily="18" charset="0"/>
                </a:rPr>
                <a:t>^(</a:t>
              </a:r>
              <a:r>
                <a:rPr lang="en-US" sz="1600" b="1" i="0">
                  <a:solidFill>
                    <a:schemeClr val="tx1"/>
                  </a:solidFill>
                  <a:latin typeface="Cambria Math"/>
                </a:rPr>
                <a:t>−𝟏</a:t>
              </a:r>
              <a:r>
                <a:rPr lang="en-US" sz="1600" b="1" i="0">
                  <a:solidFill>
                    <a:schemeClr val="tx1"/>
                  </a:solidFill>
                  <a:latin typeface="Cambria Math" panose="02040503050406030204" pitchFamily="18" charset="0"/>
                </a:rPr>
                <a:t>)</a:t>
              </a:r>
              <a:r>
                <a:rPr lang="en-US" sz="1600" b="1" i="0" smtClean="0">
                  <a:solidFill>
                    <a:schemeClr val="tx1"/>
                  </a:solidFill>
                  <a:latin typeface="Cambria Math"/>
                </a:rPr>
                <a:t> 𝐇</a:t>
              </a:r>
              <a:endParaRPr lang="id-ID" sz="1600" b="1" dirty="0">
                <a:solidFill>
                  <a:schemeClr val="tx1"/>
                </a:solidFill>
              </a:endParaRPr>
            </a:p>
          </dgm:t>
        </dgm:pt>
      </mc:Fallback>
    </mc:AlternateContent>
    <dgm:pt modelId="{741576A4-BB12-42E7-A5CD-B6BFD638CF29}" type="parTrans" cxnId="{10B42B5C-4188-4E72-8549-50E02577DF97}">
      <dgm:prSet/>
      <dgm:spPr/>
      <dgm:t>
        <a:bodyPr/>
        <a:lstStyle/>
        <a:p>
          <a:endParaRPr lang="id-ID"/>
        </a:p>
      </dgm:t>
    </dgm:pt>
    <dgm:pt modelId="{17E34E73-26D0-42CE-B7B5-102D18DAFE4F}" type="sibTrans" cxnId="{10B42B5C-4188-4E72-8549-50E02577DF97}">
      <dgm:prSet/>
      <dgm:spPr>
        <a:solidFill>
          <a:srgbClr val="7030A0"/>
        </a:solidFill>
      </dgm:spPr>
      <dgm:t>
        <a:bodyPr/>
        <a:lstStyle/>
        <a:p>
          <a:endParaRPr lang="id-ID"/>
        </a:p>
      </dgm:t>
    </dgm:pt>
    <dgm:pt modelId="{F7FEDCA7-B51C-4D87-9EDC-0F3D7CA2407F}">
      <dgm:prSet phldrT="[Text]" custT="1"/>
      <dgm:spPr>
        <a:solidFill>
          <a:srgbClr val="00FFCC"/>
        </a:solidFill>
        <a:ln>
          <a:solidFill>
            <a:srgbClr val="00FFCC"/>
          </a:solidFill>
        </a:ln>
      </dgm:spPr>
      <dgm:t>
        <a:bodyPr/>
        <a:lstStyle/>
        <a:p>
          <a:r>
            <a:rPr lang="id-ID" sz="1600" b="1" dirty="0" smtClean="0">
              <a:solidFill>
                <a:schemeClr val="tx1"/>
              </a:solidFill>
            </a:rPr>
            <a:t>Menghitung skor diskriminan</a:t>
          </a:r>
          <a:r>
            <a:rPr lang="en-US" sz="1600" b="1" dirty="0" smtClean="0">
              <a:solidFill>
                <a:schemeClr val="tx1"/>
              </a:solidFill>
            </a:rPr>
            <a:t> </a:t>
          </a:r>
          <a:endParaRPr lang="id-ID" sz="1600" b="1" dirty="0">
            <a:solidFill>
              <a:schemeClr val="tx1"/>
            </a:solidFill>
          </a:endParaRPr>
        </a:p>
      </dgm:t>
    </dgm:pt>
    <dgm:pt modelId="{C5D7C8BB-E390-4427-A511-082F3AFC877B}" type="parTrans" cxnId="{4498C150-DC53-4740-AC06-96E26C726B6A}">
      <dgm:prSet/>
      <dgm:spPr/>
      <dgm:t>
        <a:bodyPr/>
        <a:lstStyle/>
        <a:p>
          <a:endParaRPr lang="en-US"/>
        </a:p>
      </dgm:t>
    </dgm:pt>
    <dgm:pt modelId="{AE7C8125-F2C1-459B-9108-C5ACD489CC90}" type="sibTrans" cxnId="{4498C150-DC53-4740-AC06-96E26C726B6A}">
      <dgm:prSet/>
      <dgm:spPr/>
      <dgm:t>
        <a:bodyPr/>
        <a:lstStyle/>
        <a:p>
          <a:endParaRPr lang="en-US"/>
        </a:p>
      </dgm:t>
    </dgm:pt>
    <dgm:pt modelId="{89C89895-B271-40F4-8914-F56AF6C48294}">
      <dgm:prSet phldrT="[Text]" custT="1"/>
      <dgm:spPr>
        <a:solidFill>
          <a:srgbClr val="CC99FF"/>
        </a:solidFill>
        <a:ln>
          <a:solidFill>
            <a:srgbClr val="CC99FF"/>
          </a:solidFill>
        </a:ln>
      </dgm:spPr>
      <dgm:t>
        <a:bodyPr/>
        <a:lstStyle/>
        <a:p>
          <a:r>
            <a:rPr lang="id-ID" sz="1600" b="1" dirty="0" smtClean="0">
              <a:solidFill>
                <a:schemeClr val="tx1"/>
              </a:solidFill>
            </a:rPr>
            <a:t>Penghitungan </a:t>
          </a:r>
          <a:r>
            <a:rPr lang="en-US" sz="1600" b="1" i="1" dirty="0" smtClean="0">
              <a:solidFill>
                <a:schemeClr val="tx1"/>
              </a:solidFill>
            </a:rPr>
            <a:t>h</a:t>
          </a:r>
          <a:r>
            <a:rPr lang="id-ID" sz="1600" b="1" i="1" dirty="0" smtClean="0">
              <a:solidFill>
                <a:schemeClr val="tx1"/>
              </a:solidFill>
            </a:rPr>
            <a:t>it </a:t>
          </a:r>
          <a:r>
            <a:rPr lang="en-US" sz="1600" b="1" i="1" dirty="0" smtClean="0">
              <a:solidFill>
                <a:schemeClr val="tx1"/>
              </a:solidFill>
            </a:rPr>
            <a:t>r</a:t>
          </a:r>
          <a:r>
            <a:rPr lang="id-ID" sz="1600" b="1" i="1" dirty="0" smtClean="0">
              <a:solidFill>
                <a:schemeClr val="tx1"/>
              </a:solidFill>
            </a:rPr>
            <a:t>atio</a:t>
          </a:r>
          <a:endParaRPr lang="id-ID" sz="1600" b="1" dirty="0">
            <a:solidFill>
              <a:schemeClr val="tx1"/>
            </a:solidFill>
          </a:endParaRPr>
        </a:p>
      </dgm:t>
    </dgm:pt>
    <dgm:pt modelId="{86EF5CE7-9BB5-432B-B1AA-1B386C4DADE6}" type="parTrans" cxnId="{69DBFCFE-30D0-4ECB-A4BF-E5945332CC7B}">
      <dgm:prSet/>
      <dgm:spPr/>
      <dgm:t>
        <a:bodyPr/>
        <a:lstStyle/>
        <a:p>
          <a:endParaRPr lang="en-US"/>
        </a:p>
      </dgm:t>
    </dgm:pt>
    <dgm:pt modelId="{41E81C49-3619-46B0-9C5A-020C1D4A4B70}" type="sibTrans" cxnId="{69DBFCFE-30D0-4ECB-A4BF-E5945332CC7B}">
      <dgm:prSet/>
      <dgm:spPr/>
      <dgm:t>
        <a:bodyPr/>
        <a:lstStyle/>
        <a:p>
          <a:endParaRPr lang="en-US"/>
        </a:p>
      </dgm:t>
    </dgm:pt>
    <dgm:pt modelId="{0C3A6D8C-58B7-4D66-A8DB-F96F3F37570A}">
      <dgm:prSet phldrT="[Text]" custT="1"/>
      <dgm:spPr>
        <a:solidFill>
          <a:srgbClr val="CC6600"/>
        </a:solidFill>
        <a:ln>
          <a:solidFill>
            <a:srgbClr val="CC6600"/>
          </a:solidFill>
        </a:ln>
      </dgm:spPr>
      <dgm:t>
        <a:bodyPr/>
        <a:lstStyle/>
        <a:p>
          <a:r>
            <a:rPr lang="id-ID" sz="1600" b="1" dirty="0" smtClean="0">
              <a:solidFill>
                <a:schemeClr val="tx1"/>
              </a:solidFill>
            </a:rPr>
            <a:t>Menghitung </a:t>
          </a:r>
          <a:r>
            <a:rPr lang="id-ID" sz="1600" b="1" i="1" dirty="0" smtClean="0">
              <a:solidFill>
                <a:schemeClr val="tx1"/>
              </a:solidFill>
            </a:rPr>
            <a:t>cutting score</a:t>
          </a:r>
          <a:endParaRPr lang="id-ID" sz="1600" b="1" dirty="0">
            <a:solidFill>
              <a:schemeClr val="tx1"/>
            </a:solidFill>
          </a:endParaRPr>
        </a:p>
      </dgm:t>
    </dgm:pt>
    <dgm:pt modelId="{AEF00033-8C6B-4DCA-94CB-6099D8A8F201}" type="parTrans" cxnId="{66C5C56D-7E3E-4611-98A5-86284D166516}">
      <dgm:prSet/>
      <dgm:spPr/>
      <dgm:t>
        <a:bodyPr/>
        <a:lstStyle/>
        <a:p>
          <a:endParaRPr lang="en-US"/>
        </a:p>
      </dgm:t>
    </dgm:pt>
    <dgm:pt modelId="{4A5EF15B-3214-4A9D-9AF6-EE20C03FD52D}" type="sibTrans" cxnId="{66C5C56D-7E3E-4611-98A5-86284D166516}">
      <dgm:prSet/>
      <dgm:spPr/>
      <dgm:t>
        <a:bodyPr/>
        <a:lstStyle/>
        <a:p>
          <a:endParaRPr lang="en-US"/>
        </a:p>
      </dgm:t>
    </dgm:pt>
    <dgm:pt modelId="{70B9B43B-4312-4F55-B3BC-A6A20C80A776}" type="pres">
      <dgm:prSet presAssocID="{EA5227B3-569E-4543-A3F2-C185D5C3AA47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id-ID"/>
        </a:p>
      </dgm:t>
    </dgm:pt>
    <dgm:pt modelId="{68DE9B90-FF88-427E-A58A-0149D39AED28}" type="pres">
      <dgm:prSet presAssocID="{44D17B0D-64C5-4F61-B537-9E282C062F3E}" presName="node" presStyleLbl="node1" presStyleIdx="0" presStyleCnt="10">
        <dgm:presLayoutVars>
          <dgm:bulletEnabled val="1"/>
        </dgm:presLayoutVars>
      </dgm:prSet>
      <dgm:spPr/>
      <dgm:t>
        <a:bodyPr/>
        <a:lstStyle/>
        <a:p>
          <a:endParaRPr lang="id-ID"/>
        </a:p>
      </dgm:t>
    </dgm:pt>
    <dgm:pt modelId="{FE006960-BC87-4FE8-ACDD-A918B7AAA70A}" type="pres">
      <dgm:prSet presAssocID="{781332FE-2B05-47C3-A3D6-53BB8464EE0F}" presName="sibTrans" presStyleLbl="sibTrans2D1" presStyleIdx="0" presStyleCnt="9"/>
      <dgm:spPr/>
      <dgm:t>
        <a:bodyPr/>
        <a:lstStyle/>
        <a:p>
          <a:endParaRPr lang="id-ID"/>
        </a:p>
      </dgm:t>
    </dgm:pt>
    <dgm:pt modelId="{7586C63A-9DCE-4747-8E34-8E7C98970917}" type="pres">
      <dgm:prSet presAssocID="{781332FE-2B05-47C3-A3D6-53BB8464EE0F}" presName="connectorText" presStyleLbl="sibTrans2D1" presStyleIdx="0" presStyleCnt="9"/>
      <dgm:spPr/>
      <dgm:t>
        <a:bodyPr/>
        <a:lstStyle/>
        <a:p>
          <a:endParaRPr lang="id-ID"/>
        </a:p>
      </dgm:t>
    </dgm:pt>
    <dgm:pt modelId="{C663D752-1C7D-4468-AC81-F90B20F9E3DC}" type="pres">
      <dgm:prSet presAssocID="{29F87AB8-C566-4D77-9123-02CE98411B15}" presName="node" presStyleLbl="node1" presStyleIdx="1" presStyleCnt="10">
        <dgm:presLayoutVars>
          <dgm:bulletEnabled val="1"/>
        </dgm:presLayoutVars>
      </dgm:prSet>
      <dgm:spPr/>
      <dgm:t>
        <a:bodyPr/>
        <a:lstStyle/>
        <a:p>
          <a:endParaRPr lang="id-ID"/>
        </a:p>
      </dgm:t>
    </dgm:pt>
    <dgm:pt modelId="{E77C461F-80DB-403D-9463-F6366E095577}" type="pres">
      <dgm:prSet presAssocID="{BC7CFC4A-09FA-4C4B-889F-2C595F055BDA}" presName="sibTrans" presStyleLbl="sibTrans2D1" presStyleIdx="1" presStyleCnt="9"/>
      <dgm:spPr/>
      <dgm:t>
        <a:bodyPr/>
        <a:lstStyle/>
        <a:p>
          <a:endParaRPr lang="id-ID"/>
        </a:p>
      </dgm:t>
    </dgm:pt>
    <dgm:pt modelId="{22873028-C3DF-4404-B798-1DEF38D9F630}" type="pres">
      <dgm:prSet presAssocID="{BC7CFC4A-09FA-4C4B-889F-2C595F055BDA}" presName="connectorText" presStyleLbl="sibTrans2D1" presStyleIdx="1" presStyleCnt="9"/>
      <dgm:spPr/>
      <dgm:t>
        <a:bodyPr/>
        <a:lstStyle/>
        <a:p>
          <a:endParaRPr lang="id-ID"/>
        </a:p>
      </dgm:t>
    </dgm:pt>
    <dgm:pt modelId="{9BEA32ED-D2C5-4196-9EFA-D35C95FAA9D4}" type="pres">
      <dgm:prSet presAssocID="{398E0822-2FD7-490A-88E5-872C22CA5F5D}" presName="node" presStyleLbl="node1" presStyleIdx="2" presStyleCnt="10">
        <dgm:presLayoutVars>
          <dgm:bulletEnabled val="1"/>
        </dgm:presLayoutVars>
      </dgm:prSet>
      <dgm:spPr/>
      <dgm:t>
        <a:bodyPr/>
        <a:lstStyle/>
        <a:p>
          <a:endParaRPr lang="id-ID"/>
        </a:p>
      </dgm:t>
    </dgm:pt>
    <dgm:pt modelId="{31333B5C-7F1C-4082-A91E-9DB266FAA769}" type="pres">
      <dgm:prSet presAssocID="{CC9C0A35-F171-473D-B375-1601E849681E}" presName="sibTrans" presStyleLbl="sibTrans2D1" presStyleIdx="2" presStyleCnt="9"/>
      <dgm:spPr/>
      <dgm:t>
        <a:bodyPr/>
        <a:lstStyle/>
        <a:p>
          <a:endParaRPr lang="id-ID"/>
        </a:p>
      </dgm:t>
    </dgm:pt>
    <dgm:pt modelId="{A1DFFAFB-DBC1-44E2-B0C2-17C901C0221F}" type="pres">
      <dgm:prSet presAssocID="{CC9C0A35-F171-473D-B375-1601E849681E}" presName="connectorText" presStyleLbl="sibTrans2D1" presStyleIdx="2" presStyleCnt="9"/>
      <dgm:spPr/>
      <dgm:t>
        <a:bodyPr/>
        <a:lstStyle/>
        <a:p>
          <a:endParaRPr lang="id-ID"/>
        </a:p>
      </dgm:t>
    </dgm:pt>
    <dgm:pt modelId="{5ED9CD20-F149-4713-9495-197CADF124AF}" type="pres">
      <dgm:prSet presAssocID="{B4D4D99B-4333-46B3-8C58-9CA17F061DEF}" presName="node" presStyleLbl="node1" presStyleIdx="3" presStyleCnt="10">
        <dgm:presLayoutVars>
          <dgm:bulletEnabled val="1"/>
        </dgm:presLayoutVars>
      </dgm:prSet>
      <dgm:spPr/>
      <dgm:t>
        <a:bodyPr/>
        <a:lstStyle/>
        <a:p>
          <a:endParaRPr lang="id-ID"/>
        </a:p>
      </dgm:t>
    </dgm:pt>
    <dgm:pt modelId="{0A255D4D-CEAE-4A91-BE94-4BD2D0AA8DEC}" type="pres">
      <dgm:prSet presAssocID="{879AB19C-372C-4A68-83FC-A4DF7A6C27AF}" presName="sibTrans" presStyleLbl="sibTrans2D1" presStyleIdx="3" presStyleCnt="9"/>
      <dgm:spPr/>
      <dgm:t>
        <a:bodyPr/>
        <a:lstStyle/>
        <a:p>
          <a:endParaRPr lang="id-ID"/>
        </a:p>
      </dgm:t>
    </dgm:pt>
    <dgm:pt modelId="{17EBDACD-7163-461A-84E6-BFB90B4A90C6}" type="pres">
      <dgm:prSet presAssocID="{879AB19C-372C-4A68-83FC-A4DF7A6C27AF}" presName="connectorText" presStyleLbl="sibTrans2D1" presStyleIdx="3" presStyleCnt="9"/>
      <dgm:spPr/>
      <dgm:t>
        <a:bodyPr/>
        <a:lstStyle/>
        <a:p>
          <a:endParaRPr lang="id-ID"/>
        </a:p>
      </dgm:t>
    </dgm:pt>
    <dgm:pt modelId="{69759FE9-4488-44D0-89D8-C01759C86D40}" type="pres">
      <dgm:prSet presAssocID="{1DDEC921-8159-46C2-B22A-6FF788C899B9}" presName="node" presStyleLbl="node1" presStyleIdx="4" presStyleCnt="10">
        <dgm:presLayoutVars>
          <dgm:bulletEnabled val="1"/>
        </dgm:presLayoutVars>
      </dgm:prSet>
      <dgm:spPr/>
      <dgm:t>
        <a:bodyPr/>
        <a:lstStyle/>
        <a:p>
          <a:endParaRPr lang="id-ID"/>
        </a:p>
      </dgm:t>
    </dgm:pt>
    <dgm:pt modelId="{A459E245-0B47-4C2E-9779-F13F1E66EE9B}" type="pres">
      <dgm:prSet presAssocID="{8DCECDCC-CC15-49C5-9037-3344CA13E213}" presName="sibTrans" presStyleLbl="sibTrans2D1" presStyleIdx="4" presStyleCnt="9"/>
      <dgm:spPr/>
      <dgm:t>
        <a:bodyPr/>
        <a:lstStyle/>
        <a:p>
          <a:endParaRPr lang="id-ID"/>
        </a:p>
      </dgm:t>
    </dgm:pt>
    <dgm:pt modelId="{03DE1DE5-FFCA-48C2-B2B3-4C7EAA6A0611}" type="pres">
      <dgm:prSet presAssocID="{8DCECDCC-CC15-49C5-9037-3344CA13E213}" presName="connectorText" presStyleLbl="sibTrans2D1" presStyleIdx="4" presStyleCnt="9"/>
      <dgm:spPr/>
      <dgm:t>
        <a:bodyPr/>
        <a:lstStyle/>
        <a:p>
          <a:endParaRPr lang="id-ID"/>
        </a:p>
      </dgm:t>
    </dgm:pt>
    <dgm:pt modelId="{688A4609-EF46-4F6C-97C8-0EBD9EDE6A73}" type="pres">
      <dgm:prSet presAssocID="{B1261150-2A2B-470D-BBF4-B85AFDBAC87B}" presName="node" presStyleLbl="node1" presStyleIdx="5" presStyleCnt="10">
        <dgm:presLayoutVars>
          <dgm:bulletEnabled val="1"/>
        </dgm:presLayoutVars>
      </dgm:prSet>
      <dgm:spPr/>
      <dgm:t>
        <a:bodyPr/>
        <a:lstStyle/>
        <a:p>
          <a:endParaRPr lang="id-ID"/>
        </a:p>
      </dgm:t>
    </dgm:pt>
    <dgm:pt modelId="{DEB8ECF6-C91A-4656-B3BE-E6220B306097}" type="pres">
      <dgm:prSet presAssocID="{17E34E73-26D0-42CE-B7B5-102D18DAFE4F}" presName="sibTrans" presStyleLbl="sibTrans2D1" presStyleIdx="5" presStyleCnt="9"/>
      <dgm:spPr/>
      <dgm:t>
        <a:bodyPr/>
        <a:lstStyle/>
        <a:p>
          <a:endParaRPr lang="id-ID"/>
        </a:p>
      </dgm:t>
    </dgm:pt>
    <dgm:pt modelId="{6F6AD607-6450-4D3A-8934-ACDC223DD34A}" type="pres">
      <dgm:prSet presAssocID="{17E34E73-26D0-42CE-B7B5-102D18DAFE4F}" presName="connectorText" presStyleLbl="sibTrans2D1" presStyleIdx="5" presStyleCnt="9"/>
      <dgm:spPr/>
      <dgm:t>
        <a:bodyPr/>
        <a:lstStyle/>
        <a:p>
          <a:endParaRPr lang="id-ID"/>
        </a:p>
      </dgm:t>
    </dgm:pt>
    <dgm:pt modelId="{989BB855-EBA5-4869-AA3A-665E5207F1FA}" type="pres">
      <dgm:prSet presAssocID="{80986B52-A662-4451-9A82-5DD19D1E85B1}" presName="node" presStyleLbl="node1" presStyleIdx="6" presStyleCnt="10">
        <dgm:presLayoutVars>
          <dgm:bulletEnabled val="1"/>
        </dgm:presLayoutVars>
      </dgm:prSet>
      <dgm:spPr/>
      <dgm:t>
        <a:bodyPr/>
        <a:lstStyle/>
        <a:p>
          <a:endParaRPr lang="id-ID"/>
        </a:p>
      </dgm:t>
    </dgm:pt>
    <dgm:pt modelId="{F321CF65-FDFA-4B7D-817A-0AF9EF4ACCA1}" type="pres">
      <dgm:prSet presAssocID="{E32C8ADE-41CC-4C31-91E6-061DB95D71F3}" presName="sibTrans" presStyleLbl="sibTrans2D1" presStyleIdx="6" presStyleCnt="9"/>
      <dgm:spPr/>
      <dgm:t>
        <a:bodyPr/>
        <a:lstStyle/>
        <a:p>
          <a:endParaRPr lang="en-US"/>
        </a:p>
      </dgm:t>
    </dgm:pt>
    <dgm:pt modelId="{2DF78492-FC86-4E03-9719-BF36C67FECDE}" type="pres">
      <dgm:prSet presAssocID="{E32C8ADE-41CC-4C31-91E6-061DB95D71F3}" presName="connectorText" presStyleLbl="sibTrans2D1" presStyleIdx="6" presStyleCnt="9"/>
      <dgm:spPr/>
      <dgm:t>
        <a:bodyPr/>
        <a:lstStyle/>
        <a:p>
          <a:endParaRPr lang="en-US"/>
        </a:p>
      </dgm:t>
    </dgm:pt>
    <dgm:pt modelId="{54C20DD4-DD40-4F1D-8FCD-DFFDF129E69A}" type="pres">
      <dgm:prSet presAssocID="{F7FEDCA7-B51C-4D87-9EDC-0F3D7CA2407F}" presName="node" presStyleLbl="node1" presStyleIdx="7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3FFD42-04A0-44E9-94D5-DFF82AD0DE4A}" type="pres">
      <dgm:prSet presAssocID="{AE7C8125-F2C1-459B-9108-C5ACD489CC90}" presName="sibTrans" presStyleLbl="sibTrans2D1" presStyleIdx="7" presStyleCnt="9"/>
      <dgm:spPr/>
      <dgm:t>
        <a:bodyPr/>
        <a:lstStyle/>
        <a:p>
          <a:endParaRPr lang="en-US"/>
        </a:p>
      </dgm:t>
    </dgm:pt>
    <dgm:pt modelId="{31F0259C-DAAA-4B56-8654-41E55ACD81D9}" type="pres">
      <dgm:prSet presAssocID="{AE7C8125-F2C1-459B-9108-C5ACD489CC90}" presName="connectorText" presStyleLbl="sibTrans2D1" presStyleIdx="7" presStyleCnt="9"/>
      <dgm:spPr/>
      <dgm:t>
        <a:bodyPr/>
        <a:lstStyle/>
        <a:p>
          <a:endParaRPr lang="en-US"/>
        </a:p>
      </dgm:t>
    </dgm:pt>
    <dgm:pt modelId="{3C8D85BA-386C-489A-B6CE-FB0C5FF1BDB0}" type="pres">
      <dgm:prSet presAssocID="{0C3A6D8C-58B7-4D66-A8DB-F96F3F37570A}" presName="node" presStyleLbl="node1" presStyleIdx="8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79E5BB-FC86-4D3D-9933-968C36C542A5}" type="pres">
      <dgm:prSet presAssocID="{4A5EF15B-3214-4A9D-9AF6-EE20C03FD52D}" presName="sibTrans" presStyleLbl="sibTrans2D1" presStyleIdx="8" presStyleCnt="9"/>
      <dgm:spPr/>
      <dgm:t>
        <a:bodyPr/>
        <a:lstStyle/>
        <a:p>
          <a:endParaRPr lang="en-US"/>
        </a:p>
      </dgm:t>
    </dgm:pt>
    <dgm:pt modelId="{C783D0F2-DAC0-4BD5-9D0E-0DD13124CDAD}" type="pres">
      <dgm:prSet presAssocID="{4A5EF15B-3214-4A9D-9AF6-EE20C03FD52D}" presName="connectorText" presStyleLbl="sibTrans2D1" presStyleIdx="8" presStyleCnt="9"/>
      <dgm:spPr/>
      <dgm:t>
        <a:bodyPr/>
        <a:lstStyle/>
        <a:p>
          <a:endParaRPr lang="en-US"/>
        </a:p>
      </dgm:t>
    </dgm:pt>
    <dgm:pt modelId="{B3F6C876-DC4C-440A-91B3-7D23D204A5C6}" type="pres">
      <dgm:prSet presAssocID="{89C89895-B271-40F4-8914-F56AF6C48294}" presName="node" presStyleLbl="node1" presStyleIdx="9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E5D1F55-3BCE-488D-BA5F-5EBC321CD113}" srcId="{EA5227B3-569E-4543-A3F2-C185D5C3AA47}" destId="{1DDEC921-8159-46C2-B22A-6FF788C899B9}" srcOrd="4" destOrd="0" parTransId="{E245D139-39E4-41BD-B857-4D581525A005}" sibTransId="{8DCECDCC-CC15-49C5-9037-3344CA13E213}"/>
    <dgm:cxn modelId="{66C5C56D-7E3E-4611-98A5-86284D166516}" srcId="{EA5227B3-569E-4543-A3F2-C185D5C3AA47}" destId="{0C3A6D8C-58B7-4D66-A8DB-F96F3F37570A}" srcOrd="8" destOrd="0" parTransId="{AEF00033-8C6B-4DCA-94CB-6099D8A8F201}" sibTransId="{4A5EF15B-3214-4A9D-9AF6-EE20C03FD52D}"/>
    <dgm:cxn modelId="{754D1B64-714E-42DD-9C1D-2EF2A0427759}" type="presOf" srcId="{CC9C0A35-F171-473D-B375-1601E849681E}" destId="{A1DFFAFB-DBC1-44E2-B0C2-17C901C0221F}" srcOrd="1" destOrd="0" presId="urn:microsoft.com/office/officeart/2005/8/layout/process5"/>
    <dgm:cxn modelId="{E5CAC381-AB78-481B-B377-E447755C7F66}" type="presOf" srcId="{17E34E73-26D0-42CE-B7B5-102D18DAFE4F}" destId="{6F6AD607-6450-4D3A-8934-ACDC223DD34A}" srcOrd="1" destOrd="0" presId="urn:microsoft.com/office/officeart/2005/8/layout/process5"/>
    <dgm:cxn modelId="{E930B274-D22A-4899-AB40-1B3BDE2FEEFB}" type="presOf" srcId="{BC7CFC4A-09FA-4C4B-889F-2C595F055BDA}" destId="{E77C461F-80DB-403D-9463-F6366E095577}" srcOrd="0" destOrd="0" presId="urn:microsoft.com/office/officeart/2005/8/layout/process5"/>
    <dgm:cxn modelId="{BB103117-CC97-42E4-9459-0685E081AC48}" type="presOf" srcId="{AE7C8125-F2C1-459B-9108-C5ACD489CC90}" destId="{31F0259C-DAAA-4B56-8654-41E55ACD81D9}" srcOrd="1" destOrd="0" presId="urn:microsoft.com/office/officeart/2005/8/layout/process5"/>
    <dgm:cxn modelId="{9E6A025E-FBB2-4C39-882F-3308F3B1F203}" type="presOf" srcId="{781332FE-2B05-47C3-A3D6-53BB8464EE0F}" destId="{7586C63A-9DCE-4747-8E34-8E7C98970917}" srcOrd="1" destOrd="0" presId="urn:microsoft.com/office/officeart/2005/8/layout/process5"/>
    <dgm:cxn modelId="{291F5DC2-E0F1-4BF3-A414-82285C6D34DF}" type="presOf" srcId="{29F87AB8-C566-4D77-9123-02CE98411B15}" destId="{C663D752-1C7D-4468-AC81-F90B20F9E3DC}" srcOrd="0" destOrd="0" presId="urn:microsoft.com/office/officeart/2005/8/layout/process5"/>
    <dgm:cxn modelId="{E68CCC3C-6463-4480-A7CB-81DC50AD08A7}" type="presOf" srcId="{879AB19C-372C-4A68-83FC-A4DF7A6C27AF}" destId="{0A255D4D-CEAE-4A91-BE94-4BD2D0AA8DEC}" srcOrd="0" destOrd="0" presId="urn:microsoft.com/office/officeart/2005/8/layout/process5"/>
    <dgm:cxn modelId="{3CE2B336-F361-4B2F-B936-58267A88F61A}" type="presOf" srcId="{F7FEDCA7-B51C-4D87-9EDC-0F3D7CA2407F}" destId="{54C20DD4-DD40-4F1D-8FCD-DFFDF129E69A}" srcOrd="0" destOrd="0" presId="urn:microsoft.com/office/officeart/2005/8/layout/process5"/>
    <dgm:cxn modelId="{554794BE-F2D8-4E82-BCAB-88D74943F512}" type="presOf" srcId="{4A5EF15B-3214-4A9D-9AF6-EE20C03FD52D}" destId="{A479E5BB-FC86-4D3D-9933-968C36C542A5}" srcOrd="0" destOrd="0" presId="urn:microsoft.com/office/officeart/2005/8/layout/process5"/>
    <dgm:cxn modelId="{4498C150-DC53-4740-AC06-96E26C726B6A}" srcId="{EA5227B3-569E-4543-A3F2-C185D5C3AA47}" destId="{F7FEDCA7-B51C-4D87-9EDC-0F3D7CA2407F}" srcOrd="7" destOrd="0" parTransId="{C5D7C8BB-E390-4427-A511-082F3AFC877B}" sibTransId="{AE7C8125-F2C1-459B-9108-C5ACD489CC90}"/>
    <dgm:cxn modelId="{7A51D9B3-DDDF-4499-807B-1A2AB33F588E}" srcId="{EA5227B3-569E-4543-A3F2-C185D5C3AA47}" destId="{398E0822-2FD7-490A-88E5-872C22CA5F5D}" srcOrd="2" destOrd="0" parTransId="{2B295A94-681B-4EFA-85C4-9B195ED8BF53}" sibTransId="{CC9C0A35-F171-473D-B375-1601E849681E}"/>
    <dgm:cxn modelId="{CAABEB6F-3982-49AF-A240-03C8D8644717}" type="presOf" srcId="{4A5EF15B-3214-4A9D-9AF6-EE20C03FD52D}" destId="{C783D0F2-DAC0-4BD5-9D0E-0DD13124CDAD}" srcOrd="1" destOrd="0" presId="urn:microsoft.com/office/officeart/2005/8/layout/process5"/>
    <dgm:cxn modelId="{9F023738-67F4-42FD-9E5C-D3AE525DAFC9}" type="presOf" srcId="{781332FE-2B05-47C3-A3D6-53BB8464EE0F}" destId="{FE006960-BC87-4FE8-ACDD-A918B7AAA70A}" srcOrd="0" destOrd="0" presId="urn:microsoft.com/office/officeart/2005/8/layout/process5"/>
    <dgm:cxn modelId="{21AD90F7-F56A-4D2B-B966-E49193BCC845}" srcId="{EA5227B3-569E-4543-A3F2-C185D5C3AA47}" destId="{80986B52-A662-4451-9A82-5DD19D1E85B1}" srcOrd="6" destOrd="0" parTransId="{56E19262-0E9D-444E-977D-52C3B842CA1A}" sibTransId="{E32C8ADE-41CC-4C31-91E6-061DB95D71F3}"/>
    <dgm:cxn modelId="{00AC21D3-E7D0-45E9-8441-C2BC9E5EAB9A}" srcId="{EA5227B3-569E-4543-A3F2-C185D5C3AA47}" destId="{29F87AB8-C566-4D77-9123-02CE98411B15}" srcOrd="1" destOrd="0" parTransId="{005B1319-A3A5-410A-B868-3A323022C61A}" sibTransId="{BC7CFC4A-09FA-4C4B-889F-2C595F055BDA}"/>
    <dgm:cxn modelId="{3CE283AD-27DC-472C-91AF-1D90342CEBE0}" type="presOf" srcId="{398E0822-2FD7-490A-88E5-872C22CA5F5D}" destId="{9BEA32ED-D2C5-4196-9EFA-D35C95FAA9D4}" srcOrd="0" destOrd="0" presId="urn:microsoft.com/office/officeart/2005/8/layout/process5"/>
    <dgm:cxn modelId="{8361F52A-F030-4013-90DC-52A140E78920}" type="presOf" srcId="{879AB19C-372C-4A68-83FC-A4DF7A6C27AF}" destId="{17EBDACD-7163-461A-84E6-BFB90B4A90C6}" srcOrd="1" destOrd="0" presId="urn:microsoft.com/office/officeart/2005/8/layout/process5"/>
    <dgm:cxn modelId="{8D17DDB5-C373-4FA9-828C-81D925C4C3FC}" type="presOf" srcId="{44D17B0D-64C5-4F61-B537-9E282C062F3E}" destId="{68DE9B90-FF88-427E-A58A-0149D39AED28}" srcOrd="0" destOrd="0" presId="urn:microsoft.com/office/officeart/2005/8/layout/process5"/>
    <dgm:cxn modelId="{ABF106CA-E1A3-4168-BFF9-7E27D132A1A5}" type="presOf" srcId="{BC7CFC4A-09FA-4C4B-889F-2C595F055BDA}" destId="{22873028-C3DF-4404-B798-1DEF38D9F630}" srcOrd="1" destOrd="0" presId="urn:microsoft.com/office/officeart/2005/8/layout/process5"/>
    <dgm:cxn modelId="{5CDCD6CF-EC57-40DD-9A2D-B708D2634D15}" type="presOf" srcId="{80986B52-A662-4451-9A82-5DD19D1E85B1}" destId="{989BB855-EBA5-4869-AA3A-665E5207F1FA}" srcOrd="0" destOrd="0" presId="urn:microsoft.com/office/officeart/2005/8/layout/process5"/>
    <dgm:cxn modelId="{6AD4B85C-FAA0-47CB-B210-9CAD624BB846}" type="presOf" srcId="{B4D4D99B-4333-46B3-8C58-9CA17F061DEF}" destId="{5ED9CD20-F149-4713-9495-197CADF124AF}" srcOrd="0" destOrd="0" presId="urn:microsoft.com/office/officeart/2005/8/layout/process5"/>
    <dgm:cxn modelId="{EA7FE55D-C860-4A2F-A6EC-909A058E1AA7}" type="presOf" srcId="{0C3A6D8C-58B7-4D66-A8DB-F96F3F37570A}" destId="{3C8D85BA-386C-489A-B6CE-FB0C5FF1BDB0}" srcOrd="0" destOrd="0" presId="urn:microsoft.com/office/officeart/2005/8/layout/process5"/>
    <dgm:cxn modelId="{6CB72198-A21F-4778-8BC1-AE629BBE4B44}" srcId="{EA5227B3-569E-4543-A3F2-C185D5C3AA47}" destId="{B4D4D99B-4333-46B3-8C58-9CA17F061DEF}" srcOrd="3" destOrd="0" parTransId="{DFD1E498-AEB7-464A-A315-09A55584B6D3}" sibTransId="{879AB19C-372C-4A68-83FC-A4DF7A6C27AF}"/>
    <dgm:cxn modelId="{3917DBE6-10D8-4FFB-ABB5-3552AEA25910}" type="presOf" srcId="{89C89895-B271-40F4-8914-F56AF6C48294}" destId="{B3F6C876-DC4C-440A-91B3-7D23D204A5C6}" srcOrd="0" destOrd="0" presId="urn:microsoft.com/office/officeart/2005/8/layout/process5"/>
    <dgm:cxn modelId="{D22098E9-563C-4B3F-AF65-60E55D49DF50}" type="presOf" srcId="{1DDEC921-8159-46C2-B22A-6FF788C899B9}" destId="{69759FE9-4488-44D0-89D8-C01759C86D40}" srcOrd="0" destOrd="0" presId="urn:microsoft.com/office/officeart/2005/8/layout/process5"/>
    <dgm:cxn modelId="{BAD1B4DA-40BB-4171-929E-2D340A8199B9}" type="presOf" srcId="{8DCECDCC-CC15-49C5-9037-3344CA13E213}" destId="{03DE1DE5-FFCA-48C2-B2B3-4C7EAA6A0611}" srcOrd="1" destOrd="0" presId="urn:microsoft.com/office/officeart/2005/8/layout/process5"/>
    <dgm:cxn modelId="{10B42B5C-4188-4E72-8549-50E02577DF97}" srcId="{EA5227B3-569E-4543-A3F2-C185D5C3AA47}" destId="{B1261150-2A2B-470D-BBF4-B85AFDBAC87B}" srcOrd="5" destOrd="0" parTransId="{741576A4-BB12-42E7-A5CD-B6BFD638CF29}" sibTransId="{17E34E73-26D0-42CE-B7B5-102D18DAFE4F}"/>
    <dgm:cxn modelId="{FD9EEAE3-253F-4FD2-8D78-40933D4A46FE}" type="presOf" srcId="{E32C8ADE-41CC-4C31-91E6-061DB95D71F3}" destId="{F321CF65-FDFA-4B7D-817A-0AF9EF4ACCA1}" srcOrd="0" destOrd="0" presId="urn:microsoft.com/office/officeart/2005/8/layout/process5"/>
    <dgm:cxn modelId="{35A43F40-73EB-4023-9AF9-122ED03CA104}" srcId="{EA5227B3-569E-4543-A3F2-C185D5C3AA47}" destId="{44D17B0D-64C5-4F61-B537-9E282C062F3E}" srcOrd="0" destOrd="0" parTransId="{3A0DBCD4-1DC0-40E5-9252-38C018A7F68C}" sibTransId="{781332FE-2B05-47C3-A3D6-53BB8464EE0F}"/>
    <dgm:cxn modelId="{A00BD435-1CDA-4AB7-9A3A-02B0771B0E8E}" type="presOf" srcId="{17E34E73-26D0-42CE-B7B5-102D18DAFE4F}" destId="{DEB8ECF6-C91A-4656-B3BE-E6220B306097}" srcOrd="0" destOrd="0" presId="urn:microsoft.com/office/officeart/2005/8/layout/process5"/>
    <dgm:cxn modelId="{11FEFEBC-92AF-4FC7-838B-9D07EC40EF56}" type="presOf" srcId="{AE7C8125-F2C1-459B-9108-C5ACD489CC90}" destId="{E53FFD42-04A0-44E9-94D5-DFF82AD0DE4A}" srcOrd="0" destOrd="0" presId="urn:microsoft.com/office/officeart/2005/8/layout/process5"/>
    <dgm:cxn modelId="{69DBFCFE-30D0-4ECB-A4BF-E5945332CC7B}" srcId="{EA5227B3-569E-4543-A3F2-C185D5C3AA47}" destId="{89C89895-B271-40F4-8914-F56AF6C48294}" srcOrd="9" destOrd="0" parTransId="{86EF5CE7-9BB5-432B-B1AA-1B386C4DADE6}" sibTransId="{41E81C49-3619-46B0-9C5A-020C1D4A4B70}"/>
    <dgm:cxn modelId="{0490F8CF-960D-4D35-B409-8E7FCC545193}" type="presOf" srcId="{8DCECDCC-CC15-49C5-9037-3344CA13E213}" destId="{A459E245-0B47-4C2E-9779-F13F1E66EE9B}" srcOrd="0" destOrd="0" presId="urn:microsoft.com/office/officeart/2005/8/layout/process5"/>
    <dgm:cxn modelId="{6D1D2B7B-DA38-4108-9450-48A7F79B36E8}" type="presOf" srcId="{EA5227B3-569E-4543-A3F2-C185D5C3AA47}" destId="{70B9B43B-4312-4F55-B3BC-A6A20C80A776}" srcOrd="0" destOrd="0" presId="urn:microsoft.com/office/officeart/2005/8/layout/process5"/>
    <dgm:cxn modelId="{36D83567-18AC-4252-863C-D30D217C3C99}" type="presOf" srcId="{CC9C0A35-F171-473D-B375-1601E849681E}" destId="{31333B5C-7F1C-4082-A91E-9DB266FAA769}" srcOrd="0" destOrd="0" presId="urn:microsoft.com/office/officeart/2005/8/layout/process5"/>
    <dgm:cxn modelId="{8933B91B-3621-43E6-A309-C08F2E25C69D}" type="presOf" srcId="{E32C8ADE-41CC-4C31-91E6-061DB95D71F3}" destId="{2DF78492-FC86-4E03-9719-BF36C67FECDE}" srcOrd="1" destOrd="0" presId="urn:microsoft.com/office/officeart/2005/8/layout/process5"/>
    <dgm:cxn modelId="{A6F97842-7342-4768-8EC9-7681B637B830}" type="presOf" srcId="{B1261150-2A2B-470D-BBF4-B85AFDBAC87B}" destId="{688A4609-EF46-4F6C-97C8-0EBD9EDE6A73}" srcOrd="0" destOrd="0" presId="urn:microsoft.com/office/officeart/2005/8/layout/process5"/>
    <dgm:cxn modelId="{67D54B7B-1261-4F18-A2B8-32E17B752486}" type="presParOf" srcId="{70B9B43B-4312-4F55-B3BC-A6A20C80A776}" destId="{68DE9B90-FF88-427E-A58A-0149D39AED28}" srcOrd="0" destOrd="0" presId="urn:microsoft.com/office/officeart/2005/8/layout/process5"/>
    <dgm:cxn modelId="{7C31DEF0-8699-4794-B9D3-E351A931E7D3}" type="presParOf" srcId="{70B9B43B-4312-4F55-B3BC-A6A20C80A776}" destId="{FE006960-BC87-4FE8-ACDD-A918B7AAA70A}" srcOrd="1" destOrd="0" presId="urn:microsoft.com/office/officeart/2005/8/layout/process5"/>
    <dgm:cxn modelId="{3B8A4233-D170-4342-BC2A-DE336BEC6F1A}" type="presParOf" srcId="{FE006960-BC87-4FE8-ACDD-A918B7AAA70A}" destId="{7586C63A-9DCE-4747-8E34-8E7C98970917}" srcOrd="0" destOrd="0" presId="urn:microsoft.com/office/officeart/2005/8/layout/process5"/>
    <dgm:cxn modelId="{C55AF8F5-3277-4AEE-9C96-D20849ACECF9}" type="presParOf" srcId="{70B9B43B-4312-4F55-B3BC-A6A20C80A776}" destId="{C663D752-1C7D-4468-AC81-F90B20F9E3DC}" srcOrd="2" destOrd="0" presId="urn:microsoft.com/office/officeart/2005/8/layout/process5"/>
    <dgm:cxn modelId="{C6DD4D51-7F96-402C-AB66-F1D405D5153A}" type="presParOf" srcId="{70B9B43B-4312-4F55-B3BC-A6A20C80A776}" destId="{E77C461F-80DB-403D-9463-F6366E095577}" srcOrd="3" destOrd="0" presId="urn:microsoft.com/office/officeart/2005/8/layout/process5"/>
    <dgm:cxn modelId="{AFA08DA1-94FA-4C44-ACE2-062432A3F4FC}" type="presParOf" srcId="{E77C461F-80DB-403D-9463-F6366E095577}" destId="{22873028-C3DF-4404-B798-1DEF38D9F630}" srcOrd="0" destOrd="0" presId="urn:microsoft.com/office/officeart/2005/8/layout/process5"/>
    <dgm:cxn modelId="{1EE6E8D0-6E1B-41B6-9F3A-E2AA5137C909}" type="presParOf" srcId="{70B9B43B-4312-4F55-B3BC-A6A20C80A776}" destId="{9BEA32ED-D2C5-4196-9EFA-D35C95FAA9D4}" srcOrd="4" destOrd="0" presId="urn:microsoft.com/office/officeart/2005/8/layout/process5"/>
    <dgm:cxn modelId="{B92D5039-78AE-4C40-B019-CB610B684299}" type="presParOf" srcId="{70B9B43B-4312-4F55-B3BC-A6A20C80A776}" destId="{31333B5C-7F1C-4082-A91E-9DB266FAA769}" srcOrd="5" destOrd="0" presId="urn:microsoft.com/office/officeart/2005/8/layout/process5"/>
    <dgm:cxn modelId="{EC3C9B4D-163C-4464-A1D8-9C032220E613}" type="presParOf" srcId="{31333B5C-7F1C-4082-A91E-9DB266FAA769}" destId="{A1DFFAFB-DBC1-44E2-B0C2-17C901C0221F}" srcOrd="0" destOrd="0" presId="urn:microsoft.com/office/officeart/2005/8/layout/process5"/>
    <dgm:cxn modelId="{26243D40-FE6D-437A-A0BD-D334C5AD64B8}" type="presParOf" srcId="{70B9B43B-4312-4F55-B3BC-A6A20C80A776}" destId="{5ED9CD20-F149-4713-9495-197CADF124AF}" srcOrd="6" destOrd="0" presId="urn:microsoft.com/office/officeart/2005/8/layout/process5"/>
    <dgm:cxn modelId="{976743A4-37A5-491E-A974-C4F895AC27D2}" type="presParOf" srcId="{70B9B43B-4312-4F55-B3BC-A6A20C80A776}" destId="{0A255D4D-CEAE-4A91-BE94-4BD2D0AA8DEC}" srcOrd="7" destOrd="0" presId="urn:microsoft.com/office/officeart/2005/8/layout/process5"/>
    <dgm:cxn modelId="{F30DFC23-DD21-4724-ADC7-CB8D7EACFE43}" type="presParOf" srcId="{0A255D4D-CEAE-4A91-BE94-4BD2D0AA8DEC}" destId="{17EBDACD-7163-461A-84E6-BFB90B4A90C6}" srcOrd="0" destOrd="0" presId="urn:microsoft.com/office/officeart/2005/8/layout/process5"/>
    <dgm:cxn modelId="{30E74C4F-0272-48BE-ACC3-0ED7D2A5CC54}" type="presParOf" srcId="{70B9B43B-4312-4F55-B3BC-A6A20C80A776}" destId="{69759FE9-4488-44D0-89D8-C01759C86D40}" srcOrd="8" destOrd="0" presId="urn:microsoft.com/office/officeart/2005/8/layout/process5"/>
    <dgm:cxn modelId="{6144C1D3-BF96-4E37-B3FE-36E844F27F9B}" type="presParOf" srcId="{70B9B43B-4312-4F55-B3BC-A6A20C80A776}" destId="{A459E245-0B47-4C2E-9779-F13F1E66EE9B}" srcOrd="9" destOrd="0" presId="urn:microsoft.com/office/officeart/2005/8/layout/process5"/>
    <dgm:cxn modelId="{B007C994-C4E9-40BB-BB26-70E0A889F2FD}" type="presParOf" srcId="{A459E245-0B47-4C2E-9779-F13F1E66EE9B}" destId="{03DE1DE5-FFCA-48C2-B2B3-4C7EAA6A0611}" srcOrd="0" destOrd="0" presId="urn:microsoft.com/office/officeart/2005/8/layout/process5"/>
    <dgm:cxn modelId="{AC884F2C-F956-4D43-87F1-BA4A5F923207}" type="presParOf" srcId="{70B9B43B-4312-4F55-B3BC-A6A20C80A776}" destId="{688A4609-EF46-4F6C-97C8-0EBD9EDE6A73}" srcOrd="10" destOrd="0" presId="urn:microsoft.com/office/officeart/2005/8/layout/process5"/>
    <dgm:cxn modelId="{AFD70D80-0595-4575-80A3-61E696E4BD4E}" type="presParOf" srcId="{70B9B43B-4312-4F55-B3BC-A6A20C80A776}" destId="{DEB8ECF6-C91A-4656-B3BE-E6220B306097}" srcOrd="11" destOrd="0" presId="urn:microsoft.com/office/officeart/2005/8/layout/process5"/>
    <dgm:cxn modelId="{DCA0B1C5-53B7-4841-BFB3-29083EA75697}" type="presParOf" srcId="{DEB8ECF6-C91A-4656-B3BE-E6220B306097}" destId="{6F6AD607-6450-4D3A-8934-ACDC223DD34A}" srcOrd="0" destOrd="0" presId="urn:microsoft.com/office/officeart/2005/8/layout/process5"/>
    <dgm:cxn modelId="{6383A2F5-364C-49F1-843D-16B5D108D150}" type="presParOf" srcId="{70B9B43B-4312-4F55-B3BC-A6A20C80A776}" destId="{989BB855-EBA5-4869-AA3A-665E5207F1FA}" srcOrd="12" destOrd="0" presId="urn:microsoft.com/office/officeart/2005/8/layout/process5"/>
    <dgm:cxn modelId="{01879F5B-3B68-464D-A2F9-605AB5067020}" type="presParOf" srcId="{70B9B43B-4312-4F55-B3BC-A6A20C80A776}" destId="{F321CF65-FDFA-4B7D-817A-0AF9EF4ACCA1}" srcOrd="13" destOrd="0" presId="urn:microsoft.com/office/officeart/2005/8/layout/process5"/>
    <dgm:cxn modelId="{686C974F-37C9-4788-BF29-5DB6CB02D6B0}" type="presParOf" srcId="{F321CF65-FDFA-4B7D-817A-0AF9EF4ACCA1}" destId="{2DF78492-FC86-4E03-9719-BF36C67FECDE}" srcOrd="0" destOrd="0" presId="urn:microsoft.com/office/officeart/2005/8/layout/process5"/>
    <dgm:cxn modelId="{AC67E141-6571-461E-90A8-03D01ACC7954}" type="presParOf" srcId="{70B9B43B-4312-4F55-B3BC-A6A20C80A776}" destId="{54C20DD4-DD40-4F1D-8FCD-DFFDF129E69A}" srcOrd="14" destOrd="0" presId="urn:microsoft.com/office/officeart/2005/8/layout/process5"/>
    <dgm:cxn modelId="{99E6C1FB-5136-4716-8468-F9FF1185E0B9}" type="presParOf" srcId="{70B9B43B-4312-4F55-B3BC-A6A20C80A776}" destId="{E53FFD42-04A0-44E9-94D5-DFF82AD0DE4A}" srcOrd="15" destOrd="0" presId="urn:microsoft.com/office/officeart/2005/8/layout/process5"/>
    <dgm:cxn modelId="{22FCDDBD-E5CA-4650-812F-09AF0D84C533}" type="presParOf" srcId="{E53FFD42-04A0-44E9-94D5-DFF82AD0DE4A}" destId="{31F0259C-DAAA-4B56-8654-41E55ACD81D9}" srcOrd="0" destOrd="0" presId="urn:microsoft.com/office/officeart/2005/8/layout/process5"/>
    <dgm:cxn modelId="{954EEA00-5F3A-484C-B3B2-A0B52602CBA8}" type="presParOf" srcId="{70B9B43B-4312-4F55-B3BC-A6A20C80A776}" destId="{3C8D85BA-386C-489A-B6CE-FB0C5FF1BDB0}" srcOrd="16" destOrd="0" presId="urn:microsoft.com/office/officeart/2005/8/layout/process5"/>
    <dgm:cxn modelId="{5B1B1A03-A38A-4890-899E-15EC641C8438}" type="presParOf" srcId="{70B9B43B-4312-4F55-B3BC-A6A20C80A776}" destId="{A479E5BB-FC86-4D3D-9933-968C36C542A5}" srcOrd="17" destOrd="0" presId="urn:microsoft.com/office/officeart/2005/8/layout/process5"/>
    <dgm:cxn modelId="{0FDD3F52-28A3-419A-A912-0690B57997E2}" type="presParOf" srcId="{A479E5BB-FC86-4D3D-9933-968C36C542A5}" destId="{C783D0F2-DAC0-4BD5-9D0E-0DD13124CDAD}" srcOrd="0" destOrd="0" presId="urn:microsoft.com/office/officeart/2005/8/layout/process5"/>
    <dgm:cxn modelId="{D3C9E842-94F7-45A7-8230-919D9EAD9898}" type="presParOf" srcId="{70B9B43B-4312-4F55-B3BC-A6A20C80A776}" destId="{B3F6C876-DC4C-440A-91B3-7D23D204A5C6}" srcOrd="1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A5227B3-569E-4543-A3F2-C185D5C3AA47}" type="doc">
      <dgm:prSet loTypeId="urn:microsoft.com/office/officeart/2005/8/layout/process5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id-ID"/>
        </a:p>
      </dgm:t>
    </dgm:pt>
    <dgm:pt modelId="{44D17B0D-64C5-4F61-B537-9E282C062F3E}">
      <dgm:prSet phldrT="[Text]" custT="1"/>
      <dgm:spPr>
        <a:blipFill rotWithShape="0">
          <a:blip xmlns:r="http://schemas.openxmlformats.org/officeDocument/2006/relationships" r:embed="rId1"/>
          <a:stretch>
            <a:fillRect/>
          </a:stretch>
        </a:blipFill>
        <a:ln>
          <a:solidFill>
            <a:srgbClr val="FF99FF"/>
          </a:solidFill>
        </a:ln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3A0DBCD4-1DC0-40E5-9252-38C018A7F68C}" type="parTrans" cxnId="{35A43F40-73EB-4023-9AF9-122ED03CA104}">
      <dgm:prSet/>
      <dgm:spPr/>
      <dgm:t>
        <a:bodyPr/>
        <a:lstStyle/>
        <a:p>
          <a:endParaRPr lang="id-ID"/>
        </a:p>
      </dgm:t>
    </dgm:pt>
    <dgm:pt modelId="{781332FE-2B05-47C3-A3D6-53BB8464EE0F}" type="sibTrans" cxnId="{35A43F40-73EB-4023-9AF9-122ED03CA104}">
      <dgm:prSet/>
      <dgm:spPr>
        <a:solidFill>
          <a:srgbClr val="7030A0"/>
        </a:solidFill>
      </dgm:spPr>
      <dgm:t>
        <a:bodyPr/>
        <a:lstStyle/>
        <a:p>
          <a:endParaRPr lang="id-ID"/>
        </a:p>
      </dgm:t>
    </dgm:pt>
    <dgm:pt modelId="{29F87AB8-C566-4D77-9123-02CE98411B15}">
      <dgm:prSet phldrT="[Text]" custT="1"/>
      <dgm:spPr>
        <a:solidFill>
          <a:srgbClr val="33CCFF"/>
        </a:solidFill>
        <a:ln>
          <a:solidFill>
            <a:srgbClr val="33CCFF"/>
          </a:solidFill>
        </a:ln>
      </dgm:spPr>
      <dgm:t>
        <a:bodyPr/>
        <a:lstStyle/>
        <a:p>
          <a:r>
            <a:rPr lang="en-US" sz="1600" b="1" dirty="0" err="1" smtClean="0">
              <a:solidFill>
                <a:schemeClr val="tx1"/>
              </a:solidFill>
            </a:rPr>
            <a:t>Hitung</a:t>
          </a:r>
          <a:r>
            <a:rPr lang="en-US" sz="1600" b="1" dirty="0" smtClean="0">
              <a:solidFill>
                <a:schemeClr val="tx1"/>
              </a:solidFill>
            </a:rPr>
            <a:t> </a:t>
          </a:r>
          <a:r>
            <a:rPr lang="en-US" sz="1600" b="1" dirty="0" err="1" smtClean="0">
              <a:solidFill>
                <a:schemeClr val="tx1"/>
              </a:solidFill>
            </a:rPr>
            <a:t>matriks</a:t>
          </a:r>
          <a:r>
            <a:rPr lang="en-US" sz="1600" b="1" dirty="0" smtClean="0">
              <a:solidFill>
                <a:schemeClr val="tx1"/>
              </a:solidFill>
            </a:rPr>
            <a:t> </a:t>
          </a:r>
          <a:r>
            <a:rPr lang="en-US" sz="1600" b="1" i="1" dirty="0" smtClean="0">
              <a:solidFill>
                <a:schemeClr val="tx1"/>
              </a:solidFill>
            </a:rPr>
            <a:t>between H</a:t>
          </a:r>
          <a:endParaRPr lang="id-ID" sz="1600" b="1" i="1" dirty="0">
            <a:solidFill>
              <a:schemeClr val="tx1"/>
            </a:solidFill>
          </a:endParaRPr>
        </a:p>
      </dgm:t>
    </dgm:pt>
    <dgm:pt modelId="{005B1319-A3A5-410A-B868-3A323022C61A}" type="parTrans" cxnId="{00AC21D3-E7D0-45E9-8441-C2BC9E5EAB9A}">
      <dgm:prSet/>
      <dgm:spPr/>
      <dgm:t>
        <a:bodyPr/>
        <a:lstStyle/>
        <a:p>
          <a:endParaRPr lang="id-ID"/>
        </a:p>
      </dgm:t>
    </dgm:pt>
    <dgm:pt modelId="{BC7CFC4A-09FA-4C4B-889F-2C595F055BDA}" type="sibTrans" cxnId="{00AC21D3-E7D0-45E9-8441-C2BC9E5EAB9A}">
      <dgm:prSet/>
      <dgm:spPr>
        <a:solidFill>
          <a:srgbClr val="7030A0"/>
        </a:solidFill>
      </dgm:spPr>
      <dgm:t>
        <a:bodyPr/>
        <a:lstStyle/>
        <a:p>
          <a:endParaRPr lang="id-ID"/>
        </a:p>
      </dgm:t>
    </dgm:pt>
    <dgm:pt modelId="{398E0822-2FD7-490A-88E5-872C22CA5F5D}">
      <dgm:prSet phldrT="[Text]" custT="1"/>
      <dgm:spPr>
        <a:blipFill rotWithShape="0">
          <a:blip xmlns:r="http://schemas.openxmlformats.org/officeDocument/2006/relationships" r:embed="rId2"/>
          <a:stretch>
            <a:fillRect l="-1149" r="-383"/>
          </a:stretch>
        </a:blipFill>
        <a:ln>
          <a:solidFill>
            <a:srgbClr val="FF9933"/>
          </a:solidFill>
        </a:ln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2B295A94-681B-4EFA-85C4-9B195ED8BF53}" type="parTrans" cxnId="{7A51D9B3-DDDF-4499-807B-1A2AB33F588E}">
      <dgm:prSet/>
      <dgm:spPr/>
      <dgm:t>
        <a:bodyPr/>
        <a:lstStyle/>
        <a:p>
          <a:endParaRPr lang="id-ID"/>
        </a:p>
      </dgm:t>
    </dgm:pt>
    <dgm:pt modelId="{CC9C0A35-F171-473D-B375-1601E849681E}" type="sibTrans" cxnId="{7A51D9B3-DDDF-4499-807B-1A2AB33F588E}">
      <dgm:prSet/>
      <dgm:spPr>
        <a:solidFill>
          <a:srgbClr val="7030A0"/>
        </a:solidFill>
      </dgm:spPr>
      <dgm:t>
        <a:bodyPr/>
        <a:lstStyle/>
        <a:p>
          <a:endParaRPr lang="id-ID"/>
        </a:p>
      </dgm:t>
    </dgm:pt>
    <dgm:pt modelId="{B4D4D99B-4333-46B3-8C58-9CA17F061DEF}">
      <dgm:prSet phldrT="[Text]" custT="1"/>
      <dgm:spPr>
        <a:blipFill rotWithShape="0">
          <a:blip xmlns:r="http://schemas.openxmlformats.org/officeDocument/2006/relationships" r:embed="rId3"/>
          <a:stretch>
            <a:fillRect l="-766" r="-3065"/>
          </a:stretch>
        </a:blipFill>
        <a:ln>
          <a:solidFill>
            <a:srgbClr val="92D050"/>
          </a:solidFill>
        </a:ln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DFD1E498-AEB7-464A-A315-09A55584B6D3}" type="parTrans" cxnId="{6CB72198-A21F-4778-8BC1-AE629BBE4B44}">
      <dgm:prSet/>
      <dgm:spPr/>
      <dgm:t>
        <a:bodyPr/>
        <a:lstStyle/>
        <a:p>
          <a:endParaRPr lang="id-ID"/>
        </a:p>
      </dgm:t>
    </dgm:pt>
    <dgm:pt modelId="{879AB19C-372C-4A68-83FC-A4DF7A6C27AF}" type="sibTrans" cxnId="{6CB72198-A21F-4778-8BC1-AE629BBE4B44}">
      <dgm:prSet/>
      <dgm:spPr>
        <a:solidFill>
          <a:srgbClr val="7030A0"/>
        </a:solidFill>
      </dgm:spPr>
      <dgm:t>
        <a:bodyPr/>
        <a:lstStyle/>
        <a:p>
          <a:endParaRPr lang="id-ID"/>
        </a:p>
      </dgm:t>
    </dgm:pt>
    <dgm:pt modelId="{1DDEC921-8159-46C2-B22A-6FF788C899B9}">
      <dgm:prSet phldrT="[Text]" custT="1"/>
      <dgm:spPr>
        <a:blipFill rotWithShape="0">
          <a:blip xmlns:r="http://schemas.openxmlformats.org/officeDocument/2006/relationships" r:embed="rId4"/>
          <a:stretch>
            <a:fillRect/>
          </a:stretch>
        </a:blipFill>
        <a:ln>
          <a:solidFill>
            <a:srgbClr val="FFFF99"/>
          </a:solidFill>
        </a:ln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E245D139-39E4-41BD-B857-4D581525A005}" type="parTrans" cxnId="{EE5D1F55-3BCE-488D-BA5F-5EBC321CD113}">
      <dgm:prSet/>
      <dgm:spPr/>
      <dgm:t>
        <a:bodyPr/>
        <a:lstStyle/>
        <a:p>
          <a:endParaRPr lang="id-ID"/>
        </a:p>
      </dgm:t>
    </dgm:pt>
    <dgm:pt modelId="{8DCECDCC-CC15-49C5-9037-3344CA13E213}" type="sibTrans" cxnId="{EE5D1F55-3BCE-488D-BA5F-5EBC321CD113}">
      <dgm:prSet/>
      <dgm:spPr>
        <a:solidFill>
          <a:srgbClr val="7030A0"/>
        </a:solidFill>
      </dgm:spPr>
      <dgm:t>
        <a:bodyPr/>
        <a:lstStyle/>
        <a:p>
          <a:endParaRPr lang="id-ID"/>
        </a:p>
      </dgm:t>
    </dgm:pt>
    <dgm:pt modelId="{80986B52-A662-4451-9A82-5DD19D1E85B1}">
      <dgm:prSet phldrT="[Text]" custT="1"/>
      <dgm:spPr>
        <a:solidFill>
          <a:srgbClr val="FFFF00"/>
        </a:solidFill>
        <a:ln>
          <a:solidFill>
            <a:srgbClr val="FFFF99"/>
          </a:solidFill>
        </a:ln>
      </dgm:spPr>
      <dgm:t>
        <a:bodyPr/>
        <a:lstStyle/>
        <a:p>
          <a:r>
            <a:rPr lang="en-US" sz="1600" b="1" dirty="0" err="1" smtClean="0">
              <a:solidFill>
                <a:schemeClr val="tx1"/>
              </a:solidFill>
            </a:rPr>
            <a:t>Hitung</a:t>
          </a:r>
          <a:r>
            <a:rPr lang="en-US" sz="1600" b="1" dirty="0" smtClean="0">
              <a:solidFill>
                <a:schemeClr val="tx1"/>
              </a:solidFill>
            </a:rPr>
            <a:t> </a:t>
          </a:r>
          <a:r>
            <a:rPr lang="en-US" sz="1600" b="1" dirty="0" err="1" smtClean="0">
              <a:solidFill>
                <a:schemeClr val="tx1"/>
              </a:solidFill>
            </a:rPr>
            <a:t>proporsi</a:t>
          </a:r>
          <a:r>
            <a:rPr lang="en-US" sz="1600" b="1" dirty="0" smtClean="0">
              <a:solidFill>
                <a:schemeClr val="tx1"/>
              </a:solidFill>
            </a:rPr>
            <a:t> </a:t>
          </a:r>
          <a:r>
            <a:rPr lang="en-US" sz="1600" b="1" dirty="0" err="1" smtClean="0">
              <a:solidFill>
                <a:schemeClr val="tx1"/>
              </a:solidFill>
            </a:rPr>
            <a:t>nilai</a:t>
          </a:r>
          <a:r>
            <a:rPr lang="en-US" sz="1600" b="1" dirty="0" smtClean="0">
              <a:solidFill>
                <a:schemeClr val="tx1"/>
              </a:solidFill>
            </a:rPr>
            <a:t> </a:t>
          </a:r>
          <a:r>
            <a:rPr lang="en-US" sz="1600" b="1" dirty="0" err="1" smtClean="0">
              <a:solidFill>
                <a:schemeClr val="tx1"/>
              </a:solidFill>
            </a:rPr>
            <a:t>eigen</a:t>
          </a:r>
          <a:r>
            <a:rPr lang="en-US" sz="1600" b="1" dirty="0" smtClean="0">
              <a:solidFill>
                <a:schemeClr val="tx1"/>
              </a:solidFill>
            </a:rPr>
            <a:t> </a:t>
          </a:r>
          <a:endParaRPr lang="id-ID" sz="1600" b="1" dirty="0">
            <a:solidFill>
              <a:schemeClr val="tx1"/>
            </a:solidFill>
          </a:endParaRPr>
        </a:p>
      </dgm:t>
    </dgm:pt>
    <dgm:pt modelId="{56E19262-0E9D-444E-977D-52C3B842CA1A}" type="parTrans" cxnId="{21AD90F7-F56A-4D2B-B966-E49193BCC845}">
      <dgm:prSet/>
      <dgm:spPr/>
      <dgm:t>
        <a:bodyPr/>
        <a:lstStyle/>
        <a:p>
          <a:endParaRPr lang="id-ID"/>
        </a:p>
      </dgm:t>
    </dgm:pt>
    <dgm:pt modelId="{E32C8ADE-41CC-4C31-91E6-061DB95D71F3}" type="sibTrans" cxnId="{21AD90F7-F56A-4D2B-B966-E49193BCC845}">
      <dgm:prSet/>
      <dgm:spPr/>
      <dgm:t>
        <a:bodyPr/>
        <a:lstStyle/>
        <a:p>
          <a:endParaRPr lang="id-ID"/>
        </a:p>
      </dgm:t>
    </dgm:pt>
    <dgm:pt modelId="{B1261150-2A2B-470D-BBF4-B85AFDBAC87B}">
      <dgm:prSet phldrT="[Text]" custT="1"/>
      <dgm:spPr>
        <a:blipFill rotWithShape="0">
          <a:blip xmlns:r="http://schemas.openxmlformats.org/officeDocument/2006/relationships" r:embed="rId5"/>
          <a:stretch>
            <a:fillRect t="-3797"/>
          </a:stretch>
        </a:blipFill>
        <a:ln>
          <a:solidFill>
            <a:srgbClr val="FF0066"/>
          </a:solidFill>
        </a:ln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741576A4-BB12-42E7-A5CD-B6BFD638CF29}" type="parTrans" cxnId="{10B42B5C-4188-4E72-8549-50E02577DF97}">
      <dgm:prSet/>
      <dgm:spPr/>
      <dgm:t>
        <a:bodyPr/>
        <a:lstStyle/>
        <a:p>
          <a:endParaRPr lang="id-ID"/>
        </a:p>
      </dgm:t>
    </dgm:pt>
    <dgm:pt modelId="{17E34E73-26D0-42CE-B7B5-102D18DAFE4F}" type="sibTrans" cxnId="{10B42B5C-4188-4E72-8549-50E02577DF97}">
      <dgm:prSet/>
      <dgm:spPr>
        <a:solidFill>
          <a:srgbClr val="7030A0"/>
        </a:solidFill>
      </dgm:spPr>
      <dgm:t>
        <a:bodyPr/>
        <a:lstStyle/>
        <a:p>
          <a:endParaRPr lang="id-ID"/>
        </a:p>
      </dgm:t>
    </dgm:pt>
    <dgm:pt modelId="{F7FEDCA7-B51C-4D87-9EDC-0F3D7CA2407F}">
      <dgm:prSet phldrT="[Text]" custT="1"/>
      <dgm:spPr>
        <a:solidFill>
          <a:srgbClr val="00FFCC"/>
        </a:solidFill>
        <a:ln>
          <a:solidFill>
            <a:srgbClr val="00FFCC"/>
          </a:solidFill>
        </a:ln>
      </dgm:spPr>
      <dgm:t>
        <a:bodyPr/>
        <a:lstStyle/>
        <a:p>
          <a:r>
            <a:rPr lang="id-ID" sz="1600" b="1" dirty="0" smtClean="0">
              <a:solidFill>
                <a:schemeClr val="tx1"/>
              </a:solidFill>
            </a:rPr>
            <a:t>Menghitung skor diskriminan</a:t>
          </a:r>
          <a:r>
            <a:rPr lang="en-US" sz="1600" b="1" dirty="0" smtClean="0">
              <a:solidFill>
                <a:schemeClr val="tx1"/>
              </a:solidFill>
            </a:rPr>
            <a:t> </a:t>
          </a:r>
          <a:endParaRPr lang="id-ID" sz="1600" b="1" dirty="0">
            <a:solidFill>
              <a:schemeClr val="tx1"/>
            </a:solidFill>
          </a:endParaRPr>
        </a:p>
      </dgm:t>
    </dgm:pt>
    <dgm:pt modelId="{C5D7C8BB-E390-4427-A511-082F3AFC877B}" type="parTrans" cxnId="{4498C150-DC53-4740-AC06-96E26C726B6A}">
      <dgm:prSet/>
      <dgm:spPr/>
      <dgm:t>
        <a:bodyPr/>
        <a:lstStyle/>
        <a:p>
          <a:endParaRPr lang="en-US"/>
        </a:p>
      </dgm:t>
    </dgm:pt>
    <dgm:pt modelId="{AE7C8125-F2C1-459B-9108-C5ACD489CC90}" type="sibTrans" cxnId="{4498C150-DC53-4740-AC06-96E26C726B6A}">
      <dgm:prSet/>
      <dgm:spPr/>
      <dgm:t>
        <a:bodyPr/>
        <a:lstStyle/>
        <a:p>
          <a:endParaRPr lang="en-US"/>
        </a:p>
      </dgm:t>
    </dgm:pt>
    <dgm:pt modelId="{89C89895-B271-40F4-8914-F56AF6C48294}">
      <dgm:prSet phldrT="[Text]" custT="1"/>
      <dgm:spPr>
        <a:solidFill>
          <a:srgbClr val="CC99FF"/>
        </a:solidFill>
        <a:ln>
          <a:solidFill>
            <a:srgbClr val="CC99FF"/>
          </a:solidFill>
        </a:ln>
      </dgm:spPr>
      <dgm:t>
        <a:bodyPr/>
        <a:lstStyle/>
        <a:p>
          <a:r>
            <a:rPr lang="id-ID" sz="1600" b="1" dirty="0" smtClean="0">
              <a:solidFill>
                <a:schemeClr val="tx1"/>
              </a:solidFill>
            </a:rPr>
            <a:t>Penghitungan </a:t>
          </a:r>
          <a:r>
            <a:rPr lang="en-US" sz="1600" b="1" i="1" dirty="0" smtClean="0">
              <a:solidFill>
                <a:schemeClr val="tx1"/>
              </a:solidFill>
            </a:rPr>
            <a:t>h</a:t>
          </a:r>
          <a:r>
            <a:rPr lang="id-ID" sz="1600" b="1" i="1" dirty="0" smtClean="0">
              <a:solidFill>
                <a:schemeClr val="tx1"/>
              </a:solidFill>
            </a:rPr>
            <a:t>it </a:t>
          </a:r>
          <a:r>
            <a:rPr lang="en-US" sz="1600" b="1" i="1" dirty="0" smtClean="0">
              <a:solidFill>
                <a:schemeClr val="tx1"/>
              </a:solidFill>
            </a:rPr>
            <a:t>r</a:t>
          </a:r>
          <a:r>
            <a:rPr lang="id-ID" sz="1600" b="1" i="1" dirty="0" smtClean="0">
              <a:solidFill>
                <a:schemeClr val="tx1"/>
              </a:solidFill>
            </a:rPr>
            <a:t>atio</a:t>
          </a:r>
          <a:endParaRPr lang="id-ID" sz="1600" b="1" dirty="0">
            <a:solidFill>
              <a:schemeClr val="tx1"/>
            </a:solidFill>
          </a:endParaRPr>
        </a:p>
      </dgm:t>
    </dgm:pt>
    <dgm:pt modelId="{86EF5CE7-9BB5-432B-B1AA-1B386C4DADE6}" type="parTrans" cxnId="{69DBFCFE-30D0-4ECB-A4BF-E5945332CC7B}">
      <dgm:prSet/>
      <dgm:spPr/>
      <dgm:t>
        <a:bodyPr/>
        <a:lstStyle/>
        <a:p>
          <a:endParaRPr lang="en-US"/>
        </a:p>
      </dgm:t>
    </dgm:pt>
    <dgm:pt modelId="{41E81C49-3619-46B0-9C5A-020C1D4A4B70}" type="sibTrans" cxnId="{69DBFCFE-30D0-4ECB-A4BF-E5945332CC7B}">
      <dgm:prSet/>
      <dgm:spPr/>
      <dgm:t>
        <a:bodyPr/>
        <a:lstStyle/>
        <a:p>
          <a:endParaRPr lang="en-US"/>
        </a:p>
      </dgm:t>
    </dgm:pt>
    <dgm:pt modelId="{0C3A6D8C-58B7-4D66-A8DB-F96F3F37570A}">
      <dgm:prSet phldrT="[Text]" custT="1"/>
      <dgm:spPr>
        <a:solidFill>
          <a:srgbClr val="CC6600"/>
        </a:solidFill>
        <a:ln>
          <a:solidFill>
            <a:srgbClr val="CC6600"/>
          </a:solidFill>
        </a:ln>
      </dgm:spPr>
      <dgm:t>
        <a:bodyPr/>
        <a:lstStyle/>
        <a:p>
          <a:r>
            <a:rPr lang="id-ID" sz="1600" b="1" dirty="0" smtClean="0">
              <a:solidFill>
                <a:schemeClr val="tx1"/>
              </a:solidFill>
            </a:rPr>
            <a:t>Menghitung </a:t>
          </a:r>
          <a:r>
            <a:rPr lang="id-ID" sz="1600" b="1" i="1" dirty="0" smtClean="0">
              <a:solidFill>
                <a:schemeClr val="tx1"/>
              </a:solidFill>
            </a:rPr>
            <a:t>cutting score</a:t>
          </a:r>
          <a:endParaRPr lang="id-ID" sz="1600" b="1" dirty="0">
            <a:solidFill>
              <a:schemeClr val="tx1"/>
            </a:solidFill>
          </a:endParaRPr>
        </a:p>
      </dgm:t>
    </dgm:pt>
    <dgm:pt modelId="{AEF00033-8C6B-4DCA-94CB-6099D8A8F201}" type="parTrans" cxnId="{66C5C56D-7E3E-4611-98A5-86284D166516}">
      <dgm:prSet/>
      <dgm:spPr/>
      <dgm:t>
        <a:bodyPr/>
        <a:lstStyle/>
        <a:p>
          <a:endParaRPr lang="en-US"/>
        </a:p>
      </dgm:t>
    </dgm:pt>
    <dgm:pt modelId="{4A5EF15B-3214-4A9D-9AF6-EE20C03FD52D}" type="sibTrans" cxnId="{66C5C56D-7E3E-4611-98A5-86284D166516}">
      <dgm:prSet/>
      <dgm:spPr/>
      <dgm:t>
        <a:bodyPr/>
        <a:lstStyle/>
        <a:p>
          <a:endParaRPr lang="en-US"/>
        </a:p>
      </dgm:t>
    </dgm:pt>
    <dgm:pt modelId="{70B9B43B-4312-4F55-B3BC-A6A20C80A776}" type="pres">
      <dgm:prSet presAssocID="{EA5227B3-569E-4543-A3F2-C185D5C3AA47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id-ID"/>
        </a:p>
      </dgm:t>
    </dgm:pt>
    <dgm:pt modelId="{68DE9B90-FF88-427E-A58A-0149D39AED28}" type="pres">
      <dgm:prSet presAssocID="{44D17B0D-64C5-4F61-B537-9E282C062F3E}" presName="node" presStyleLbl="node1" presStyleIdx="0" presStyleCnt="10">
        <dgm:presLayoutVars>
          <dgm:bulletEnabled val="1"/>
        </dgm:presLayoutVars>
      </dgm:prSet>
      <dgm:spPr/>
      <dgm:t>
        <a:bodyPr/>
        <a:lstStyle/>
        <a:p>
          <a:endParaRPr lang="id-ID"/>
        </a:p>
      </dgm:t>
    </dgm:pt>
    <dgm:pt modelId="{FE006960-BC87-4FE8-ACDD-A918B7AAA70A}" type="pres">
      <dgm:prSet presAssocID="{781332FE-2B05-47C3-A3D6-53BB8464EE0F}" presName="sibTrans" presStyleLbl="sibTrans2D1" presStyleIdx="0" presStyleCnt="9"/>
      <dgm:spPr/>
      <dgm:t>
        <a:bodyPr/>
        <a:lstStyle/>
        <a:p>
          <a:endParaRPr lang="id-ID"/>
        </a:p>
      </dgm:t>
    </dgm:pt>
    <dgm:pt modelId="{7586C63A-9DCE-4747-8E34-8E7C98970917}" type="pres">
      <dgm:prSet presAssocID="{781332FE-2B05-47C3-A3D6-53BB8464EE0F}" presName="connectorText" presStyleLbl="sibTrans2D1" presStyleIdx="0" presStyleCnt="9"/>
      <dgm:spPr/>
      <dgm:t>
        <a:bodyPr/>
        <a:lstStyle/>
        <a:p>
          <a:endParaRPr lang="id-ID"/>
        </a:p>
      </dgm:t>
    </dgm:pt>
    <dgm:pt modelId="{C663D752-1C7D-4468-AC81-F90B20F9E3DC}" type="pres">
      <dgm:prSet presAssocID="{29F87AB8-C566-4D77-9123-02CE98411B15}" presName="node" presStyleLbl="node1" presStyleIdx="1" presStyleCnt="10">
        <dgm:presLayoutVars>
          <dgm:bulletEnabled val="1"/>
        </dgm:presLayoutVars>
      </dgm:prSet>
      <dgm:spPr/>
      <dgm:t>
        <a:bodyPr/>
        <a:lstStyle/>
        <a:p>
          <a:endParaRPr lang="id-ID"/>
        </a:p>
      </dgm:t>
    </dgm:pt>
    <dgm:pt modelId="{E77C461F-80DB-403D-9463-F6366E095577}" type="pres">
      <dgm:prSet presAssocID="{BC7CFC4A-09FA-4C4B-889F-2C595F055BDA}" presName="sibTrans" presStyleLbl="sibTrans2D1" presStyleIdx="1" presStyleCnt="9"/>
      <dgm:spPr/>
      <dgm:t>
        <a:bodyPr/>
        <a:lstStyle/>
        <a:p>
          <a:endParaRPr lang="id-ID"/>
        </a:p>
      </dgm:t>
    </dgm:pt>
    <dgm:pt modelId="{22873028-C3DF-4404-B798-1DEF38D9F630}" type="pres">
      <dgm:prSet presAssocID="{BC7CFC4A-09FA-4C4B-889F-2C595F055BDA}" presName="connectorText" presStyleLbl="sibTrans2D1" presStyleIdx="1" presStyleCnt="9"/>
      <dgm:spPr/>
      <dgm:t>
        <a:bodyPr/>
        <a:lstStyle/>
        <a:p>
          <a:endParaRPr lang="id-ID"/>
        </a:p>
      </dgm:t>
    </dgm:pt>
    <dgm:pt modelId="{9BEA32ED-D2C5-4196-9EFA-D35C95FAA9D4}" type="pres">
      <dgm:prSet presAssocID="{398E0822-2FD7-490A-88E5-872C22CA5F5D}" presName="node" presStyleLbl="node1" presStyleIdx="2" presStyleCnt="10">
        <dgm:presLayoutVars>
          <dgm:bulletEnabled val="1"/>
        </dgm:presLayoutVars>
      </dgm:prSet>
      <dgm:spPr/>
      <dgm:t>
        <a:bodyPr/>
        <a:lstStyle/>
        <a:p>
          <a:endParaRPr lang="id-ID"/>
        </a:p>
      </dgm:t>
    </dgm:pt>
    <dgm:pt modelId="{31333B5C-7F1C-4082-A91E-9DB266FAA769}" type="pres">
      <dgm:prSet presAssocID="{CC9C0A35-F171-473D-B375-1601E849681E}" presName="sibTrans" presStyleLbl="sibTrans2D1" presStyleIdx="2" presStyleCnt="9"/>
      <dgm:spPr/>
      <dgm:t>
        <a:bodyPr/>
        <a:lstStyle/>
        <a:p>
          <a:endParaRPr lang="id-ID"/>
        </a:p>
      </dgm:t>
    </dgm:pt>
    <dgm:pt modelId="{A1DFFAFB-DBC1-44E2-B0C2-17C901C0221F}" type="pres">
      <dgm:prSet presAssocID="{CC9C0A35-F171-473D-B375-1601E849681E}" presName="connectorText" presStyleLbl="sibTrans2D1" presStyleIdx="2" presStyleCnt="9"/>
      <dgm:spPr/>
      <dgm:t>
        <a:bodyPr/>
        <a:lstStyle/>
        <a:p>
          <a:endParaRPr lang="id-ID"/>
        </a:p>
      </dgm:t>
    </dgm:pt>
    <dgm:pt modelId="{5ED9CD20-F149-4713-9495-197CADF124AF}" type="pres">
      <dgm:prSet presAssocID="{B4D4D99B-4333-46B3-8C58-9CA17F061DEF}" presName="node" presStyleLbl="node1" presStyleIdx="3" presStyleCnt="10">
        <dgm:presLayoutVars>
          <dgm:bulletEnabled val="1"/>
        </dgm:presLayoutVars>
      </dgm:prSet>
      <dgm:spPr/>
      <dgm:t>
        <a:bodyPr/>
        <a:lstStyle/>
        <a:p>
          <a:endParaRPr lang="id-ID"/>
        </a:p>
      </dgm:t>
    </dgm:pt>
    <dgm:pt modelId="{0A255D4D-CEAE-4A91-BE94-4BD2D0AA8DEC}" type="pres">
      <dgm:prSet presAssocID="{879AB19C-372C-4A68-83FC-A4DF7A6C27AF}" presName="sibTrans" presStyleLbl="sibTrans2D1" presStyleIdx="3" presStyleCnt="9"/>
      <dgm:spPr/>
      <dgm:t>
        <a:bodyPr/>
        <a:lstStyle/>
        <a:p>
          <a:endParaRPr lang="id-ID"/>
        </a:p>
      </dgm:t>
    </dgm:pt>
    <dgm:pt modelId="{17EBDACD-7163-461A-84E6-BFB90B4A90C6}" type="pres">
      <dgm:prSet presAssocID="{879AB19C-372C-4A68-83FC-A4DF7A6C27AF}" presName="connectorText" presStyleLbl="sibTrans2D1" presStyleIdx="3" presStyleCnt="9"/>
      <dgm:spPr/>
      <dgm:t>
        <a:bodyPr/>
        <a:lstStyle/>
        <a:p>
          <a:endParaRPr lang="id-ID"/>
        </a:p>
      </dgm:t>
    </dgm:pt>
    <dgm:pt modelId="{69759FE9-4488-44D0-89D8-C01759C86D40}" type="pres">
      <dgm:prSet presAssocID="{1DDEC921-8159-46C2-B22A-6FF788C899B9}" presName="node" presStyleLbl="node1" presStyleIdx="4" presStyleCnt="10">
        <dgm:presLayoutVars>
          <dgm:bulletEnabled val="1"/>
        </dgm:presLayoutVars>
      </dgm:prSet>
      <dgm:spPr/>
      <dgm:t>
        <a:bodyPr/>
        <a:lstStyle/>
        <a:p>
          <a:endParaRPr lang="id-ID"/>
        </a:p>
      </dgm:t>
    </dgm:pt>
    <dgm:pt modelId="{A459E245-0B47-4C2E-9779-F13F1E66EE9B}" type="pres">
      <dgm:prSet presAssocID="{8DCECDCC-CC15-49C5-9037-3344CA13E213}" presName="sibTrans" presStyleLbl="sibTrans2D1" presStyleIdx="4" presStyleCnt="9"/>
      <dgm:spPr/>
      <dgm:t>
        <a:bodyPr/>
        <a:lstStyle/>
        <a:p>
          <a:endParaRPr lang="id-ID"/>
        </a:p>
      </dgm:t>
    </dgm:pt>
    <dgm:pt modelId="{03DE1DE5-FFCA-48C2-B2B3-4C7EAA6A0611}" type="pres">
      <dgm:prSet presAssocID="{8DCECDCC-CC15-49C5-9037-3344CA13E213}" presName="connectorText" presStyleLbl="sibTrans2D1" presStyleIdx="4" presStyleCnt="9"/>
      <dgm:spPr/>
      <dgm:t>
        <a:bodyPr/>
        <a:lstStyle/>
        <a:p>
          <a:endParaRPr lang="id-ID"/>
        </a:p>
      </dgm:t>
    </dgm:pt>
    <dgm:pt modelId="{688A4609-EF46-4F6C-97C8-0EBD9EDE6A73}" type="pres">
      <dgm:prSet presAssocID="{B1261150-2A2B-470D-BBF4-B85AFDBAC87B}" presName="node" presStyleLbl="node1" presStyleIdx="5" presStyleCnt="10">
        <dgm:presLayoutVars>
          <dgm:bulletEnabled val="1"/>
        </dgm:presLayoutVars>
      </dgm:prSet>
      <dgm:spPr/>
      <dgm:t>
        <a:bodyPr/>
        <a:lstStyle/>
        <a:p>
          <a:endParaRPr lang="id-ID"/>
        </a:p>
      </dgm:t>
    </dgm:pt>
    <dgm:pt modelId="{DEB8ECF6-C91A-4656-B3BE-E6220B306097}" type="pres">
      <dgm:prSet presAssocID="{17E34E73-26D0-42CE-B7B5-102D18DAFE4F}" presName="sibTrans" presStyleLbl="sibTrans2D1" presStyleIdx="5" presStyleCnt="9"/>
      <dgm:spPr/>
      <dgm:t>
        <a:bodyPr/>
        <a:lstStyle/>
        <a:p>
          <a:endParaRPr lang="id-ID"/>
        </a:p>
      </dgm:t>
    </dgm:pt>
    <dgm:pt modelId="{6F6AD607-6450-4D3A-8934-ACDC223DD34A}" type="pres">
      <dgm:prSet presAssocID="{17E34E73-26D0-42CE-B7B5-102D18DAFE4F}" presName="connectorText" presStyleLbl="sibTrans2D1" presStyleIdx="5" presStyleCnt="9"/>
      <dgm:spPr/>
      <dgm:t>
        <a:bodyPr/>
        <a:lstStyle/>
        <a:p>
          <a:endParaRPr lang="id-ID"/>
        </a:p>
      </dgm:t>
    </dgm:pt>
    <dgm:pt modelId="{989BB855-EBA5-4869-AA3A-665E5207F1FA}" type="pres">
      <dgm:prSet presAssocID="{80986B52-A662-4451-9A82-5DD19D1E85B1}" presName="node" presStyleLbl="node1" presStyleIdx="6" presStyleCnt="10">
        <dgm:presLayoutVars>
          <dgm:bulletEnabled val="1"/>
        </dgm:presLayoutVars>
      </dgm:prSet>
      <dgm:spPr/>
      <dgm:t>
        <a:bodyPr/>
        <a:lstStyle/>
        <a:p>
          <a:endParaRPr lang="id-ID"/>
        </a:p>
      </dgm:t>
    </dgm:pt>
    <dgm:pt modelId="{F321CF65-FDFA-4B7D-817A-0AF9EF4ACCA1}" type="pres">
      <dgm:prSet presAssocID="{E32C8ADE-41CC-4C31-91E6-061DB95D71F3}" presName="sibTrans" presStyleLbl="sibTrans2D1" presStyleIdx="6" presStyleCnt="9"/>
      <dgm:spPr/>
      <dgm:t>
        <a:bodyPr/>
        <a:lstStyle/>
        <a:p>
          <a:endParaRPr lang="en-US"/>
        </a:p>
      </dgm:t>
    </dgm:pt>
    <dgm:pt modelId="{2DF78492-FC86-4E03-9719-BF36C67FECDE}" type="pres">
      <dgm:prSet presAssocID="{E32C8ADE-41CC-4C31-91E6-061DB95D71F3}" presName="connectorText" presStyleLbl="sibTrans2D1" presStyleIdx="6" presStyleCnt="9"/>
      <dgm:spPr/>
      <dgm:t>
        <a:bodyPr/>
        <a:lstStyle/>
        <a:p>
          <a:endParaRPr lang="en-US"/>
        </a:p>
      </dgm:t>
    </dgm:pt>
    <dgm:pt modelId="{54C20DD4-DD40-4F1D-8FCD-DFFDF129E69A}" type="pres">
      <dgm:prSet presAssocID="{F7FEDCA7-B51C-4D87-9EDC-0F3D7CA2407F}" presName="node" presStyleLbl="node1" presStyleIdx="7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3FFD42-04A0-44E9-94D5-DFF82AD0DE4A}" type="pres">
      <dgm:prSet presAssocID="{AE7C8125-F2C1-459B-9108-C5ACD489CC90}" presName="sibTrans" presStyleLbl="sibTrans2D1" presStyleIdx="7" presStyleCnt="9"/>
      <dgm:spPr/>
    </dgm:pt>
    <dgm:pt modelId="{31F0259C-DAAA-4B56-8654-41E55ACD81D9}" type="pres">
      <dgm:prSet presAssocID="{AE7C8125-F2C1-459B-9108-C5ACD489CC90}" presName="connectorText" presStyleLbl="sibTrans2D1" presStyleIdx="7" presStyleCnt="9"/>
      <dgm:spPr/>
    </dgm:pt>
    <dgm:pt modelId="{3C8D85BA-386C-489A-B6CE-FB0C5FF1BDB0}" type="pres">
      <dgm:prSet presAssocID="{0C3A6D8C-58B7-4D66-A8DB-F96F3F37570A}" presName="node" presStyleLbl="node1" presStyleIdx="8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79E5BB-FC86-4D3D-9933-968C36C542A5}" type="pres">
      <dgm:prSet presAssocID="{4A5EF15B-3214-4A9D-9AF6-EE20C03FD52D}" presName="sibTrans" presStyleLbl="sibTrans2D1" presStyleIdx="8" presStyleCnt="9"/>
      <dgm:spPr/>
    </dgm:pt>
    <dgm:pt modelId="{C783D0F2-DAC0-4BD5-9D0E-0DD13124CDAD}" type="pres">
      <dgm:prSet presAssocID="{4A5EF15B-3214-4A9D-9AF6-EE20C03FD52D}" presName="connectorText" presStyleLbl="sibTrans2D1" presStyleIdx="8" presStyleCnt="9"/>
      <dgm:spPr/>
    </dgm:pt>
    <dgm:pt modelId="{B3F6C876-DC4C-440A-91B3-7D23D204A5C6}" type="pres">
      <dgm:prSet presAssocID="{89C89895-B271-40F4-8914-F56AF6C48294}" presName="node" presStyleLbl="node1" presStyleIdx="9" presStyleCnt="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E5D1F55-3BCE-488D-BA5F-5EBC321CD113}" srcId="{EA5227B3-569E-4543-A3F2-C185D5C3AA47}" destId="{1DDEC921-8159-46C2-B22A-6FF788C899B9}" srcOrd="4" destOrd="0" parTransId="{E245D139-39E4-41BD-B857-4D581525A005}" sibTransId="{8DCECDCC-CC15-49C5-9037-3344CA13E213}"/>
    <dgm:cxn modelId="{66C5C56D-7E3E-4611-98A5-86284D166516}" srcId="{EA5227B3-569E-4543-A3F2-C185D5C3AA47}" destId="{0C3A6D8C-58B7-4D66-A8DB-F96F3F37570A}" srcOrd="8" destOrd="0" parTransId="{AEF00033-8C6B-4DCA-94CB-6099D8A8F201}" sibTransId="{4A5EF15B-3214-4A9D-9AF6-EE20C03FD52D}"/>
    <dgm:cxn modelId="{754D1B64-714E-42DD-9C1D-2EF2A0427759}" type="presOf" srcId="{CC9C0A35-F171-473D-B375-1601E849681E}" destId="{A1DFFAFB-DBC1-44E2-B0C2-17C901C0221F}" srcOrd="1" destOrd="0" presId="urn:microsoft.com/office/officeart/2005/8/layout/process5"/>
    <dgm:cxn modelId="{E5CAC381-AB78-481B-B377-E447755C7F66}" type="presOf" srcId="{17E34E73-26D0-42CE-B7B5-102D18DAFE4F}" destId="{6F6AD607-6450-4D3A-8934-ACDC223DD34A}" srcOrd="1" destOrd="0" presId="urn:microsoft.com/office/officeart/2005/8/layout/process5"/>
    <dgm:cxn modelId="{E930B274-D22A-4899-AB40-1B3BDE2FEEFB}" type="presOf" srcId="{BC7CFC4A-09FA-4C4B-889F-2C595F055BDA}" destId="{E77C461F-80DB-403D-9463-F6366E095577}" srcOrd="0" destOrd="0" presId="urn:microsoft.com/office/officeart/2005/8/layout/process5"/>
    <dgm:cxn modelId="{BB103117-CC97-42E4-9459-0685E081AC48}" type="presOf" srcId="{AE7C8125-F2C1-459B-9108-C5ACD489CC90}" destId="{31F0259C-DAAA-4B56-8654-41E55ACD81D9}" srcOrd="1" destOrd="0" presId="urn:microsoft.com/office/officeart/2005/8/layout/process5"/>
    <dgm:cxn modelId="{9E6A025E-FBB2-4C39-882F-3308F3B1F203}" type="presOf" srcId="{781332FE-2B05-47C3-A3D6-53BB8464EE0F}" destId="{7586C63A-9DCE-4747-8E34-8E7C98970917}" srcOrd="1" destOrd="0" presId="urn:microsoft.com/office/officeart/2005/8/layout/process5"/>
    <dgm:cxn modelId="{291F5DC2-E0F1-4BF3-A414-82285C6D34DF}" type="presOf" srcId="{29F87AB8-C566-4D77-9123-02CE98411B15}" destId="{C663D752-1C7D-4468-AC81-F90B20F9E3DC}" srcOrd="0" destOrd="0" presId="urn:microsoft.com/office/officeart/2005/8/layout/process5"/>
    <dgm:cxn modelId="{E68CCC3C-6463-4480-A7CB-81DC50AD08A7}" type="presOf" srcId="{879AB19C-372C-4A68-83FC-A4DF7A6C27AF}" destId="{0A255D4D-CEAE-4A91-BE94-4BD2D0AA8DEC}" srcOrd="0" destOrd="0" presId="urn:microsoft.com/office/officeart/2005/8/layout/process5"/>
    <dgm:cxn modelId="{3CE2B336-F361-4B2F-B936-58267A88F61A}" type="presOf" srcId="{F7FEDCA7-B51C-4D87-9EDC-0F3D7CA2407F}" destId="{54C20DD4-DD40-4F1D-8FCD-DFFDF129E69A}" srcOrd="0" destOrd="0" presId="urn:microsoft.com/office/officeart/2005/8/layout/process5"/>
    <dgm:cxn modelId="{554794BE-F2D8-4E82-BCAB-88D74943F512}" type="presOf" srcId="{4A5EF15B-3214-4A9D-9AF6-EE20C03FD52D}" destId="{A479E5BB-FC86-4D3D-9933-968C36C542A5}" srcOrd="0" destOrd="0" presId="urn:microsoft.com/office/officeart/2005/8/layout/process5"/>
    <dgm:cxn modelId="{4498C150-DC53-4740-AC06-96E26C726B6A}" srcId="{EA5227B3-569E-4543-A3F2-C185D5C3AA47}" destId="{F7FEDCA7-B51C-4D87-9EDC-0F3D7CA2407F}" srcOrd="7" destOrd="0" parTransId="{C5D7C8BB-E390-4427-A511-082F3AFC877B}" sibTransId="{AE7C8125-F2C1-459B-9108-C5ACD489CC90}"/>
    <dgm:cxn modelId="{7A51D9B3-DDDF-4499-807B-1A2AB33F588E}" srcId="{EA5227B3-569E-4543-A3F2-C185D5C3AA47}" destId="{398E0822-2FD7-490A-88E5-872C22CA5F5D}" srcOrd="2" destOrd="0" parTransId="{2B295A94-681B-4EFA-85C4-9B195ED8BF53}" sibTransId="{CC9C0A35-F171-473D-B375-1601E849681E}"/>
    <dgm:cxn modelId="{CAABEB6F-3982-49AF-A240-03C8D8644717}" type="presOf" srcId="{4A5EF15B-3214-4A9D-9AF6-EE20C03FD52D}" destId="{C783D0F2-DAC0-4BD5-9D0E-0DD13124CDAD}" srcOrd="1" destOrd="0" presId="urn:microsoft.com/office/officeart/2005/8/layout/process5"/>
    <dgm:cxn modelId="{9F023738-67F4-42FD-9E5C-D3AE525DAFC9}" type="presOf" srcId="{781332FE-2B05-47C3-A3D6-53BB8464EE0F}" destId="{FE006960-BC87-4FE8-ACDD-A918B7AAA70A}" srcOrd="0" destOrd="0" presId="urn:microsoft.com/office/officeart/2005/8/layout/process5"/>
    <dgm:cxn modelId="{21AD90F7-F56A-4D2B-B966-E49193BCC845}" srcId="{EA5227B3-569E-4543-A3F2-C185D5C3AA47}" destId="{80986B52-A662-4451-9A82-5DD19D1E85B1}" srcOrd="6" destOrd="0" parTransId="{56E19262-0E9D-444E-977D-52C3B842CA1A}" sibTransId="{E32C8ADE-41CC-4C31-91E6-061DB95D71F3}"/>
    <dgm:cxn modelId="{00AC21D3-E7D0-45E9-8441-C2BC9E5EAB9A}" srcId="{EA5227B3-569E-4543-A3F2-C185D5C3AA47}" destId="{29F87AB8-C566-4D77-9123-02CE98411B15}" srcOrd="1" destOrd="0" parTransId="{005B1319-A3A5-410A-B868-3A323022C61A}" sibTransId="{BC7CFC4A-09FA-4C4B-889F-2C595F055BDA}"/>
    <dgm:cxn modelId="{3CE283AD-27DC-472C-91AF-1D90342CEBE0}" type="presOf" srcId="{398E0822-2FD7-490A-88E5-872C22CA5F5D}" destId="{9BEA32ED-D2C5-4196-9EFA-D35C95FAA9D4}" srcOrd="0" destOrd="0" presId="urn:microsoft.com/office/officeart/2005/8/layout/process5"/>
    <dgm:cxn modelId="{8361F52A-F030-4013-90DC-52A140E78920}" type="presOf" srcId="{879AB19C-372C-4A68-83FC-A4DF7A6C27AF}" destId="{17EBDACD-7163-461A-84E6-BFB90B4A90C6}" srcOrd="1" destOrd="0" presId="urn:microsoft.com/office/officeart/2005/8/layout/process5"/>
    <dgm:cxn modelId="{8D17DDB5-C373-4FA9-828C-81D925C4C3FC}" type="presOf" srcId="{44D17B0D-64C5-4F61-B537-9E282C062F3E}" destId="{68DE9B90-FF88-427E-A58A-0149D39AED28}" srcOrd="0" destOrd="0" presId="urn:microsoft.com/office/officeart/2005/8/layout/process5"/>
    <dgm:cxn modelId="{ABF106CA-E1A3-4168-BFF9-7E27D132A1A5}" type="presOf" srcId="{BC7CFC4A-09FA-4C4B-889F-2C595F055BDA}" destId="{22873028-C3DF-4404-B798-1DEF38D9F630}" srcOrd="1" destOrd="0" presId="urn:microsoft.com/office/officeart/2005/8/layout/process5"/>
    <dgm:cxn modelId="{5CDCD6CF-EC57-40DD-9A2D-B708D2634D15}" type="presOf" srcId="{80986B52-A662-4451-9A82-5DD19D1E85B1}" destId="{989BB855-EBA5-4869-AA3A-665E5207F1FA}" srcOrd="0" destOrd="0" presId="urn:microsoft.com/office/officeart/2005/8/layout/process5"/>
    <dgm:cxn modelId="{6AD4B85C-FAA0-47CB-B210-9CAD624BB846}" type="presOf" srcId="{B4D4D99B-4333-46B3-8C58-9CA17F061DEF}" destId="{5ED9CD20-F149-4713-9495-197CADF124AF}" srcOrd="0" destOrd="0" presId="urn:microsoft.com/office/officeart/2005/8/layout/process5"/>
    <dgm:cxn modelId="{EA7FE55D-C860-4A2F-A6EC-909A058E1AA7}" type="presOf" srcId="{0C3A6D8C-58B7-4D66-A8DB-F96F3F37570A}" destId="{3C8D85BA-386C-489A-B6CE-FB0C5FF1BDB0}" srcOrd="0" destOrd="0" presId="urn:microsoft.com/office/officeart/2005/8/layout/process5"/>
    <dgm:cxn modelId="{6CB72198-A21F-4778-8BC1-AE629BBE4B44}" srcId="{EA5227B3-569E-4543-A3F2-C185D5C3AA47}" destId="{B4D4D99B-4333-46B3-8C58-9CA17F061DEF}" srcOrd="3" destOrd="0" parTransId="{DFD1E498-AEB7-464A-A315-09A55584B6D3}" sibTransId="{879AB19C-372C-4A68-83FC-A4DF7A6C27AF}"/>
    <dgm:cxn modelId="{3917DBE6-10D8-4FFB-ABB5-3552AEA25910}" type="presOf" srcId="{89C89895-B271-40F4-8914-F56AF6C48294}" destId="{B3F6C876-DC4C-440A-91B3-7D23D204A5C6}" srcOrd="0" destOrd="0" presId="urn:microsoft.com/office/officeart/2005/8/layout/process5"/>
    <dgm:cxn modelId="{D22098E9-563C-4B3F-AF65-60E55D49DF50}" type="presOf" srcId="{1DDEC921-8159-46C2-B22A-6FF788C899B9}" destId="{69759FE9-4488-44D0-89D8-C01759C86D40}" srcOrd="0" destOrd="0" presId="urn:microsoft.com/office/officeart/2005/8/layout/process5"/>
    <dgm:cxn modelId="{BAD1B4DA-40BB-4171-929E-2D340A8199B9}" type="presOf" srcId="{8DCECDCC-CC15-49C5-9037-3344CA13E213}" destId="{03DE1DE5-FFCA-48C2-B2B3-4C7EAA6A0611}" srcOrd="1" destOrd="0" presId="urn:microsoft.com/office/officeart/2005/8/layout/process5"/>
    <dgm:cxn modelId="{10B42B5C-4188-4E72-8549-50E02577DF97}" srcId="{EA5227B3-569E-4543-A3F2-C185D5C3AA47}" destId="{B1261150-2A2B-470D-BBF4-B85AFDBAC87B}" srcOrd="5" destOrd="0" parTransId="{741576A4-BB12-42E7-A5CD-B6BFD638CF29}" sibTransId="{17E34E73-26D0-42CE-B7B5-102D18DAFE4F}"/>
    <dgm:cxn modelId="{FD9EEAE3-253F-4FD2-8D78-40933D4A46FE}" type="presOf" srcId="{E32C8ADE-41CC-4C31-91E6-061DB95D71F3}" destId="{F321CF65-FDFA-4B7D-817A-0AF9EF4ACCA1}" srcOrd="0" destOrd="0" presId="urn:microsoft.com/office/officeart/2005/8/layout/process5"/>
    <dgm:cxn modelId="{35A43F40-73EB-4023-9AF9-122ED03CA104}" srcId="{EA5227B3-569E-4543-A3F2-C185D5C3AA47}" destId="{44D17B0D-64C5-4F61-B537-9E282C062F3E}" srcOrd="0" destOrd="0" parTransId="{3A0DBCD4-1DC0-40E5-9252-38C018A7F68C}" sibTransId="{781332FE-2B05-47C3-A3D6-53BB8464EE0F}"/>
    <dgm:cxn modelId="{A00BD435-1CDA-4AB7-9A3A-02B0771B0E8E}" type="presOf" srcId="{17E34E73-26D0-42CE-B7B5-102D18DAFE4F}" destId="{DEB8ECF6-C91A-4656-B3BE-E6220B306097}" srcOrd="0" destOrd="0" presId="urn:microsoft.com/office/officeart/2005/8/layout/process5"/>
    <dgm:cxn modelId="{11FEFEBC-92AF-4FC7-838B-9D07EC40EF56}" type="presOf" srcId="{AE7C8125-F2C1-459B-9108-C5ACD489CC90}" destId="{E53FFD42-04A0-44E9-94D5-DFF82AD0DE4A}" srcOrd="0" destOrd="0" presId="urn:microsoft.com/office/officeart/2005/8/layout/process5"/>
    <dgm:cxn modelId="{69DBFCFE-30D0-4ECB-A4BF-E5945332CC7B}" srcId="{EA5227B3-569E-4543-A3F2-C185D5C3AA47}" destId="{89C89895-B271-40F4-8914-F56AF6C48294}" srcOrd="9" destOrd="0" parTransId="{86EF5CE7-9BB5-432B-B1AA-1B386C4DADE6}" sibTransId="{41E81C49-3619-46B0-9C5A-020C1D4A4B70}"/>
    <dgm:cxn modelId="{0490F8CF-960D-4D35-B409-8E7FCC545193}" type="presOf" srcId="{8DCECDCC-CC15-49C5-9037-3344CA13E213}" destId="{A459E245-0B47-4C2E-9779-F13F1E66EE9B}" srcOrd="0" destOrd="0" presId="urn:microsoft.com/office/officeart/2005/8/layout/process5"/>
    <dgm:cxn modelId="{6D1D2B7B-DA38-4108-9450-48A7F79B36E8}" type="presOf" srcId="{EA5227B3-569E-4543-A3F2-C185D5C3AA47}" destId="{70B9B43B-4312-4F55-B3BC-A6A20C80A776}" srcOrd="0" destOrd="0" presId="urn:microsoft.com/office/officeart/2005/8/layout/process5"/>
    <dgm:cxn modelId="{36D83567-18AC-4252-863C-D30D217C3C99}" type="presOf" srcId="{CC9C0A35-F171-473D-B375-1601E849681E}" destId="{31333B5C-7F1C-4082-A91E-9DB266FAA769}" srcOrd="0" destOrd="0" presId="urn:microsoft.com/office/officeart/2005/8/layout/process5"/>
    <dgm:cxn modelId="{8933B91B-3621-43E6-A309-C08F2E25C69D}" type="presOf" srcId="{E32C8ADE-41CC-4C31-91E6-061DB95D71F3}" destId="{2DF78492-FC86-4E03-9719-BF36C67FECDE}" srcOrd="1" destOrd="0" presId="urn:microsoft.com/office/officeart/2005/8/layout/process5"/>
    <dgm:cxn modelId="{A6F97842-7342-4768-8EC9-7681B637B830}" type="presOf" srcId="{B1261150-2A2B-470D-BBF4-B85AFDBAC87B}" destId="{688A4609-EF46-4F6C-97C8-0EBD9EDE6A73}" srcOrd="0" destOrd="0" presId="urn:microsoft.com/office/officeart/2005/8/layout/process5"/>
    <dgm:cxn modelId="{67D54B7B-1261-4F18-A2B8-32E17B752486}" type="presParOf" srcId="{70B9B43B-4312-4F55-B3BC-A6A20C80A776}" destId="{68DE9B90-FF88-427E-A58A-0149D39AED28}" srcOrd="0" destOrd="0" presId="urn:microsoft.com/office/officeart/2005/8/layout/process5"/>
    <dgm:cxn modelId="{7C31DEF0-8699-4794-B9D3-E351A931E7D3}" type="presParOf" srcId="{70B9B43B-4312-4F55-B3BC-A6A20C80A776}" destId="{FE006960-BC87-4FE8-ACDD-A918B7AAA70A}" srcOrd="1" destOrd="0" presId="urn:microsoft.com/office/officeart/2005/8/layout/process5"/>
    <dgm:cxn modelId="{3B8A4233-D170-4342-BC2A-DE336BEC6F1A}" type="presParOf" srcId="{FE006960-BC87-4FE8-ACDD-A918B7AAA70A}" destId="{7586C63A-9DCE-4747-8E34-8E7C98970917}" srcOrd="0" destOrd="0" presId="urn:microsoft.com/office/officeart/2005/8/layout/process5"/>
    <dgm:cxn modelId="{C55AF8F5-3277-4AEE-9C96-D20849ACECF9}" type="presParOf" srcId="{70B9B43B-4312-4F55-B3BC-A6A20C80A776}" destId="{C663D752-1C7D-4468-AC81-F90B20F9E3DC}" srcOrd="2" destOrd="0" presId="urn:microsoft.com/office/officeart/2005/8/layout/process5"/>
    <dgm:cxn modelId="{C6DD4D51-7F96-402C-AB66-F1D405D5153A}" type="presParOf" srcId="{70B9B43B-4312-4F55-B3BC-A6A20C80A776}" destId="{E77C461F-80DB-403D-9463-F6366E095577}" srcOrd="3" destOrd="0" presId="urn:microsoft.com/office/officeart/2005/8/layout/process5"/>
    <dgm:cxn modelId="{AFA08DA1-94FA-4C44-ACE2-062432A3F4FC}" type="presParOf" srcId="{E77C461F-80DB-403D-9463-F6366E095577}" destId="{22873028-C3DF-4404-B798-1DEF38D9F630}" srcOrd="0" destOrd="0" presId="urn:microsoft.com/office/officeart/2005/8/layout/process5"/>
    <dgm:cxn modelId="{1EE6E8D0-6E1B-41B6-9F3A-E2AA5137C909}" type="presParOf" srcId="{70B9B43B-4312-4F55-B3BC-A6A20C80A776}" destId="{9BEA32ED-D2C5-4196-9EFA-D35C95FAA9D4}" srcOrd="4" destOrd="0" presId="urn:microsoft.com/office/officeart/2005/8/layout/process5"/>
    <dgm:cxn modelId="{B92D5039-78AE-4C40-B019-CB610B684299}" type="presParOf" srcId="{70B9B43B-4312-4F55-B3BC-A6A20C80A776}" destId="{31333B5C-7F1C-4082-A91E-9DB266FAA769}" srcOrd="5" destOrd="0" presId="urn:microsoft.com/office/officeart/2005/8/layout/process5"/>
    <dgm:cxn modelId="{EC3C9B4D-163C-4464-A1D8-9C032220E613}" type="presParOf" srcId="{31333B5C-7F1C-4082-A91E-9DB266FAA769}" destId="{A1DFFAFB-DBC1-44E2-B0C2-17C901C0221F}" srcOrd="0" destOrd="0" presId="urn:microsoft.com/office/officeart/2005/8/layout/process5"/>
    <dgm:cxn modelId="{26243D40-FE6D-437A-A0BD-D334C5AD64B8}" type="presParOf" srcId="{70B9B43B-4312-4F55-B3BC-A6A20C80A776}" destId="{5ED9CD20-F149-4713-9495-197CADF124AF}" srcOrd="6" destOrd="0" presId="urn:microsoft.com/office/officeart/2005/8/layout/process5"/>
    <dgm:cxn modelId="{976743A4-37A5-491E-A974-C4F895AC27D2}" type="presParOf" srcId="{70B9B43B-4312-4F55-B3BC-A6A20C80A776}" destId="{0A255D4D-CEAE-4A91-BE94-4BD2D0AA8DEC}" srcOrd="7" destOrd="0" presId="urn:microsoft.com/office/officeart/2005/8/layout/process5"/>
    <dgm:cxn modelId="{F30DFC23-DD21-4724-ADC7-CB8D7EACFE43}" type="presParOf" srcId="{0A255D4D-CEAE-4A91-BE94-4BD2D0AA8DEC}" destId="{17EBDACD-7163-461A-84E6-BFB90B4A90C6}" srcOrd="0" destOrd="0" presId="urn:microsoft.com/office/officeart/2005/8/layout/process5"/>
    <dgm:cxn modelId="{30E74C4F-0272-48BE-ACC3-0ED7D2A5CC54}" type="presParOf" srcId="{70B9B43B-4312-4F55-B3BC-A6A20C80A776}" destId="{69759FE9-4488-44D0-89D8-C01759C86D40}" srcOrd="8" destOrd="0" presId="urn:microsoft.com/office/officeart/2005/8/layout/process5"/>
    <dgm:cxn modelId="{6144C1D3-BF96-4E37-B3FE-36E844F27F9B}" type="presParOf" srcId="{70B9B43B-4312-4F55-B3BC-A6A20C80A776}" destId="{A459E245-0B47-4C2E-9779-F13F1E66EE9B}" srcOrd="9" destOrd="0" presId="urn:microsoft.com/office/officeart/2005/8/layout/process5"/>
    <dgm:cxn modelId="{B007C994-C4E9-40BB-BB26-70E0A889F2FD}" type="presParOf" srcId="{A459E245-0B47-4C2E-9779-F13F1E66EE9B}" destId="{03DE1DE5-FFCA-48C2-B2B3-4C7EAA6A0611}" srcOrd="0" destOrd="0" presId="urn:microsoft.com/office/officeart/2005/8/layout/process5"/>
    <dgm:cxn modelId="{AC884F2C-F956-4D43-87F1-BA4A5F923207}" type="presParOf" srcId="{70B9B43B-4312-4F55-B3BC-A6A20C80A776}" destId="{688A4609-EF46-4F6C-97C8-0EBD9EDE6A73}" srcOrd="10" destOrd="0" presId="urn:microsoft.com/office/officeart/2005/8/layout/process5"/>
    <dgm:cxn modelId="{AFD70D80-0595-4575-80A3-61E696E4BD4E}" type="presParOf" srcId="{70B9B43B-4312-4F55-B3BC-A6A20C80A776}" destId="{DEB8ECF6-C91A-4656-B3BE-E6220B306097}" srcOrd="11" destOrd="0" presId="urn:microsoft.com/office/officeart/2005/8/layout/process5"/>
    <dgm:cxn modelId="{DCA0B1C5-53B7-4841-BFB3-29083EA75697}" type="presParOf" srcId="{DEB8ECF6-C91A-4656-B3BE-E6220B306097}" destId="{6F6AD607-6450-4D3A-8934-ACDC223DD34A}" srcOrd="0" destOrd="0" presId="urn:microsoft.com/office/officeart/2005/8/layout/process5"/>
    <dgm:cxn modelId="{6383A2F5-364C-49F1-843D-16B5D108D150}" type="presParOf" srcId="{70B9B43B-4312-4F55-B3BC-A6A20C80A776}" destId="{989BB855-EBA5-4869-AA3A-665E5207F1FA}" srcOrd="12" destOrd="0" presId="urn:microsoft.com/office/officeart/2005/8/layout/process5"/>
    <dgm:cxn modelId="{01879F5B-3B68-464D-A2F9-605AB5067020}" type="presParOf" srcId="{70B9B43B-4312-4F55-B3BC-A6A20C80A776}" destId="{F321CF65-FDFA-4B7D-817A-0AF9EF4ACCA1}" srcOrd="13" destOrd="0" presId="urn:microsoft.com/office/officeart/2005/8/layout/process5"/>
    <dgm:cxn modelId="{686C974F-37C9-4788-BF29-5DB6CB02D6B0}" type="presParOf" srcId="{F321CF65-FDFA-4B7D-817A-0AF9EF4ACCA1}" destId="{2DF78492-FC86-4E03-9719-BF36C67FECDE}" srcOrd="0" destOrd="0" presId="urn:microsoft.com/office/officeart/2005/8/layout/process5"/>
    <dgm:cxn modelId="{AC67E141-6571-461E-90A8-03D01ACC7954}" type="presParOf" srcId="{70B9B43B-4312-4F55-B3BC-A6A20C80A776}" destId="{54C20DD4-DD40-4F1D-8FCD-DFFDF129E69A}" srcOrd="14" destOrd="0" presId="urn:microsoft.com/office/officeart/2005/8/layout/process5"/>
    <dgm:cxn modelId="{99E6C1FB-5136-4716-8468-F9FF1185E0B9}" type="presParOf" srcId="{70B9B43B-4312-4F55-B3BC-A6A20C80A776}" destId="{E53FFD42-04A0-44E9-94D5-DFF82AD0DE4A}" srcOrd="15" destOrd="0" presId="urn:microsoft.com/office/officeart/2005/8/layout/process5"/>
    <dgm:cxn modelId="{22FCDDBD-E5CA-4650-812F-09AF0D84C533}" type="presParOf" srcId="{E53FFD42-04A0-44E9-94D5-DFF82AD0DE4A}" destId="{31F0259C-DAAA-4B56-8654-41E55ACD81D9}" srcOrd="0" destOrd="0" presId="urn:microsoft.com/office/officeart/2005/8/layout/process5"/>
    <dgm:cxn modelId="{954EEA00-5F3A-484C-B3B2-A0B52602CBA8}" type="presParOf" srcId="{70B9B43B-4312-4F55-B3BC-A6A20C80A776}" destId="{3C8D85BA-386C-489A-B6CE-FB0C5FF1BDB0}" srcOrd="16" destOrd="0" presId="urn:microsoft.com/office/officeart/2005/8/layout/process5"/>
    <dgm:cxn modelId="{5B1B1A03-A38A-4890-899E-15EC641C8438}" type="presParOf" srcId="{70B9B43B-4312-4F55-B3BC-A6A20C80A776}" destId="{A479E5BB-FC86-4D3D-9933-968C36C542A5}" srcOrd="17" destOrd="0" presId="urn:microsoft.com/office/officeart/2005/8/layout/process5"/>
    <dgm:cxn modelId="{0FDD3F52-28A3-419A-A912-0690B57997E2}" type="presParOf" srcId="{A479E5BB-FC86-4D3D-9933-968C36C542A5}" destId="{C783D0F2-DAC0-4BD5-9D0E-0DD13124CDAD}" srcOrd="0" destOrd="0" presId="urn:microsoft.com/office/officeart/2005/8/layout/process5"/>
    <dgm:cxn modelId="{D3C9E842-94F7-45A7-8230-919D9EAD9898}" type="presParOf" srcId="{70B9B43B-4312-4F55-B3BC-A6A20C80A776}" destId="{B3F6C876-DC4C-440A-91B3-7D23D204A5C6}" srcOrd="1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EA5227B3-569E-4543-A3F2-C185D5C3AA47}" type="doc">
      <dgm:prSet loTypeId="urn:microsoft.com/office/officeart/2005/8/layout/process5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id-ID"/>
        </a:p>
      </dgm:t>
    </dgm:pt>
    <dgm:pt modelId="{44D17B0D-64C5-4F61-B537-9E282C062F3E}">
      <dgm:prSet phldrT="[Text]"/>
      <dgm:spPr>
        <a:blipFill rotWithShape="0">
          <a:blip xmlns:r="http://schemas.openxmlformats.org/officeDocument/2006/relationships" r:embed="rId1"/>
          <a:stretch>
            <a:fillRect r="-1166"/>
          </a:stretch>
        </a:blipFill>
        <a:ln>
          <a:solidFill>
            <a:srgbClr val="FF99FF"/>
          </a:solidFill>
        </a:ln>
      </dgm:spPr>
      <dgm:t>
        <a:bodyPr/>
        <a:lstStyle/>
        <a:p>
          <a:r>
            <a:rPr lang="id-ID">
              <a:noFill/>
            </a:rPr>
            <a:t> </a:t>
          </a:r>
        </a:p>
      </dgm:t>
    </dgm:pt>
    <dgm:pt modelId="{3A0DBCD4-1DC0-40E5-9252-38C018A7F68C}" type="parTrans" cxnId="{35A43F40-73EB-4023-9AF9-122ED03CA104}">
      <dgm:prSet/>
      <dgm:spPr/>
      <dgm:t>
        <a:bodyPr/>
        <a:lstStyle/>
        <a:p>
          <a:endParaRPr lang="id-ID"/>
        </a:p>
      </dgm:t>
    </dgm:pt>
    <dgm:pt modelId="{781332FE-2B05-47C3-A3D6-53BB8464EE0F}" type="sibTrans" cxnId="{35A43F40-73EB-4023-9AF9-122ED03CA104}">
      <dgm:prSet/>
      <dgm:spPr>
        <a:solidFill>
          <a:srgbClr val="7030A0"/>
        </a:solidFill>
      </dgm:spPr>
      <dgm:t>
        <a:bodyPr/>
        <a:lstStyle/>
        <a:p>
          <a:endParaRPr lang="id-ID"/>
        </a:p>
      </dgm:t>
    </dgm:pt>
    <dgm:pt modelId="{29F87AB8-C566-4D77-9123-02CE98411B15}">
      <dgm:prSet phldrT="[Text]" custT="1"/>
      <dgm:spPr>
        <a:solidFill>
          <a:srgbClr val="33CCFF"/>
        </a:solidFill>
        <a:ln>
          <a:solidFill>
            <a:srgbClr val="33CCFF"/>
          </a:solidFill>
        </a:ln>
      </dgm:spPr>
      <dgm:t>
        <a:bodyPr/>
        <a:lstStyle/>
        <a:p>
          <a:r>
            <a:rPr lang="en-US" sz="1800" b="1" dirty="0" err="1" smtClean="0">
              <a:solidFill>
                <a:schemeClr val="tx1"/>
              </a:solidFill>
            </a:rPr>
            <a:t>Hitung</a:t>
          </a:r>
          <a:r>
            <a:rPr lang="en-US" sz="1800" b="1" dirty="0" smtClean="0">
              <a:solidFill>
                <a:schemeClr val="tx1"/>
              </a:solidFill>
            </a:rPr>
            <a:t> rata-rata </a:t>
          </a:r>
          <a:r>
            <a:rPr lang="en-US" sz="1800" b="1" dirty="0" err="1" smtClean="0">
              <a:solidFill>
                <a:schemeClr val="tx1"/>
              </a:solidFill>
            </a:rPr>
            <a:t>setiap</a:t>
          </a:r>
          <a:r>
            <a:rPr lang="en-US" sz="1800" b="1" dirty="0" smtClean="0">
              <a:solidFill>
                <a:schemeClr val="tx1"/>
              </a:solidFill>
            </a:rPr>
            <a:t> </a:t>
          </a:r>
          <a:r>
            <a:rPr lang="en-US" sz="1800" b="1" dirty="0" err="1" smtClean="0">
              <a:solidFill>
                <a:schemeClr val="tx1"/>
              </a:solidFill>
            </a:rPr>
            <a:t>variabel</a:t>
          </a:r>
          <a:r>
            <a:rPr lang="en-US" sz="1800" b="1" dirty="0" smtClean="0">
              <a:solidFill>
                <a:schemeClr val="tx1"/>
              </a:solidFill>
            </a:rPr>
            <a:t> </a:t>
          </a:r>
          <a:r>
            <a:rPr lang="en-US" sz="1800" b="1" dirty="0" err="1" smtClean="0">
              <a:solidFill>
                <a:schemeClr val="tx1"/>
              </a:solidFill>
            </a:rPr>
            <a:t>untuk</a:t>
          </a:r>
          <a:r>
            <a:rPr lang="en-US" sz="1800" b="1" dirty="0" smtClean="0">
              <a:solidFill>
                <a:schemeClr val="tx1"/>
              </a:solidFill>
            </a:rPr>
            <a:t> </a:t>
          </a:r>
          <a:r>
            <a:rPr lang="en-US" sz="1800" b="1" dirty="0" err="1" smtClean="0">
              <a:solidFill>
                <a:schemeClr val="tx1"/>
              </a:solidFill>
            </a:rPr>
            <a:t>setiap</a:t>
          </a:r>
          <a:r>
            <a:rPr lang="en-US" sz="1800" b="1" dirty="0" smtClean="0">
              <a:solidFill>
                <a:schemeClr val="tx1"/>
              </a:solidFill>
            </a:rPr>
            <a:t> </a:t>
          </a:r>
          <a:r>
            <a:rPr lang="en-US" sz="1800" b="1" dirty="0" err="1" smtClean="0">
              <a:solidFill>
                <a:schemeClr val="tx1"/>
              </a:solidFill>
            </a:rPr>
            <a:t>kelompok</a:t>
          </a:r>
          <a:endParaRPr lang="id-ID" sz="1800" b="1" dirty="0">
            <a:solidFill>
              <a:schemeClr val="tx1"/>
            </a:solidFill>
          </a:endParaRPr>
        </a:p>
      </dgm:t>
    </dgm:pt>
    <dgm:pt modelId="{005B1319-A3A5-410A-B868-3A323022C61A}" type="parTrans" cxnId="{00AC21D3-E7D0-45E9-8441-C2BC9E5EAB9A}">
      <dgm:prSet/>
      <dgm:spPr/>
      <dgm:t>
        <a:bodyPr/>
        <a:lstStyle/>
        <a:p>
          <a:endParaRPr lang="id-ID"/>
        </a:p>
      </dgm:t>
    </dgm:pt>
    <dgm:pt modelId="{BC7CFC4A-09FA-4C4B-889F-2C595F055BDA}" type="sibTrans" cxnId="{00AC21D3-E7D0-45E9-8441-C2BC9E5EAB9A}">
      <dgm:prSet/>
      <dgm:spPr>
        <a:solidFill>
          <a:srgbClr val="7030A0"/>
        </a:solidFill>
      </dgm:spPr>
      <dgm:t>
        <a:bodyPr/>
        <a:lstStyle/>
        <a:p>
          <a:endParaRPr lang="id-ID"/>
        </a:p>
      </dgm:t>
    </dgm:pt>
    <dgm:pt modelId="{398E0822-2FD7-490A-88E5-872C22CA5F5D}">
      <dgm:prSet phldrT="[Text]" custT="1"/>
      <dgm:spPr>
        <a:solidFill>
          <a:srgbClr val="FF9933"/>
        </a:solidFill>
        <a:ln>
          <a:solidFill>
            <a:srgbClr val="FF9933"/>
          </a:solidFill>
        </a:ln>
      </dgm:spPr>
      <dgm:t>
        <a:bodyPr/>
        <a:lstStyle/>
        <a:p>
          <a:r>
            <a:rPr lang="en-US" sz="1800" b="1" dirty="0" err="1" smtClean="0">
              <a:solidFill>
                <a:schemeClr val="tx1"/>
              </a:solidFill>
            </a:rPr>
            <a:t>Bangun</a:t>
          </a:r>
          <a:r>
            <a:rPr lang="en-US" sz="1800" b="1" dirty="0" smtClean="0">
              <a:solidFill>
                <a:schemeClr val="tx1"/>
              </a:solidFill>
            </a:rPr>
            <a:t> </a:t>
          </a:r>
          <a:r>
            <a:rPr lang="en-US" sz="1800" b="1" dirty="0" err="1" smtClean="0">
              <a:solidFill>
                <a:schemeClr val="tx1"/>
              </a:solidFill>
            </a:rPr>
            <a:t>matriks</a:t>
          </a:r>
          <a:r>
            <a:rPr lang="en-US" sz="1800" b="1" dirty="0" smtClean="0">
              <a:solidFill>
                <a:schemeClr val="tx1"/>
              </a:solidFill>
            </a:rPr>
            <a:t> </a:t>
          </a:r>
          <a:r>
            <a:rPr lang="en-US" sz="1800" b="1" dirty="0" err="1" smtClean="0">
              <a:solidFill>
                <a:schemeClr val="tx1"/>
              </a:solidFill>
            </a:rPr>
            <a:t>kovariansi</a:t>
          </a:r>
          <a:r>
            <a:rPr lang="en-US" sz="1800" b="1" dirty="0" smtClean="0">
              <a:solidFill>
                <a:schemeClr val="tx1"/>
              </a:solidFill>
            </a:rPr>
            <a:t> </a:t>
          </a:r>
          <a:r>
            <a:rPr lang="en-US" sz="1800" b="1" dirty="0" err="1" smtClean="0">
              <a:solidFill>
                <a:schemeClr val="tx1"/>
              </a:solidFill>
            </a:rPr>
            <a:t>gabungan</a:t>
          </a:r>
          <a:r>
            <a:rPr lang="en-US" sz="1800" b="1" dirty="0" smtClean="0">
              <a:solidFill>
                <a:schemeClr val="tx1"/>
              </a:solidFill>
            </a:rPr>
            <a:t> </a:t>
          </a:r>
          <a:endParaRPr lang="id-ID" sz="1800" b="1" dirty="0">
            <a:solidFill>
              <a:schemeClr val="tx1"/>
            </a:solidFill>
          </a:endParaRPr>
        </a:p>
      </dgm:t>
    </dgm:pt>
    <dgm:pt modelId="{2B295A94-681B-4EFA-85C4-9B195ED8BF53}" type="parTrans" cxnId="{7A51D9B3-DDDF-4499-807B-1A2AB33F588E}">
      <dgm:prSet/>
      <dgm:spPr/>
      <dgm:t>
        <a:bodyPr/>
        <a:lstStyle/>
        <a:p>
          <a:endParaRPr lang="id-ID"/>
        </a:p>
      </dgm:t>
    </dgm:pt>
    <dgm:pt modelId="{CC9C0A35-F171-473D-B375-1601E849681E}" type="sibTrans" cxnId="{7A51D9B3-DDDF-4499-807B-1A2AB33F588E}">
      <dgm:prSet/>
      <dgm:spPr>
        <a:solidFill>
          <a:srgbClr val="7030A0"/>
        </a:solidFill>
      </dgm:spPr>
      <dgm:t>
        <a:bodyPr/>
        <a:lstStyle/>
        <a:p>
          <a:endParaRPr lang="id-ID"/>
        </a:p>
      </dgm:t>
    </dgm:pt>
    <dgm:pt modelId="{B4D4D99B-4333-46B3-8C58-9CA17F061DEF}">
      <dgm:prSet phldrT="[Text]" custT="1"/>
      <dgm:spPr>
        <a:solidFill>
          <a:srgbClr val="92D050"/>
        </a:solidFill>
        <a:ln>
          <a:solidFill>
            <a:srgbClr val="92D050"/>
          </a:solidFill>
        </a:ln>
      </dgm:spPr>
      <dgm:t>
        <a:bodyPr/>
        <a:lstStyle/>
        <a:p>
          <a:r>
            <a:rPr lang="en-US" sz="1800" b="1" dirty="0" err="1" smtClean="0">
              <a:solidFill>
                <a:schemeClr val="tx1"/>
              </a:solidFill>
            </a:rPr>
            <a:t>Bangun</a:t>
          </a:r>
          <a:r>
            <a:rPr lang="en-US" sz="1800" b="1" dirty="0" smtClean="0">
              <a:solidFill>
                <a:schemeClr val="tx1"/>
              </a:solidFill>
            </a:rPr>
            <a:t> K</a:t>
          </a:r>
          <a:r>
            <a:rPr lang="id-ID" sz="1800" b="1" dirty="0" smtClean="0">
              <a:solidFill>
                <a:schemeClr val="tx1"/>
              </a:solidFill>
            </a:rPr>
            <a:t>ombinasi Linear Fisher </a:t>
          </a:r>
          <a:endParaRPr lang="id-ID" sz="1800" b="1" dirty="0">
            <a:solidFill>
              <a:schemeClr val="tx1"/>
            </a:solidFill>
          </a:endParaRPr>
        </a:p>
      </dgm:t>
    </dgm:pt>
    <dgm:pt modelId="{DFD1E498-AEB7-464A-A315-09A55584B6D3}" type="parTrans" cxnId="{6CB72198-A21F-4778-8BC1-AE629BBE4B44}">
      <dgm:prSet/>
      <dgm:spPr/>
      <dgm:t>
        <a:bodyPr/>
        <a:lstStyle/>
        <a:p>
          <a:endParaRPr lang="id-ID"/>
        </a:p>
      </dgm:t>
    </dgm:pt>
    <dgm:pt modelId="{879AB19C-372C-4A68-83FC-A4DF7A6C27AF}" type="sibTrans" cxnId="{6CB72198-A21F-4778-8BC1-AE629BBE4B44}">
      <dgm:prSet/>
      <dgm:spPr>
        <a:solidFill>
          <a:srgbClr val="7030A0"/>
        </a:solidFill>
      </dgm:spPr>
      <dgm:t>
        <a:bodyPr/>
        <a:lstStyle/>
        <a:p>
          <a:endParaRPr lang="id-ID"/>
        </a:p>
      </dgm:t>
    </dgm:pt>
    <dgm:pt modelId="{1DDEC921-8159-46C2-B22A-6FF788C899B9}">
      <dgm:prSet phldrT="[Text]" custT="1"/>
      <dgm:spPr>
        <a:solidFill>
          <a:srgbClr val="FFFF99"/>
        </a:solidFill>
        <a:ln>
          <a:solidFill>
            <a:srgbClr val="FFFF99"/>
          </a:solidFill>
        </a:ln>
      </dgm:spPr>
      <dgm:t>
        <a:bodyPr/>
        <a:lstStyle/>
        <a:p>
          <a:r>
            <a:rPr lang="id-ID" sz="1800" b="1" dirty="0" smtClean="0">
              <a:solidFill>
                <a:schemeClr val="tx1"/>
              </a:solidFill>
            </a:rPr>
            <a:t>Menghitung skor diskriminan</a:t>
          </a:r>
          <a:r>
            <a:rPr lang="en-US" sz="1800" b="1" dirty="0" smtClean="0">
              <a:solidFill>
                <a:schemeClr val="tx1"/>
              </a:solidFill>
            </a:rPr>
            <a:t> </a:t>
          </a:r>
          <a:endParaRPr lang="id-ID" sz="1800" b="1" dirty="0">
            <a:solidFill>
              <a:schemeClr val="tx1"/>
            </a:solidFill>
          </a:endParaRPr>
        </a:p>
      </dgm:t>
    </dgm:pt>
    <dgm:pt modelId="{E245D139-39E4-41BD-B857-4D581525A005}" type="parTrans" cxnId="{EE5D1F55-3BCE-488D-BA5F-5EBC321CD113}">
      <dgm:prSet/>
      <dgm:spPr/>
      <dgm:t>
        <a:bodyPr/>
        <a:lstStyle/>
        <a:p>
          <a:endParaRPr lang="id-ID"/>
        </a:p>
      </dgm:t>
    </dgm:pt>
    <dgm:pt modelId="{8DCECDCC-CC15-49C5-9037-3344CA13E213}" type="sibTrans" cxnId="{EE5D1F55-3BCE-488D-BA5F-5EBC321CD113}">
      <dgm:prSet/>
      <dgm:spPr>
        <a:solidFill>
          <a:srgbClr val="7030A0"/>
        </a:solidFill>
      </dgm:spPr>
      <dgm:t>
        <a:bodyPr/>
        <a:lstStyle/>
        <a:p>
          <a:endParaRPr lang="id-ID"/>
        </a:p>
      </dgm:t>
    </dgm:pt>
    <dgm:pt modelId="{80986B52-A662-4451-9A82-5DD19D1E85B1}">
      <dgm:prSet phldrT="[Text]" custT="1"/>
      <dgm:spPr>
        <a:solidFill>
          <a:srgbClr val="CC99FF"/>
        </a:solidFill>
        <a:ln>
          <a:solidFill>
            <a:srgbClr val="CC99FF"/>
          </a:solidFill>
        </a:ln>
      </dgm:spPr>
      <dgm:t>
        <a:bodyPr/>
        <a:lstStyle/>
        <a:p>
          <a:r>
            <a:rPr lang="id-ID" sz="2000" b="1" dirty="0" smtClean="0">
              <a:solidFill>
                <a:schemeClr val="tx1"/>
              </a:solidFill>
            </a:rPr>
            <a:t>Penghitungan </a:t>
          </a:r>
          <a:r>
            <a:rPr lang="en-US" sz="2000" b="1" i="1" dirty="0" smtClean="0">
              <a:solidFill>
                <a:schemeClr val="tx1"/>
              </a:solidFill>
            </a:rPr>
            <a:t>h</a:t>
          </a:r>
          <a:r>
            <a:rPr lang="id-ID" sz="2000" b="1" i="1" dirty="0" smtClean="0">
              <a:solidFill>
                <a:schemeClr val="tx1"/>
              </a:solidFill>
            </a:rPr>
            <a:t>it </a:t>
          </a:r>
          <a:r>
            <a:rPr lang="en-US" sz="2000" b="1" i="1" dirty="0" smtClean="0">
              <a:solidFill>
                <a:schemeClr val="tx1"/>
              </a:solidFill>
            </a:rPr>
            <a:t>r</a:t>
          </a:r>
          <a:r>
            <a:rPr lang="id-ID" sz="2000" b="1" i="1" dirty="0" smtClean="0">
              <a:solidFill>
                <a:schemeClr val="tx1"/>
              </a:solidFill>
            </a:rPr>
            <a:t>atio</a:t>
          </a:r>
          <a:endParaRPr lang="id-ID" sz="2000" b="1" dirty="0">
            <a:solidFill>
              <a:schemeClr val="tx1"/>
            </a:solidFill>
          </a:endParaRPr>
        </a:p>
      </dgm:t>
    </dgm:pt>
    <dgm:pt modelId="{56E19262-0E9D-444E-977D-52C3B842CA1A}" type="parTrans" cxnId="{21AD90F7-F56A-4D2B-B966-E49193BCC845}">
      <dgm:prSet/>
      <dgm:spPr/>
      <dgm:t>
        <a:bodyPr/>
        <a:lstStyle/>
        <a:p>
          <a:endParaRPr lang="id-ID"/>
        </a:p>
      </dgm:t>
    </dgm:pt>
    <dgm:pt modelId="{E32C8ADE-41CC-4C31-91E6-061DB95D71F3}" type="sibTrans" cxnId="{21AD90F7-F56A-4D2B-B966-E49193BCC845}">
      <dgm:prSet/>
      <dgm:spPr/>
      <dgm:t>
        <a:bodyPr/>
        <a:lstStyle/>
        <a:p>
          <a:endParaRPr lang="id-ID"/>
        </a:p>
      </dgm:t>
    </dgm:pt>
    <dgm:pt modelId="{B1261150-2A2B-470D-BBF4-B85AFDBAC87B}">
      <dgm:prSet phldrT="[Text]" custT="1"/>
      <dgm:spPr>
        <a:solidFill>
          <a:srgbClr val="FF0066"/>
        </a:solidFill>
        <a:ln>
          <a:solidFill>
            <a:srgbClr val="FF0066"/>
          </a:solidFill>
        </a:ln>
      </dgm:spPr>
      <dgm:t>
        <a:bodyPr/>
        <a:lstStyle/>
        <a:p>
          <a:r>
            <a:rPr lang="id-ID" sz="2000" b="1" dirty="0" smtClean="0">
              <a:solidFill>
                <a:schemeClr val="tx1"/>
              </a:solidFill>
            </a:rPr>
            <a:t>Menghitung </a:t>
          </a:r>
          <a:r>
            <a:rPr lang="id-ID" sz="2000" b="1" i="1" dirty="0" smtClean="0">
              <a:solidFill>
                <a:schemeClr val="tx1"/>
              </a:solidFill>
            </a:rPr>
            <a:t>cutting score</a:t>
          </a:r>
          <a:endParaRPr lang="id-ID" sz="2000" b="1" dirty="0">
            <a:solidFill>
              <a:schemeClr val="tx1"/>
            </a:solidFill>
          </a:endParaRPr>
        </a:p>
      </dgm:t>
    </dgm:pt>
    <dgm:pt modelId="{741576A4-BB12-42E7-A5CD-B6BFD638CF29}" type="parTrans" cxnId="{10B42B5C-4188-4E72-8549-50E02577DF97}">
      <dgm:prSet/>
      <dgm:spPr/>
      <dgm:t>
        <a:bodyPr/>
        <a:lstStyle/>
        <a:p>
          <a:endParaRPr lang="id-ID"/>
        </a:p>
      </dgm:t>
    </dgm:pt>
    <dgm:pt modelId="{17E34E73-26D0-42CE-B7B5-102D18DAFE4F}" type="sibTrans" cxnId="{10B42B5C-4188-4E72-8549-50E02577DF97}">
      <dgm:prSet/>
      <dgm:spPr>
        <a:solidFill>
          <a:srgbClr val="7030A0"/>
        </a:solidFill>
      </dgm:spPr>
      <dgm:t>
        <a:bodyPr/>
        <a:lstStyle/>
        <a:p>
          <a:endParaRPr lang="id-ID"/>
        </a:p>
      </dgm:t>
    </dgm:pt>
    <dgm:pt modelId="{70B9B43B-4312-4F55-B3BC-A6A20C80A776}" type="pres">
      <dgm:prSet presAssocID="{EA5227B3-569E-4543-A3F2-C185D5C3AA47}" presName="diagram" presStyleCnt="0">
        <dgm:presLayoutVars>
          <dgm:dir/>
          <dgm:resizeHandles val="exact"/>
        </dgm:presLayoutVars>
      </dgm:prSet>
      <dgm:spPr/>
    </dgm:pt>
    <dgm:pt modelId="{68DE9B90-FF88-427E-A58A-0149D39AED28}" type="pres">
      <dgm:prSet presAssocID="{44D17B0D-64C5-4F61-B537-9E282C062F3E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id-ID"/>
        </a:p>
      </dgm:t>
    </dgm:pt>
    <dgm:pt modelId="{FE006960-BC87-4FE8-ACDD-A918B7AAA70A}" type="pres">
      <dgm:prSet presAssocID="{781332FE-2B05-47C3-A3D6-53BB8464EE0F}" presName="sibTrans" presStyleLbl="sibTrans2D1" presStyleIdx="0" presStyleCnt="6"/>
      <dgm:spPr/>
    </dgm:pt>
    <dgm:pt modelId="{7586C63A-9DCE-4747-8E34-8E7C98970917}" type="pres">
      <dgm:prSet presAssocID="{781332FE-2B05-47C3-A3D6-53BB8464EE0F}" presName="connectorText" presStyleLbl="sibTrans2D1" presStyleIdx="0" presStyleCnt="6"/>
      <dgm:spPr/>
    </dgm:pt>
    <dgm:pt modelId="{C663D752-1C7D-4468-AC81-F90B20F9E3DC}" type="pres">
      <dgm:prSet presAssocID="{29F87AB8-C566-4D77-9123-02CE98411B15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id-ID"/>
        </a:p>
      </dgm:t>
    </dgm:pt>
    <dgm:pt modelId="{E77C461F-80DB-403D-9463-F6366E095577}" type="pres">
      <dgm:prSet presAssocID="{BC7CFC4A-09FA-4C4B-889F-2C595F055BDA}" presName="sibTrans" presStyleLbl="sibTrans2D1" presStyleIdx="1" presStyleCnt="6"/>
      <dgm:spPr/>
    </dgm:pt>
    <dgm:pt modelId="{22873028-C3DF-4404-B798-1DEF38D9F630}" type="pres">
      <dgm:prSet presAssocID="{BC7CFC4A-09FA-4C4B-889F-2C595F055BDA}" presName="connectorText" presStyleLbl="sibTrans2D1" presStyleIdx="1" presStyleCnt="6"/>
      <dgm:spPr/>
    </dgm:pt>
    <dgm:pt modelId="{9BEA32ED-D2C5-4196-9EFA-D35C95FAA9D4}" type="pres">
      <dgm:prSet presAssocID="{398E0822-2FD7-490A-88E5-872C22CA5F5D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id-ID"/>
        </a:p>
      </dgm:t>
    </dgm:pt>
    <dgm:pt modelId="{31333B5C-7F1C-4082-A91E-9DB266FAA769}" type="pres">
      <dgm:prSet presAssocID="{CC9C0A35-F171-473D-B375-1601E849681E}" presName="sibTrans" presStyleLbl="sibTrans2D1" presStyleIdx="2" presStyleCnt="6"/>
      <dgm:spPr/>
    </dgm:pt>
    <dgm:pt modelId="{A1DFFAFB-DBC1-44E2-B0C2-17C901C0221F}" type="pres">
      <dgm:prSet presAssocID="{CC9C0A35-F171-473D-B375-1601E849681E}" presName="connectorText" presStyleLbl="sibTrans2D1" presStyleIdx="2" presStyleCnt="6"/>
      <dgm:spPr/>
    </dgm:pt>
    <dgm:pt modelId="{5ED9CD20-F149-4713-9495-197CADF124AF}" type="pres">
      <dgm:prSet presAssocID="{B4D4D99B-4333-46B3-8C58-9CA17F061DEF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id-ID"/>
        </a:p>
      </dgm:t>
    </dgm:pt>
    <dgm:pt modelId="{0A255D4D-CEAE-4A91-BE94-4BD2D0AA8DEC}" type="pres">
      <dgm:prSet presAssocID="{879AB19C-372C-4A68-83FC-A4DF7A6C27AF}" presName="sibTrans" presStyleLbl="sibTrans2D1" presStyleIdx="3" presStyleCnt="6"/>
      <dgm:spPr/>
    </dgm:pt>
    <dgm:pt modelId="{17EBDACD-7163-461A-84E6-BFB90B4A90C6}" type="pres">
      <dgm:prSet presAssocID="{879AB19C-372C-4A68-83FC-A4DF7A6C27AF}" presName="connectorText" presStyleLbl="sibTrans2D1" presStyleIdx="3" presStyleCnt="6"/>
      <dgm:spPr/>
    </dgm:pt>
    <dgm:pt modelId="{69759FE9-4488-44D0-89D8-C01759C86D40}" type="pres">
      <dgm:prSet presAssocID="{1DDEC921-8159-46C2-B22A-6FF788C899B9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id-ID"/>
        </a:p>
      </dgm:t>
    </dgm:pt>
    <dgm:pt modelId="{A459E245-0B47-4C2E-9779-F13F1E66EE9B}" type="pres">
      <dgm:prSet presAssocID="{8DCECDCC-CC15-49C5-9037-3344CA13E213}" presName="sibTrans" presStyleLbl="sibTrans2D1" presStyleIdx="4" presStyleCnt="6"/>
      <dgm:spPr/>
    </dgm:pt>
    <dgm:pt modelId="{03DE1DE5-FFCA-48C2-B2B3-4C7EAA6A0611}" type="pres">
      <dgm:prSet presAssocID="{8DCECDCC-CC15-49C5-9037-3344CA13E213}" presName="connectorText" presStyleLbl="sibTrans2D1" presStyleIdx="4" presStyleCnt="6"/>
      <dgm:spPr/>
    </dgm:pt>
    <dgm:pt modelId="{688A4609-EF46-4F6C-97C8-0EBD9EDE6A73}" type="pres">
      <dgm:prSet presAssocID="{B1261150-2A2B-470D-BBF4-B85AFDBAC87B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id-ID"/>
        </a:p>
      </dgm:t>
    </dgm:pt>
    <dgm:pt modelId="{DEB8ECF6-C91A-4656-B3BE-E6220B306097}" type="pres">
      <dgm:prSet presAssocID="{17E34E73-26D0-42CE-B7B5-102D18DAFE4F}" presName="sibTrans" presStyleLbl="sibTrans2D1" presStyleIdx="5" presStyleCnt="6"/>
      <dgm:spPr/>
    </dgm:pt>
    <dgm:pt modelId="{6F6AD607-6450-4D3A-8934-ACDC223DD34A}" type="pres">
      <dgm:prSet presAssocID="{17E34E73-26D0-42CE-B7B5-102D18DAFE4F}" presName="connectorText" presStyleLbl="sibTrans2D1" presStyleIdx="5" presStyleCnt="6"/>
      <dgm:spPr/>
    </dgm:pt>
    <dgm:pt modelId="{989BB855-EBA5-4869-AA3A-665E5207F1FA}" type="pres">
      <dgm:prSet presAssocID="{80986B52-A662-4451-9A82-5DD19D1E85B1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id-ID"/>
        </a:p>
      </dgm:t>
    </dgm:pt>
  </dgm:ptLst>
  <dgm:cxnLst>
    <dgm:cxn modelId="{BFDD4505-0B1D-4890-A087-D6BE045FD927}" type="presOf" srcId="{879AB19C-372C-4A68-83FC-A4DF7A6C27AF}" destId="{0A255D4D-CEAE-4A91-BE94-4BD2D0AA8DEC}" srcOrd="0" destOrd="0" presId="urn:microsoft.com/office/officeart/2005/8/layout/process5"/>
    <dgm:cxn modelId="{F23D7B74-DD78-4C37-A9C8-7F4B5E329677}" type="presOf" srcId="{80986B52-A662-4451-9A82-5DD19D1E85B1}" destId="{989BB855-EBA5-4869-AA3A-665E5207F1FA}" srcOrd="0" destOrd="0" presId="urn:microsoft.com/office/officeart/2005/8/layout/process5"/>
    <dgm:cxn modelId="{973D1874-B41A-468C-B301-61A700F02DAE}" type="presOf" srcId="{781332FE-2B05-47C3-A3D6-53BB8464EE0F}" destId="{7586C63A-9DCE-4747-8E34-8E7C98970917}" srcOrd="1" destOrd="0" presId="urn:microsoft.com/office/officeart/2005/8/layout/process5"/>
    <dgm:cxn modelId="{0ABC4D32-97AA-45F4-AF5A-ED91A213B981}" type="presOf" srcId="{44D17B0D-64C5-4F61-B537-9E282C062F3E}" destId="{68DE9B90-FF88-427E-A58A-0149D39AED28}" srcOrd="0" destOrd="0" presId="urn:microsoft.com/office/officeart/2005/8/layout/process5"/>
    <dgm:cxn modelId="{0B025FCF-6D29-4717-8BF5-354DA64D3EC1}" type="presOf" srcId="{B4D4D99B-4333-46B3-8C58-9CA17F061DEF}" destId="{5ED9CD20-F149-4713-9495-197CADF124AF}" srcOrd="0" destOrd="0" presId="urn:microsoft.com/office/officeart/2005/8/layout/process5"/>
    <dgm:cxn modelId="{DC385349-2EB8-477F-87AE-533F78024E32}" type="presOf" srcId="{B1261150-2A2B-470D-BBF4-B85AFDBAC87B}" destId="{688A4609-EF46-4F6C-97C8-0EBD9EDE6A73}" srcOrd="0" destOrd="0" presId="urn:microsoft.com/office/officeart/2005/8/layout/process5"/>
    <dgm:cxn modelId="{00AC21D3-E7D0-45E9-8441-C2BC9E5EAB9A}" srcId="{EA5227B3-569E-4543-A3F2-C185D5C3AA47}" destId="{29F87AB8-C566-4D77-9123-02CE98411B15}" srcOrd="1" destOrd="0" parTransId="{005B1319-A3A5-410A-B868-3A323022C61A}" sibTransId="{BC7CFC4A-09FA-4C4B-889F-2C595F055BDA}"/>
    <dgm:cxn modelId="{8FB42093-6614-4F00-9524-282B75730CBF}" type="presOf" srcId="{BC7CFC4A-09FA-4C4B-889F-2C595F055BDA}" destId="{E77C461F-80DB-403D-9463-F6366E095577}" srcOrd="0" destOrd="0" presId="urn:microsoft.com/office/officeart/2005/8/layout/process5"/>
    <dgm:cxn modelId="{8838B90B-FB39-4E60-A688-8D988902DBF1}" type="presOf" srcId="{CC9C0A35-F171-473D-B375-1601E849681E}" destId="{31333B5C-7F1C-4082-A91E-9DB266FAA769}" srcOrd="0" destOrd="0" presId="urn:microsoft.com/office/officeart/2005/8/layout/process5"/>
    <dgm:cxn modelId="{7BB4C4BB-6646-419E-90AE-3B3477D4EE7F}" type="presOf" srcId="{1DDEC921-8159-46C2-B22A-6FF788C899B9}" destId="{69759FE9-4488-44D0-89D8-C01759C86D40}" srcOrd="0" destOrd="0" presId="urn:microsoft.com/office/officeart/2005/8/layout/process5"/>
    <dgm:cxn modelId="{6CB72198-A21F-4778-8BC1-AE629BBE4B44}" srcId="{EA5227B3-569E-4543-A3F2-C185D5C3AA47}" destId="{B4D4D99B-4333-46B3-8C58-9CA17F061DEF}" srcOrd="3" destOrd="0" parTransId="{DFD1E498-AEB7-464A-A315-09A55584B6D3}" sibTransId="{879AB19C-372C-4A68-83FC-A4DF7A6C27AF}"/>
    <dgm:cxn modelId="{97198E0F-4A48-4BC4-82E4-DED66D896C29}" type="presOf" srcId="{29F87AB8-C566-4D77-9123-02CE98411B15}" destId="{C663D752-1C7D-4468-AC81-F90B20F9E3DC}" srcOrd="0" destOrd="0" presId="urn:microsoft.com/office/officeart/2005/8/layout/process5"/>
    <dgm:cxn modelId="{761E8DD4-36F6-46F6-B544-4075466DB95F}" type="presOf" srcId="{781332FE-2B05-47C3-A3D6-53BB8464EE0F}" destId="{FE006960-BC87-4FE8-ACDD-A918B7AAA70A}" srcOrd="0" destOrd="0" presId="urn:microsoft.com/office/officeart/2005/8/layout/process5"/>
    <dgm:cxn modelId="{7A51D9B3-DDDF-4499-807B-1A2AB33F588E}" srcId="{EA5227B3-569E-4543-A3F2-C185D5C3AA47}" destId="{398E0822-2FD7-490A-88E5-872C22CA5F5D}" srcOrd="2" destOrd="0" parTransId="{2B295A94-681B-4EFA-85C4-9B195ED8BF53}" sibTransId="{CC9C0A35-F171-473D-B375-1601E849681E}"/>
    <dgm:cxn modelId="{714368A5-F0DB-405E-9F60-CA3A784E84B2}" type="presOf" srcId="{8DCECDCC-CC15-49C5-9037-3344CA13E213}" destId="{03DE1DE5-FFCA-48C2-B2B3-4C7EAA6A0611}" srcOrd="1" destOrd="0" presId="urn:microsoft.com/office/officeart/2005/8/layout/process5"/>
    <dgm:cxn modelId="{DBC76121-D68F-450A-8CD6-D66F3DF32CE0}" type="presOf" srcId="{17E34E73-26D0-42CE-B7B5-102D18DAFE4F}" destId="{DEB8ECF6-C91A-4656-B3BE-E6220B306097}" srcOrd="0" destOrd="0" presId="urn:microsoft.com/office/officeart/2005/8/layout/process5"/>
    <dgm:cxn modelId="{EE5D1F55-3BCE-488D-BA5F-5EBC321CD113}" srcId="{EA5227B3-569E-4543-A3F2-C185D5C3AA47}" destId="{1DDEC921-8159-46C2-B22A-6FF788C899B9}" srcOrd="4" destOrd="0" parTransId="{E245D139-39E4-41BD-B857-4D581525A005}" sibTransId="{8DCECDCC-CC15-49C5-9037-3344CA13E213}"/>
    <dgm:cxn modelId="{21AD90F7-F56A-4D2B-B966-E49193BCC845}" srcId="{EA5227B3-569E-4543-A3F2-C185D5C3AA47}" destId="{80986B52-A662-4451-9A82-5DD19D1E85B1}" srcOrd="6" destOrd="0" parTransId="{56E19262-0E9D-444E-977D-52C3B842CA1A}" sibTransId="{E32C8ADE-41CC-4C31-91E6-061DB95D71F3}"/>
    <dgm:cxn modelId="{10B42B5C-4188-4E72-8549-50E02577DF97}" srcId="{EA5227B3-569E-4543-A3F2-C185D5C3AA47}" destId="{B1261150-2A2B-470D-BBF4-B85AFDBAC87B}" srcOrd="5" destOrd="0" parTransId="{741576A4-BB12-42E7-A5CD-B6BFD638CF29}" sibTransId="{17E34E73-26D0-42CE-B7B5-102D18DAFE4F}"/>
    <dgm:cxn modelId="{5D585D3B-F417-4357-B33F-953EBCD32B7A}" type="presOf" srcId="{398E0822-2FD7-490A-88E5-872C22CA5F5D}" destId="{9BEA32ED-D2C5-4196-9EFA-D35C95FAA9D4}" srcOrd="0" destOrd="0" presId="urn:microsoft.com/office/officeart/2005/8/layout/process5"/>
    <dgm:cxn modelId="{44C52748-1A72-451F-AE8D-58EEE455C4EE}" type="presOf" srcId="{8DCECDCC-CC15-49C5-9037-3344CA13E213}" destId="{A459E245-0B47-4C2E-9779-F13F1E66EE9B}" srcOrd="0" destOrd="0" presId="urn:microsoft.com/office/officeart/2005/8/layout/process5"/>
    <dgm:cxn modelId="{CB491B9E-FAB8-46B0-85B0-96377564A61C}" type="presOf" srcId="{879AB19C-372C-4A68-83FC-A4DF7A6C27AF}" destId="{17EBDACD-7163-461A-84E6-BFB90B4A90C6}" srcOrd="1" destOrd="0" presId="urn:microsoft.com/office/officeart/2005/8/layout/process5"/>
    <dgm:cxn modelId="{64292649-B0D1-436E-B5F6-70509D76495B}" type="presOf" srcId="{17E34E73-26D0-42CE-B7B5-102D18DAFE4F}" destId="{6F6AD607-6450-4D3A-8934-ACDC223DD34A}" srcOrd="1" destOrd="0" presId="urn:microsoft.com/office/officeart/2005/8/layout/process5"/>
    <dgm:cxn modelId="{35A43F40-73EB-4023-9AF9-122ED03CA104}" srcId="{EA5227B3-569E-4543-A3F2-C185D5C3AA47}" destId="{44D17B0D-64C5-4F61-B537-9E282C062F3E}" srcOrd="0" destOrd="0" parTransId="{3A0DBCD4-1DC0-40E5-9252-38C018A7F68C}" sibTransId="{781332FE-2B05-47C3-A3D6-53BB8464EE0F}"/>
    <dgm:cxn modelId="{476B0FFA-4C78-4F77-8C29-B05EBF3951F2}" type="presOf" srcId="{EA5227B3-569E-4543-A3F2-C185D5C3AA47}" destId="{70B9B43B-4312-4F55-B3BC-A6A20C80A776}" srcOrd="0" destOrd="0" presId="urn:microsoft.com/office/officeart/2005/8/layout/process5"/>
    <dgm:cxn modelId="{C5EAF459-A1DA-49A5-89F2-D47E6BB3819F}" type="presOf" srcId="{CC9C0A35-F171-473D-B375-1601E849681E}" destId="{A1DFFAFB-DBC1-44E2-B0C2-17C901C0221F}" srcOrd="1" destOrd="0" presId="urn:microsoft.com/office/officeart/2005/8/layout/process5"/>
    <dgm:cxn modelId="{4BB9AB0D-8EF1-4D9E-896B-536E58BBF176}" type="presOf" srcId="{BC7CFC4A-09FA-4C4B-889F-2C595F055BDA}" destId="{22873028-C3DF-4404-B798-1DEF38D9F630}" srcOrd="1" destOrd="0" presId="urn:microsoft.com/office/officeart/2005/8/layout/process5"/>
    <dgm:cxn modelId="{98C50195-FA36-430F-B0FD-AA61A16652B5}" type="presParOf" srcId="{70B9B43B-4312-4F55-B3BC-A6A20C80A776}" destId="{68DE9B90-FF88-427E-A58A-0149D39AED28}" srcOrd="0" destOrd="0" presId="urn:microsoft.com/office/officeart/2005/8/layout/process5"/>
    <dgm:cxn modelId="{EA1DAF09-0331-4C30-AB2F-107063CC58BA}" type="presParOf" srcId="{70B9B43B-4312-4F55-B3BC-A6A20C80A776}" destId="{FE006960-BC87-4FE8-ACDD-A918B7AAA70A}" srcOrd="1" destOrd="0" presId="urn:microsoft.com/office/officeart/2005/8/layout/process5"/>
    <dgm:cxn modelId="{F06805D1-C60D-48CE-BE8A-E2D234B5F473}" type="presParOf" srcId="{FE006960-BC87-4FE8-ACDD-A918B7AAA70A}" destId="{7586C63A-9DCE-4747-8E34-8E7C98970917}" srcOrd="0" destOrd="0" presId="urn:microsoft.com/office/officeart/2005/8/layout/process5"/>
    <dgm:cxn modelId="{87DEA311-E75E-4400-9646-772B5EE6FE07}" type="presParOf" srcId="{70B9B43B-4312-4F55-B3BC-A6A20C80A776}" destId="{C663D752-1C7D-4468-AC81-F90B20F9E3DC}" srcOrd="2" destOrd="0" presId="urn:microsoft.com/office/officeart/2005/8/layout/process5"/>
    <dgm:cxn modelId="{6D077B0E-3F78-48C1-9158-AA0378DEC7F7}" type="presParOf" srcId="{70B9B43B-4312-4F55-B3BC-A6A20C80A776}" destId="{E77C461F-80DB-403D-9463-F6366E095577}" srcOrd="3" destOrd="0" presId="urn:microsoft.com/office/officeart/2005/8/layout/process5"/>
    <dgm:cxn modelId="{72873C45-8205-4A50-A7F7-5CA51BCA84E2}" type="presParOf" srcId="{E77C461F-80DB-403D-9463-F6366E095577}" destId="{22873028-C3DF-4404-B798-1DEF38D9F630}" srcOrd="0" destOrd="0" presId="urn:microsoft.com/office/officeart/2005/8/layout/process5"/>
    <dgm:cxn modelId="{FC4F2735-6CDE-4167-A2AE-C7E21C24162A}" type="presParOf" srcId="{70B9B43B-4312-4F55-B3BC-A6A20C80A776}" destId="{9BEA32ED-D2C5-4196-9EFA-D35C95FAA9D4}" srcOrd="4" destOrd="0" presId="urn:microsoft.com/office/officeart/2005/8/layout/process5"/>
    <dgm:cxn modelId="{38B98D27-0D7A-43C0-A60C-9C0CF68F8AF3}" type="presParOf" srcId="{70B9B43B-4312-4F55-B3BC-A6A20C80A776}" destId="{31333B5C-7F1C-4082-A91E-9DB266FAA769}" srcOrd="5" destOrd="0" presId="urn:microsoft.com/office/officeart/2005/8/layout/process5"/>
    <dgm:cxn modelId="{AD7EBDCD-CDC0-4B17-A0C6-333A0B961333}" type="presParOf" srcId="{31333B5C-7F1C-4082-A91E-9DB266FAA769}" destId="{A1DFFAFB-DBC1-44E2-B0C2-17C901C0221F}" srcOrd="0" destOrd="0" presId="urn:microsoft.com/office/officeart/2005/8/layout/process5"/>
    <dgm:cxn modelId="{8EE1DD90-C902-48A8-A725-E0562A403B05}" type="presParOf" srcId="{70B9B43B-4312-4F55-B3BC-A6A20C80A776}" destId="{5ED9CD20-F149-4713-9495-197CADF124AF}" srcOrd="6" destOrd="0" presId="urn:microsoft.com/office/officeart/2005/8/layout/process5"/>
    <dgm:cxn modelId="{E7BDD516-4FE0-493E-B6D2-2FF0EB8532C8}" type="presParOf" srcId="{70B9B43B-4312-4F55-B3BC-A6A20C80A776}" destId="{0A255D4D-CEAE-4A91-BE94-4BD2D0AA8DEC}" srcOrd="7" destOrd="0" presId="urn:microsoft.com/office/officeart/2005/8/layout/process5"/>
    <dgm:cxn modelId="{ACCA7C79-F8C0-458F-BDA5-4BA1405D70FF}" type="presParOf" srcId="{0A255D4D-CEAE-4A91-BE94-4BD2D0AA8DEC}" destId="{17EBDACD-7163-461A-84E6-BFB90B4A90C6}" srcOrd="0" destOrd="0" presId="urn:microsoft.com/office/officeart/2005/8/layout/process5"/>
    <dgm:cxn modelId="{5B69B4BA-C7D8-45F8-B585-5670CEA72473}" type="presParOf" srcId="{70B9B43B-4312-4F55-B3BC-A6A20C80A776}" destId="{69759FE9-4488-44D0-89D8-C01759C86D40}" srcOrd="8" destOrd="0" presId="urn:microsoft.com/office/officeart/2005/8/layout/process5"/>
    <dgm:cxn modelId="{0E9DE90D-7986-428E-8C12-87879B393858}" type="presParOf" srcId="{70B9B43B-4312-4F55-B3BC-A6A20C80A776}" destId="{A459E245-0B47-4C2E-9779-F13F1E66EE9B}" srcOrd="9" destOrd="0" presId="urn:microsoft.com/office/officeart/2005/8/layout/process5"/>
    <dgm:cxn modelId="{6DA51775-262D-4751-9982-46B7FA465286}" type="presParOf" srcId="{A459E245-0B47-4C2E-9779-F13F1E66EE9B}" destId="{03DE1DE5-FFCA-48C2-B2B3-4C7EAA6A0611}" srcOrd="0" destOrd="0" presId="urn:microsoft.com/office/officeart/2005/8/layout/process5"/>
    <dgm:cxn modelId="{9B218747-E052-42AA-AAD4-E64054F505C4}" type="presParOf" srcId="{70B9B43B-4312-4F55-B3BC-A6A20C80A776}" destId="{688A4609-EF46-4F6C-97C8-0EBD9EDE6A73}" srcOrd="10" destOrd="0" presId="urn:microsoft.com/office/officeart/2005/8/layout/process5"/>
    <dgm:cxn modelId="{EC80EAFE-14B3-449D-BFC4-4D7F9E59FED2}" type="presParOf" srcId="{70B9B43B-4312-4F55-B3BC-A6A20C80A776}" destId="{DEB8ECF6-C91A-4656-B3BE-E6220B306097}" srcOrd="11" destOrd="0" presId="urn:microsoft.com/office/officeart/2005/8/layout/process5"/>
    <dgm:cxn modelId="{2634712E-95CE-4635-8FC9-366140B16D64}" type="presParOf" srcId="{DEB8ECF6-C91A-4656-B3BE-E6220B306097}" destId="{6F6AD607-6450-4D3A-8934-ACDC223DD34A}" srcOrd="0" destOrd="0" presId="urn:microsoft.com/office/officeart/2005/8/layout/process5"/>
    <dgm:cxn modelId="{BEF0FE9C-465C-48C0-ACB6-626C6DCF0764}" type="presParOf" srcId="{70B9B43B-4312-4F55-B3BC-A6A20C80A776}" destId="{989BB855-EBA5-4869-AA3A-665E5207F1FA}" srcOrd="1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2A7F99-3A62-422A-B186-E9B517C3F017}">
      <dsp:nvSpPr>
        <dsp:cNvPr id="0" name=""/>
        <dsp:cNvSpPr/>
      </dsp:nvSpPr>
      <dsp:spPr>
        <a:xfrm>
          <a:off x="0" y="102592"/>
          <a:ext cx="8077200" cy="1623616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0" kern="1200" dirty="0" smtClean="0">
              <a:solidFill>
                <a:schemeClr val="tx1"/>
              </a:solidFill>
            </a:rPr>
            <a:t>Statistik </a:t>
          </a:r>
          <a14:m xmlns:a14="http://schemas.microsoft.com/office/drawing/2010/main">
            <m:oMath xmlns:m="http://schemas.openxmlformats.org/officeDocument/2006/math">
              <m:sSup>
                <m:sSupPr>
                  <m:ctrlPr>
                    <a:rPr lang="en-US" sz="2400" b="0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</m:ctrlPr>
                </m:sSupPr>
                <m:e>
                  <m:r>
                    <a:rPr lang="en-US" sz="2400" b="0" i="1" kern="1200" smtClean="0">
                      <a:solidFill>
                        <a:schemeClr val="tx1"/>
                      </a:solidFill>
                      <a:latin typeface="Cambria Math"/>
                    </a:rPr>
                    <m:t>𝑇</m:t>
                  </m:r>
                </m:e>
                <m:sup>
                  <m:r>
                    <a:rPr lang="en-US" sz="2400" b="0" i="1" kern="1200" smtClean="0">
                      <a:solidFill>
                        <a:schemeClr val="tx1"/>
                      </a:solidFill>
                      <a:latin typeface="Cambria Math"/>
                    </a:rPr>
                    <m:t>2</m:t>
                  </m:r>
                </m:sup>
              </m:sSup>
            </m:oMath>
          </a14:m>
          <a:r>
            <a:rPr lang="en-US" sz="2400" kern="1200" dirty="0" smtClean="0">
              <a:solidFill>
                <a:schemeClr val="tx1"/>
              </a:solidFill>
            </a:rPr>
            <a:t> </a:t>
          </a:r>
          <a:r>
            <a:rPr lang="en-US" sz="2400" kern="1200" dirty="0" err="1" smtClean="0">
              <a:solidFill>
                <a:schemeClr val="tx1"/>
              </a:solidFill>
            </a:rPr>
            <a:t>untuk</a:t>
          </a:r>
          <a:r>
            <a:rPr lang="en-US" sz="2400" kern="1200" dirty="0" smtClean="0">
              <a:solidFill>
                <a:schemeClr val="tx1"/>
              </a:solidFill>
            </a:rPr>
            <a:t> </a:t>
          </a:r>
          <a:r>
            <a:rPr lang="en-US" sz="2400" kern="1200" dirty="0" err="1" smtClean="0">
              <a:solidFill>
                <a:schemeClr val="tx1"/>
              </a:solidFill>
            </a:rPr>
            <a:t>uji</a:t>
          </a:r>
          <a:r>
            <a:rPr lang="en-US" sz="2400" kern="1200" dirty="0" smtClean="0">
              <a:solidFill>
                <a:schemeClr val="tx1"/>
              </a:solidFill>
            </a:rPr>
            <a:t> </a:t>
          </a:r>
          <a:r>
            <a:rPr lang="en-US" sz="2400" kern="1200" dirty="0" err="1">
              <a:solidFill>
                <a:schemeClr val="tx1"/>
              </a:solidFill>
            </a:rPr>
            <a:t>beda</a:t>
          </a:r>
          <a:r>
            <a:rPr lang="en-US" sz="2400" kern="1200" dirty="0">
              <a:solidFill>
                <a:schemeClr val="tx1"/>
              </a:solidFill>
            </a:rPr>
            <a:t> </a:t>
          </a:r>
          <a:r>
            <a:rPr lang="en-US" sz="2400" kern="1200" dirty="0" smtClean="0">
              <a:solidFill>
                <a:schemeClr val="tx1"/>
              </a:solidFill>
            </a:rPr>
            <a:t>rata-rata </a:t>
          </a:r>
          <a:r>
            <a:rPr lang="en-US" sz="2400" b="1" kern="1200" dirty="0" err="1">
              <a:solidFill>
                <a:schemeClr val="tx1"/>
              </a:solidFill>
            </a:rPr>
            <a:t>dua</a:t>
          </a:r>
          <a:r>
            <a:rPr lang="en-US" sz="2400" b="1" kern="1200" dirty="0">
              <a:solidFill>
                <a:schemeClr val="tx1"/>
              </a:solidFill>
            </a:rPr>
            <a:t> </a:t>
          </a:r>
          <a:r>
            <a:rPr lang="en-US" sz="2400" b="1" kern="1200" dirty="0" err="1" smtClean="0">
              <a:solidFill>
                <a:schemeClr val="tx1"/>
              </a:solidFill>
            </a:rPr>
            <a:t>populasi</a:t>
          </a:r>
          <a:r>
            <a:rPr lang="en-US" sz="2400" kern="1200" dirty="0" smtClean="0">
              <a:solidFill>
                <a:schemeClr val="tx1"/>
              </a:solidFill>
            </a:rPr>
            <a:t>: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solidFill>
                <a:schemeClr val="tx1"/>
              </a:solidFill>
            </a:rPr>
            <a:t>  </a:t>
          </a:r>
          <a14:m xmlns:a14="http://schemas.microsoft.com/office/drawing/2010/main">
            <m:oMath xmlns:m="http://schemas.openxmlformats.org/officeDocument/2006/math">
              <m:sSup>
                <m:sSupPr>
                  <m:ctrlPr>
                    <a:rPr lang="en-US" sz="24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</m:ctrlPr>
                </m:sSupPr>
                <m:e>
                  <m:r>
                    <a:rPr lang="en-US" sz="2400" b="1" i="1" kern="1200">
                      <a:solidFill>
                        <a:schemeClr val="tx1"/>
                      </a:solidFill>
                      <a:latin typeface="Cambria Math"/>
                    </a:rPr>
                    <m:t>𝑻</m:t>
                  </m:r>
                </m:e>
                <m:sup>
                  <m:r>
                    <a:rPr lang="en-US" sz="2400" b="1" i="1" kern="1200">
                      <a:solidFill>
                        <a:schemeClr val="tx1"/>
                      </a:solidFill>
                      <a:latin typeface="Cambria Math"/>
                    </a:rPr>
                    <m:t>𝟐</m:t>
                  </m:r>
                </m:sup>
              </m:sSup>
              <m:r>
                <a:rPr lang="en-US" sz="2400" b="1" i="1" kern="1200" smtClean="0">
                  <a:solidFill>
                    <a:schemeClr val="tx1"/>
                  </a:solidFill>
                  <a:latin typeface="Cambria Math"/>
                </a:rPr>
                <m:t>=</m:t>
              </m:r>
              <m:sSup>
                <m:sSupPr>
                  <m:ctrlPr>
                    <a:rPr lang="en-US" sz="24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</m:ctrlPr>
                </m:sSupPr>
                <m:e>
                  <m:d>
                    <m:dPr>
                      <m:ctrlPr>
                        <a:rPr lang="en-US" sz="2400" b="1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sSub>
                        <m:sSubPr>
                          <m:ctrlPr>
                            <a:rPr lang="en-US" sz="2400" b="1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4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b="1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</m:e>
                          </m:acc>
                        </m:e>
                        <m:sub>
                          <m:r>
                            <a:rPr lang="en-US" sz="2400" b="1" i="1" kern="120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  <m:r>
                        <a:rPr lang="en-US" sz="2400" b="1" i="1" kern="1200" smtClean="0">
                          <a:solidFill>
                            <a:schemeClr val="tx1"/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400" b="1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400" b="1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b="1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</m:e>
                          </m:acc>
                        </m:e>
                        <m:sub>
                          <m:r>
                            <a:rPr lang="en-US" sz="2400" b="1" i="1" kern="120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𝟐</m:t>
                          </m:r>
                        </m:sub>
                      </m:sSub>
                    </m:e>
                  </m:d>
                </m:e>
                <m:sup>
                  <m:r>
                    <a:rPr lang="en-US" sz="2400" b="1" i="1" kern="1200" smtClean="0">
                      <a:solidFill>
                        <a:schemeClr val="tx1"/>
                      </a:solidFill>
                      <a:latin typeface="Cambria Math"/>
                    </a:rPr>
                    <m:t>𝒕</m:t>
                  </m:r>
                </m:sup>
              </m:sSup>
              <m:sSup>
                <m:sSupPr>
                  <m:ctrlPr>
                    <a:rPr lang="en-US" sz="24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</m:ctrlPr>
                </m:sSupPr>
                <m:e>
                  <m:d>
                    <m:dPr>
                      <m:ctrlPr>
                        <a:rPr lang="en-US" sz="2400" b="1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d>
                        <m:dPr>
                          <m:ctrlPr>
                            <a:rPr lang="en-US" sz="2400" b="1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1" i="1" kern="120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400" b="1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kern="1200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n-US" sz="2400" b="1" i="1" kern="1200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b="1" i="1" kern="120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b="1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1" i="1" kern="12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400" b="1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kern="120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n-US" sz="2400" b="1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sz="2400" b="1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kern="120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𝐒</m:t>
                          </m:r>
                        </m:e>
                        <m:sub>
                          <m:r>
                            <a:rPr lang="en-US" sz="2400" b="1" i="1" kern="120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𝒑𝒍</m:t>
                          </m:r>
                        </m:sub>
                      </m:sSub>
                    </m:e>
                  </m:d>
                </m:e>
                <m:sup>
                  <m:r>
                    <a:rPr lang="en-US" sz="2400" b="1" i="1" kern="1200" smtClean="0">
                      <a:solidFill>
                        <a:schemeClr val="tx1"/>
                      </a:solidFill>
                      <a:latin typeface="Cambria Math"/>
                    </a:rPr>
                    <m:t>−</m:t>
                  </m:r>
                  <m:r>
                    <a:rPr lang="en-US" sz="2400" b="1" i="1" kern="1200" smtClean="0">
                      <a:solidFill>
                        <a:schemeClr val="tx1"/>
                      </a:solidFill>
                      <a:latin typeface="Cambria Math"/>
                    </a:rPr>
                    <m:t>𝟏</m:t>
                  </m:r>
                </m:sup>
              </m:sSup>
              <m:d>
                <m:dPr>
                  <m:ctrlPr>
                    <a:rPr lang="en-US" sz="2400" b="1" i="1" kern="120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</m:ctrlPr>
                </m:dPr>
                <m:e>
                  <m:sSub>
                    <m:sSubPr>
                      <m:ctrlPr>
                        <a:rPr lang="en-US" sz="2400" b="1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</m:ctrlPr>
                    </m:sSubPr>
                    <m:e>
                      <m:acc>
                        <m:accPr>
                          <m:chr m:val="⃗"/>
                          <m:ctrlPr>
                            <a:rPr lang="en-US" sz="2400" b="1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̅"/>
                              <m:ctrlPr>
                                <a:rPr lang="en-US" sz="2400" b="1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</m:e>
                      </m:acc>
                    </m:e>
                    <m:sub>
                      <m:r>
                        <a:rPr lang="en-US" sz="2400" b="1" i="1" kern="1200">
                          <a:solidFill>
                            <a:schemeClr val="tx1"/>
                          </a:solidFill>
                          <a:latin typeface="Cambria Math"/>
                        </a:rPr>
                        <m:t>𝟏</m:t>
                      </m:r>
                    </m:sub>
                  </m:sSub>
                  <m:r>
                    <a:rPr lang="en-US" sz="2400" b="1" i="1" kern="1200">
                      <a:solidFill>
                        <a:schemeClr val="tx1"/>
                      </a:solidFill>
                      <a:latin typeface="Cambria Math"/>
                    </a:rPr>
                    <m:t>−</m:t>
                  </m:r>
                  <m:sSub>
                    <m:sSubPr>
                      <m:ctrlPr>
                        <a:rPr lang="en-US" sz="2400" b="1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</m:ctrlPr>
                    </m:sSubPr>
                    <m:e>
                      <m:acc>
                        <m:accPr>
                          <m:chr m:val="⃗"/>
                          <m:ctrlPr>
                            <a:rPr lang="en-US" sz="2400" b="1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̅"/>
                              <m:ctrlPr>
                                <a:rPr lang="en-US" sz="2400" b="1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</m:e>
                      </m:acc>
                    </m:e>
                    <m:sub>
                      <m:r>
                        <a:rPr lang="en-US" sz="2400" b="1" i="1" kern="1200">
                          <a:solidFill>
                            <a:schemeClr val="tx1"/>
                          </a:solidFill>
                          <a:latin typeface="Cambria Math"/>
                        </a:rPr>
                        <m:t>𝟐</m:t>
                      </m:r>
                    </m:sub>
                  </m:sSub>
                </m:e>
              </m:d>
            </m:oMath>
          </a14:m>
          <a:endParaRPr lang="en-GB" sz="2400" b="1" kern="1200" dirty="0">
            <a:solidFill>
              <a:schemeClr val="tx1"/>
            </a:solidFill>
          </a:endParaRPr>
        </a:p>
      </dsp:txBody>
      <dsp:txXfrm>
        <a:off x="47554" y="150146"/>
        <a:ext cx="7982092" cy="1528508"/>
      </dsp:txXfrm>
    </dsp:sp>
    <dsp:sp modelId="{307D0BD7-FF7D-4EBC-B3D0-7825D2241C46}">
      <dsp:nvSpPr>
        <dsp:cNvPr id="0" name=""/>
        <dsp:cNvSpPr/>
      </dsp:nvSpPr>
      <dsp:spPr>
        <a:xfrm rot="5400000">
          <a:off x="3771528" y="1716990"/>
          <a:ext cx="534143" cy="7306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2000" kern="1200">
            <a:solidFill>
              <a:schemeClr val="tx1"/>
            </a:solidFill>
          </a:endParaRPr>
        </a:p>
      </dsp:txBody>
      <dsp:txXfrm rot="-5400000">
        <a:off x="3819412" y="1815232"/>
        <a:ext cx="438377" cy="373900"/>
      </dsp:txXfrm>
    </dsp:sp>
    <dsp:sp modelId="{E9032423-17E3-41E8-A631-F06D8326A0DD}">
      <dsp:nvSpPr>
        <dsp:cNvPr id="0" name=""/>
        <dsp:cNvSpPr/>
      </dsp:nvSpPr>
      <dsp:spPr>
        <a:xfrm>
          <a:off x="0" y="2438399"/>
          <a:ext cx="8077200" cy="1623616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solidFill>
                <a:schemeClr val="tx1"/>
              </a:solidFill>
            </a:rPr>
            <a:t>Koefisien model </a:t>
          </a:r>
          <a:r>
            <a:rPr lang="en-US" sz="2400" kern="1200" dirty="0" err="1" smtClean="0">
              <a:solidFill>
                <a:schemeClr val="tx1"/>
              </a:solidFill>
            </a:rPr>
            <a:t>untuk</a:t>
          </a:r>
          <a:r>
            <a:rPr lang="en-US" sz="2400" kern="1200" dirty="0" smtClean="0">
              <a:solidFill>
                <a:schemeClr val="tx1"/>
              </a:solidFill>
            </a:rPr>
            <a:t> </a:t>
          </a:r>
          <a:r>
            <a:rPr lang="en-US" sz="2400" kern="1200" dirty="0" err="1" smtClean="0">
              <a:solidFill>
                <a:schemeClr val="tx1"/>
              </a:solidFill>
            </a:rPr>
            <a:t>variabel</a:t>
          </a:r>
          <a:r>
            <a:rPr lang="en-US" sz="2400" kern="1200" dirty="0" smtClean="0">
              <a:solidFill>
                <a:schemeClr val="tx1"/>
              </a:solidFill>
            </a:rPr>
            <a:t> </a:t>
          </a:r>
          <a:r>
            <a:rPr lang="en-US" sz="2400" kern="1200" dirty="0" err="1">
              <a:solidFill>
                <a:schemeClr val="tx1"/>
              </a:solidFill>
            </a:rPr>
            <a:t>respon</a:t>
          </a:r>
          <a:r>
            <a:rPr lang="en-US" sz="2400" kern="1200" dirty="0">
              <a:solidFill>
                <a:schemeClr val="tx1"/>
              </a:solidFill>
            </a:rPr>
            <a:t> </a:t>
          </a:r>
          <a:r>
            <a:rPr lang="en-US" sz="2400" b="1" kern="1200" dirty="0" err="1" smtClean="0">
              <a:solidFill>
                <a:schemeClr val="tx1"/>
              </a:solidFill>
            </a:rPr>
            <a:t>dua</a:t>
          </a:r>
          <a:r>
            <a:rPr lang="en-US" sz="2400" b="1" kern="1200" dirty="0" smtClean="0">
              <a:solidFill>
                <a:schemeClr val="tx1"/>
              </a:solidFill>
            </a:rPr>
            <a:t> </a:t>
          </a:r>
          <a:r>
            <a:rPr lang="en-US" sz="2400" b="1" kern="1200" dirty="0" err="1" smtClean="0">
              <a:solidFill>
                <a:schemeClr val="tx1"/>
              </a:solidFill>
            </a:rPr>
            <a:t>kategori</a:t>
          </a:r>
          <a:r>
            <a:rPr lang="en-US" sz="2400" kern="1200" dirty="0" smtClean="0">
              <a:solidFill>
                <a:schemeClr val="tx1"/>
              </a:solidFill>
            </a:rPr>
            <a:t>: 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>
              <a:solidFill>
                <a:schemeClr val="tx1"/>
              </a:solidFill>
            </a:rPr>
            <a:t> </a:t>
          </a:r>
          <a14:m xmlns:a14="http://schemas.microsoft.com/office/drawing/2010/main">
            <m:oMath xmlns:m="http://schemas.openxmlformats.org/officeDocument/2006/math">
              <m:acc>
                <m:accPr>
                  <m:chr m:val="⃗"/>
                  <m:ctrlPr>
                    <a:rPr lang="en-US" sz="24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</m:ctrlPr>
                </m:accPr>
                <m:e>
                  <m:r>
                    <a:rPr lang="en-US" sz="2400" b="1" i="1" kern="1200" smtClean="0">
                      <a:solidFill>
                        <a:schemeClr val="tx1"/>
                      </a:solidFill>
                      <a:latin typeface="Cambria Math"/>
                    </a:rPr>
                    <m:t>𝒂</m:t>
                  </m:r>
                </m:e>
              </m:acc>
              <m:r>
                <a:rPr lang="en-US" sz="2400" b="1" i="1" kern="1200" smtClean="0">
                  <a:solidFill>
                    <a:schemeClr val="tx1"/>
                  </a:solidFill>
                  <a:latin typeface="Cambria Math"/>
                </a:rPr>
                <m:t>=</m:t>
              </m:r>
              <m:sSubSup>
                <m:sSubSupPr>
                  <m:ctrlPr>
                    <a:rPr lang="en-US" sz="24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</m:ctrlPr>
                </m:sSubSupPr>
                <m:e>
                  <m:r>
                    <a:rPr lang="en-US" sz="2400" b="1" i="0" kern="1200" smtClean="0">
                      <a:solidFill>
                        <a:schemeClr val="tx1"/>
                      </a:solidFill>
                      <a:latin typeface="Cambria Math"/>
                    </a:rPr>
                    <m:t>𝐒</m:t>
                  </m:r>
                </m:e>
                <m:sub>
                  <m:r>
                    <a:rPr lang="en-US" sz="2400" b="1" i="1" kern="1200" smtClean="0">
                      <a:solidFill>
                        <a:schemeClr val="tx1"/>
                      </a:solidFill>
                      <a:latin typeface="Cambria Math"/>
                    </a:rPr>
                    <m:t>𝒑𝒍</m:t>
                  </m:r>
                </m:sub>
                <m:sup>
                  <m:r>
                    <a:rPr lang="en-US" sz="2400" b="1" i="1" kern="1200" smtClean="0">
                      <a:solidFill>
                        <a:schemeClr val="tx1"/>
                      </a:solidFill>
                      <a:latin typeface="Cambria Math"/>
                    </a:rPr>
                    <m:t>−</m:t>
                  </m:r>
                  <m:r>
                    <a:rPr lang="en-US" sz="2400" b="1" i="1" kern="1200" smtClean="0">
                      <a:solidFill>
                        <a:schemeClr val="tx1"/>
                      </a:solidFill>
                      <a:latin typeface="Cambria Math"/>
                    </a:rPr>
                    <m:t>𝟏</m:t>
                  </m:r>
                </m:sup>
              </m:sSubSup>
              <m:d>
                <m:dPr>
                  <m:ctrlPr>
                    <a:rPr lang="en-US" sz="2400" b="1" i="1" kern="120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</m:ctrlPr>
                </m:dPr>
                <m:e>
                  <m:sSub>
                    <m:sSubPr>
                      <m:ctrlPr>
                        <a:rPr lang="en-US" sz="2400" b="1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</m:ctrlPr>
                    </m:sSubPr>
                    <m:e>
                      <m:acc>
                        <m:accPr>
                          <m:chr m:val="⃗"/>
                          <m:ctrlPr>
                            <a:rPr lang="en-US" sz="2400" b="1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̅"/>
                              <m:ctrlPr>
                                <a:rPr lang="en-US" sz="2400" b="1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</m:e>
                      </m:acc>
                    </m:e>
                    <m:sub>
                      <m:r>
                        <a:rPr lang="en-US" sz="2400" b="1" i="1" kern="1200">
                          <a:solidFill>
                            <a:schemeClr val="tx1"/>
                          </a:solidFill>
                          <a:latin typeface="Cambria Math"/>
                        </a:rPr>
                        <m:t>𝟏</m:t>
                      </m:r>
                    </m:sub>
                  </m:sSub>
                  <m:r>
                    <a:rPr lang="en-US" sz="2400" b="1" i="1" kern="1200">
                      <a:solidFill>
                        <a:schemeClr val="tx1"/>
                      </a:solidFill>
                      <a:latin typeface="Cambria Math"/>
                    </a:rPr>
                    <m:t>−</m:t>
                  </m:r>
                  <m:sSub>
                    <m:sSubPr>
                      <m:ctrlPr>
                        <a:rPr lang="en-US" sz="2400" b="1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</m:ctrlPr>
                    </m:sSubPr>
                    <m:e>
                      <m:acc>
                        <m:accPr>
                          <m:chr m:val="⃗"/>
                          <m:ctrlPr>
                            <a:rPr lang="en-US" sz="2400" b="1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̅"/>
                              <m:ctrlPr>
                                <a:rPr lang="en-US" sz="2400" b="1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</m:e>
                      </m:acc>
                    </m:e>
                    <m:sub>
                      <m:r>
                        <a:rPr lang="en-US" sz="2400" b="1" i="1" kern="1200">
                          <a:solidFill>
                            <a:schemeClr val="tx1"/>
                          </a:solidFill>
                          <a:latin typeface="Cambria Math"/>
                        </a:rPr>
                        <m:t>𝟐</m:t>
                      </m:r>
                    </m:sub>
                  </m:sSub>
                </m:e>
              </m:d>
            </m:oMath>
          </a14:m>
          <a:endParaRPr lang="en-GB" sz="2400" b="1" kern="1200" dirty="0">
            <a:solidFill>
              <a:schemeClr val="tx1"/>
            </a:solidFill>
          </a:endParaRPr>
        </a:p>
      </dsp:txBody>
      <dsp:txXfrm>
        <a:off x="47554" y="2485953"/>
        <a:ext cx="7982092" cy="15285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AE855D-99E0-4C21-A7A9-D456382F3C60}">
      <dsp:nvSpPr>
        <dsp:cNvPr id="0" name=""/>
        <dsp:cNvSpPr/>
      </dsp:nvSpPr>
      <dsp:spPr>
        <a:xfrm>
          <a:off x="0" y="0"/>
          <a:ext cx="7124700" cy="2743200"/>
        </a:xfrm>
        <a:prstGeom prst="rightArrow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tint val="40000"/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1">
                <a:tint val="40000"/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2AE8DCCA-35C1-40C9-9E94-99E178AF5799}">
      <dsp:nvSpPr>
        <dsp:cNvPr id="0" name=""/>
        <dsp:cNvSpPr/>
      </dsp:nvSpPr>
      <dsp:spPr>
        <a:xfrm>
          <a:off x="284038" y="822960"/>
          <a:ext cx="2514600" cy="1097280"/>
        </a:xfrm>
        <a:prstGeom prst="round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>
          <a:noFill/>
        </a:ln>
        <a:effectLst>
          <a:softEdge rad="12700"/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d-ID" sz="2100" kern="1200" dirty="0" smtClean="0">
              <a:solidFill>
                <a:schemeClr val="tx1"/>
              </a:solidFill>
            </a:rPr>
            <a:t>Uji Asumsi Normal Multivariat </a:t>
          </a:r>
          <a:endParaRPr lang="id-ID" sz="2100" kern="1200" dirty="0">
            <a:solidFill>
              <a:schemeClr val="tx1"/>
            </a:solidFill>
          </a:endParaRPr>
        </a:p>
      </dsp:txBody>
      <dsp:txXfrm>
        <a:off x="337603" y="876525"/>
        <a:ext cx="2407470" cy="990150"/>
      </dsp:txXfrm>
    </dsp:sp>
    <dsp:sp modelId="{ADB5B782-D3CD-4855-8CE9-14ADD3C4E1FE}">
      <dsp:nvSpPr>
        <dsp:cNvPr id="0" name=""/>
        <dsp:cNvSpPr/>
      </dsp:nvSpPr>
      <dsp:spPr>
        <a:xfrm>
          <a:off x="2933700" y="822960"/>
          <a:ext cx="2514600" cy="1097280"/>
        </a:xfrm>
        <a:prstGeom prst="round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>
          <a:noFill/>
        </a:ln>
        <a:effectLst>
          <a:softEdge rad="12700"/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d-ID" sz="2100" kern="1200" dirty="0" smtClean="0">
              <a:solidFill>
                <a:schemeClr val="tx1"/>
              </a:solidFill>
            </a:rPr>
            <a:t>Uji Vektor Rata-rata Kedua Kelompok   </a:t>
          </a:r>
          <a:endParaRPr lang="id-ID" sz="2100" kern="1200" dirty="0">
            <a:solidFill>
              <a:schemeClr val="tx1"/>
            </a:solidFill>
          </a:endParaRPr>
        </a:p>
      </dsp:txBody>
      <dsp:txXfrm>
        <a:off x="2987265" y="876525"/>
        <a:ext cx="2407470" cy="990150"/>
      </dsp:txXfrm>
    </dsp:sp>
    <dsp:sp modelId="{7FC9D0EE-3F7E-465D-8AD0-B3584C397714}">
      <dsp:nvSpPr>
        <dsp:cNvPr id="0" name=""/>
        <dsp:cNvSpPr/>
      </dsp:nvSpPr>
      <dsp:spPr>
        <a:xfrm>
          <a:off x="5583361" y="822960"/>
          <a:ext cx="2514600" cy="1097280"/>
        </a:xfrm>
        <a:prstGeom prst="round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>
          <a:noFill/>
        </a:ln>
        <a:effectLst>
          <a:softEdge rad="12700"/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d-ID" sz="2100" kern="1200" dirty="0" smtClean="0">
              <a:solidFill>
                <a:schemeClr val="tx1"/>
              </a:solidFill>
            </a:rPr>
            <a:t>Uji Asumsi Homogenitas Matriks Variansi</a:t>
          </a:r>
          <a:endParaRPr lang="id-ID" sz="2100" kern="1200" dirty="0">
            <a:solidFill>
              <a:schemeClr val="tx1"/>
            </a:solidFill>
          </a:endParaRPr>
        </a:p>
      </dsp:txBody>
      <dsp:txXfrm>
        <a:off x="5636926" y="876525"/>
        <a:ext cx="2407470" cy="9901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DE9B90-FF88-427E-A58A-0149D39AED28}">
      <dsp:nvSpPr>
        <dsp:cNvPr id="0" name=""/>
        <dsp:cNvSpPr/>
      </dsp:nvSpPr>
      <dsp:spPr>
        <a:xfrm>
          <a:off x="167565" y="4360"/>
          <a:ext cx="2077491" cy="1246495"/>
        </a:xfrm>
        <a:prstGeom prst="roundRect">
          <a:avLst>
            <a:gd name="adj" fmla="val 10000"/>
          </a:avLst>
        </a:prstGeom>
        <a:solidFill>
          <a:srgbClr val="FF99FF"/>
        </a:solidFill>
        <a:ln w="12700" cap="flat" cmpd="sng" algn="ctr">
          <a:solidFill>
            <a:srgbClr val="FF99F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dirty="0" smtClean="0">
              <a:solidFill>
                <a:schemeClr val="tx2"/>
              </a:solidFill>
            </a:rPr>
            <a:t>N</a:t>
          </a:r>
          <a:r>
            <a:rPr lang="id-ID" sz="1700" b="1" kern="1200" dirty="0" smtClean="0">
              <a:solidFill>
                <a:schemeClr val="tx2"/>
              </a:solidFill>
            </a:rPr>
            <a:t>yatakan </a:t>
          </a:r>
          <a:r>
            <a:rPr lang="id-ID" sz="1700" b="1" kern="1200" dirty="0">
              <a:solidFill>
                <a:schemeClr val="tx2"/>
              </a:solidFill>
            </a:rPr>
            <a:t>matriks data </a:t>
          </a:r>
          <a:r>
            <a:rPr lang="en-US" sz="1700" b="1" kern="1200" dirty="0" err="1" smtClean="0">
              <a:solidFill>
                <a:schemeClr val="tx2"/>
              </a:solidFill>
            </a:rPr>
            <a:t>sebagai</a:t>
          </a:r>
          <a:r>
            <a:rPr lang="en-US" sz="1700" b="1" kern="1200" dirty="0" smtClean="0">
              <a:solidFill>
                <a:schemeClr val="tx2"/>
              </a:solidFill>
            </a:rPr>
            <a:t> </a:t>
          </a:r>
          <a14:m xmlns:a14="http://schemas.microsoft.com/office/drawing/2010/main">
            <m:oMath xmlns:m="http://schemas.openxmlformats.org/officeDocument/2006/math">
              <m:r>
                <a:rPr lang="en-US" sz="1700" b="1" i="1" kern="1200" smtClean="0">
                  <a:solidFill>
                    <a:schemeClr val="tx2"/>
                  </a:solidFill>
                  <a:latin typeface="Cambria Math"/>
                </a:rPr>
                <m:t>𝑿</m:t>
              </m:r>
            </m:oMath>
          </a14:m>
          <a:r>
            <a:rPr lang="en-US" sz="1700" b="1" kern="1200" dirty="0" smtClean="0">
              <a:solidFill>
                <a:schemeClr val="tx2"/>
              </a:solidFill>
            </a:rPr>
            <a:t> </a:t>
          </a:r>
          <a:r>
            <a:rPr lang="en-US" sz="1700" b="1" kern="1200" dirty="0" err="1" smtClean="0">
              <a:solidFill>
                <a:schemeClr val="tx2"/>
              </a:solidFill>
            </a:rPr>
            <a:t>dengan</a:t>
          </a:r>
          <a:r>
            <a:rPr lang="en-US" sz="1700" b="1" kern="1200" dirty="0" smtClean="0">
              <a:solidFill>
                <a:schemeClr val="tx2"/>
              </a:solidFill>
            </a:rPr>
            <a:t> </a:t>
          </a:r>
          <a:r>
            <a:rPr lang="en-US" sz="1700" b="1" kern="1200" dirty="0" err="1" smtClean="0">
              <a:solidFill>
                <a:schemeClr val="tx2"/>
              </a:solidFill>
            </a:rPr>
            <a:t>variabel</a:t>
          </a:r>
          <a:r>
            <a:rPr lang="en-US" sz="1700" b="1" kern="1200" dirty="0" smtClean="0">
              <a:solidFill>
                <a:schemeClr val="tx2"/>
              </a:solidFill>
            </a:rPr>
            <a:t> </a:t>
          </a:r>
          <a14:m xmlns:a14="http://schemas.microsoft.com/office/drawing/2010/main">
            <m:oMath xmlns:m="http://schemas.openxmlformats.org/officeDocument/2006/math">
              <m:r>
                <a:rPr lang="en-US" sz="1700" b="1" i="1" kern="1200" dirty="0" smtClean="0">
                  <a:solidFill>
                    <a:schemeClr val="tx2"/>
                  </a:solidFill>
                  <a:latin typeface="Cambria Math"/>
                </a:rPr>
                <m:t>𝒀</m:t>
              </m:r>
            </m:oMath>
          </a14:m>
          <a:r>
            <a:rPr lang="en-US" sz="1700" b="1" kern="1200" dirty="0" smtClean="0">
              <a:solidFill>
                <a:schemeClr val="tx2"/>
              </a:solidFill>
            </a:rPr>
            <a:t> </a:t>
          </a:r>
          <a:r>
            <a:rPr lang="en-US" sz="1700" b="1" kern="1200" dirty="0" err="1" smtClean="0">
              <a:solidFill>
                <a:schemeClr val="tx2"/>
              </a:solidFill>
            </a:rPr>
            <a:t>terurut</a:t>
          </a:r>
          <a:endParaRPr lang="id-ID" sz="1700" b="1" kern="1200" dirty="0">
            <a:solidFill>
              <a:schemeClr val="tx2"/>
            </a:solidFill>
          </a:endParaRPr>
        </a:p>
      </dsp:txBody>
      <dsp:txXfrm>
        <a:off x="204074" y="40869"/>
        <a:ext cx="2004473" cy="1173477"/>
      </dsp:txXfrm>
    </dsp:sp>
    <dsp:sp modelId="{FE006960-BC87-4FE8-ACDD-A918B7AAA70A}">
      <dsp:nvSpPr>
        <dsp:cNvPr id="0" name=""/>
        <dsp:cNvSpPr/>
      </dsp:nvSpPr>
      <dsp:spPr>
        <a:xfrm>
          <a:off x="2427876" y="369999"/>
          <a:ext cx="440428" cy="515217"/>
        </a:xfrm>
        <a:prstGeom prst="rightArrow">
          <a:avLst>
            <a:gd name="adj1" fmla="val 60000"/>
            <a:gd name="adj2" fmla="val 50000"/>
          </a:avLst>
        </a:prstGeom>
        <a:solidFill>
          <a:srgbClr val="7030A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id-ID" sz="1400" kern="1200"/>
        </a:p>
      </dsp:txBody>
      <dsp:txXfrm>
        <a:off x="2427876" y="473042"/>
        <a:ext cx="308300" cy="309131"/>
      </dsp:txXfrm>
    </dsp:sp>
    <dsp:sp modelId="{C663D752-1C7D-4468-AC81-F90B20F9E3DC}">
      <dsp:nvSpPr>
        <dsp:cNvPr id="0" name=""/>
        <dsp:cNvSpPr/>
      </dsp:nvSpPr>
      <dsp:spPr>
        <a:xfrm>
          <a:off x="3076054" y="4360"/>
          <a:ext cx="2077491" cy="1246495"/>
        </a:xfrm>
        <a:prstGeom prst="roundRect">
          <a:avLst>
            <a:gd name="adj" fmla="val 10000"/>
          </a:avLst>
        </a:prstGeom>
        <a:solidFill>
          <a:srgbClr val="33CCFF"/>
        </a:solidFill>
        <a:ln w="12700" cap="flat" cmpd="sng" algn="ctr">
          <a:solidFill>
            <a:srgbClr val="33CCF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err="1" smtClean="0">
              <a:solidFill>
                <a:schemeClr val="tx1"/>
              </a:solidFill>
            </a:rPr>
            <a:t>Hitung</a:t>
          </a:r>
          <a:r>
            <a:rPr lang="en-US" sz="1800" b="1" kern="1200" dirty="0" smtClean="0">
              <a:solidFill>
                <a:schemeClr val="tx1"/>
              </a:solidFill>
            </a:rPr>
            <a:t> rata-rata </a:t>
          </a:r>
          <a:r>
            <a:rPr lang="en-US" sz="1800" b="1" kern="1200" dirty="0" err="1" smtClean="0">
              <a:solidFill>
                <a:schemeClr val="tx1"/>
              </a:solidFill>
            </a:rPr>
            <a:t>setiap</a:t>
          </a:r>
          <a:r>
            <a:rPr lang="en-US" sz="1800" b="1" kern="1200" dirty="0" smtClean="0">
              <a:solidFill>
                <a:schemeClr val="tx1"/>
              </a:solidFill>
            </a:rPr>
            <a:t> </a:t>
          </a:r>
          <a:r>
            <a:rPr lang="en-US" sz="1800" b="1" kern="1200" dirty="0" err="1" smtClean="0">
              <a:solidFill>
                <a:schemeClr val="tx1"/>
              </a:solidFill>
            </a:rPr>
            <a:t>variabel</a:t>
          </a:r>
          <a:r>
            <a:rPr lang="en-US" sz="1800" b="1" kern="1200" dirty="0" smtClean="0">
              <a:solidFill>
                <a:schemeClr val="tx1"/>
              </a:solidFill>
            </a:rPr>
            <a:t> </a:t>
          </a:r>
          <a:r>
            <a:rPr lang="en-US" sz="1800" b="1" kern="1200" dirty="0" err="1" smtClean="0">
              <a:solidFill>
                <a:schemeClr val="tx1"/>
              </a:solidFill>
            </a:rPr>
            <a:t>untuk</a:t>
          </a:r>
          <a:r>
            <a:rPr lang="en-US" sz="1800" b="1" kern="1200" dirty="0" smtClean="0">
              <a:solidFill>
                <a:schemeClr val="tx1"/>
              </a:solidFill>
            </a:rPr>
            <a:t> </a:t>
          </a:r>
          <a:r>
            <a:rPr lang="en-US" sz="1800" b="1" kern="1200" dirty="0" err="1" smtClean="0">
              <a:solidFill>
                <a:schemeClr val="tx1"/>
              </a:solidFill>
            </a:rPr>
            <a:t>setiap</a:t>
          </a:r>
          <a:r>
            <a:rPr lang="en-US" sz="1800" b="1" kern="1200" dirty="0" smtClean="0">
              <a:solidFill>
                <a:schemeClr val="tx1"/>
              </a:solidFill>
            </a:rPr>
            <a:t> </a:t>
          </a:r>
          <a:r>
            <a:rPr lang="en-US" sz="1800" b="1" kern="1200" dirty="0" err="1" smtClean="0">
              <a:solidFill>
                <a:schemeClr val="tx1"/>
              </a:solidFill>
            </a:rPr>
            <a:t>kelompok</a:t>
          </a:r>
          <a:endParaRPr lang="id-ID" sz="1800" b="1" kern="1200" dirty="0">
            <a:solidFill>
              <a:schemeClr val="tx1"/>
            </a:solidFill>
          </a:endParaRPr>
        </a:p>
      </dsp:txBody>
      <dsp:txXfrm>
        <a:off x="3112563" y="40869"/>
        <a:ext cx="2004473" cy="1173477"/>
      </dsp:txXfrm>
    </dsp:sp>
    <dsp:sp modelId="{E77C461F-80DB-403D-9463-F6366E095577}">
      <dsp:nvSpPr>
        <dsp:cNvPr id="0" name=""/>
        <dsp:cNvSpPr/>
      </dsp:nvSpPr>
      <dsp:spPr>
        <a:xfrm>
          <a:off x="5336365" y="369999"/>
          <a:ext cx="440428" cy="515217"/>
        </a:xfrm>
        <a:prstGeom prst="rightArrow">
          <a:avLst>
            <a:gd name="adj1" fmla="val 60000"/>
            <a:gd name="adj2" fmla="val 50000"/>
          </a:avLst>
        </a:prstGeom>
        <a:solidFill>
          <a:srgbClr val="7030A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id-ID" sz="1400" kern="1200"/>
        </a:p>
      </dsp:txBody>
      <dsp:txXfrm>
        <a:off x="5336365" y="473042"/>
        <a:ext cx="308300" cy="309131"/>
      </dsp:txXfrm>
    </dsp:sp>
    <dsp:sp modelId="{9BEA32ED-D2C5-4196-9EFA-D35C95FAA9D4}">
      <dsp:nvSpPr>
        <dsp:cNvPr id="0" name=""/>
        <dsp:cNvSpPr/>
      </dsp:nvSpPr>
      <dsp:spPr>
        <a:xfrm>
          <a:off x="5984542" y="4360"/>
          <a:ext cx="2077491" cy="1246495"/>
        </a:xfrm>
        <a:prstGeom prst="roundRect">
          <a:avLst>
            <a:gd name="adj" fmla="val 10000"/>
          </a:avLst>
        </a:prstGeom>
        <a:solidFill>
          <a:srgbClr val="FF9933"/>
        </a:solidFill>
        <a:ln w="12700" cap="flat" cmpd="sng" algn="ctr">
          <a:solidFill>
            <a:srgbClr val="FF993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err="1" smtClean="0">
              <a:solidFill>
                <a:schemeClr val="tx1"/>
              </a:solidFill>
            </a:rPr>
            <a:t>Bangun</a:t>
          </a:r>
          <a:r>
            <a:rPr lang="en-US" sz="1800" b="1" kern="1200" dirty="0" smtClean="0">
              <a:solidFill>
                <a:schemeClr val="tx1"/>
              </a:solidFill>
            </a:rPr>
            <a:t> </a:t>
          </a:r>
          <a:r>
            <a:rPr lang="en-US" sz="1800" b="1" kern="1200" dirty="0" err="1" smtClean="0">
              <a:solidFill>
                <a:schemeClr val="tx1"/>
              </a:solidFill>
            </a:rPr>
            <a:t>matriks</a:t>
          </a:r>
          <a:r>
            <a:rPr lang="en-US" sz="1800" b="1" kern="1200" dirty="0" smtClean="0">
              <a:solidFill>
                <a:schemeClr val="tx1"/>
              </a:solidFill>
            </a:rPr>
            <a:t> </a:t>
          </a:r>
          <a:r>
            <a:rPr lang="en-US" sz="1800" b="1" kern="1200" dirty="0" err="1" smtClean="0">
              <a:solidFill>
                <a:schemeClr val="tx1"/>
              </a:solidFill>
            </a:rPr>
            <a:t>kovariansi</a:t>
          </a:r>
          <a:r>
            <a:rPr lang="en-US" sz="1800" b="1" kern="1200" dirty="0" smtClean="0">
              <a:solidFill>
                <a:schemeClr val="tx1"/>
              </a:solidFill>
            </a:rPr>
            <a:t> </a:t>
          </a:r>
          <a:r>
            <a:rPr lang="en-US" sz="1800" b="1" kern="1200" dirty="0" err="1" smtClean="0">
              <a:solidFill>
                <a:schemeClr val="tx1"/>
              </a:solidFill>
            </a:rPr>
            <a:t>gabungan</a:t>
          </a:r>
          <a:r>
            <a:rPr lang="en-US" sz="1800" b="1" kern="1200" dirty="0" smtClean="0">
              <a:solidFill>
                <a:schemeClr val="tx1"/>
              </a:solidFill>
            </a:rPr>
            <a:t> </a:t>
          </a:r>
          <a:endParaRPr lang="id-ID" sz="1800" b="1" kern="1200" dirty="0">
            <a:solidFill>
              <a:schemeClr val="tx1"/>
            </a:solidFill>
          </a:endParaRPr>
        </a:p>
      </dsp:txBody>
      <dsp:txXfrm>
        <a:off x="6021051" y="40869"/>
        <a:ext cx="2004473" cy="1173477"/>
      </dsp:txXfrm>
    </dsp:sp>
    <dsp:sp modelId="{31333B5C-7F1C-4082-A91E-9DB266FAA769}">
      <dsp:nvSpPr>
        <dsp:cNvPr id="0" name=""/>
        <dsp:cNvSpPr/>
      </dsp:nvSpPr>
      <dsp:spPr>
        <a:xfrm rot="5400000">
          <a:off x="6803074" y="1396280"/>
          <a:ext cx="440428" cy="515217"/>
        </a:xfrm>
        <a:prstGeom prst="rightArrow">
          <a:avLst>
            <a:gd name="adj1" fmla="val 60000"/>
            <a:gd name="adj2" fmla="val 50000"/>
          </a:avLst>
        </a:prstGeom>
        <a:solidFill>
          <a:srgbClr val="7030A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id-ID" sz="1400" kern="1200"/>
        </a:p>
      </dsp:txBody>
      <dsp:txXfrm rot="-5400000">
        <a:off x="6868723" y="1433674"/>
        <a:ext cx="309131" cy="308300"/>
      </dsp:txXfrm>
    </dsp:sp>
    <dsp:sp modelId="{5ED9CD20-F149-4713-9495-197CADF124AF}">
      <dsp:nvSpPr>
        <dsp:cNvPr id="0" name=""/>
        <dsp:cNvSpPr/>
      </dsp:nvSpPr>
      <dsp:spPr>
        <a:xfrm>
          <a:off x="5984542" y="2081852"/>
          <a:ext cx="2077491" cy="1246495"/>
        </a:xfrm>
        <a:prstGeom prst="roundRect">
          <a:avLst>
            <a:gd name="adj" fmla="val 10000"/>
          </a:avLst>
        </a:prstGeom>
        <a:solidFill>
          <a:srgbClr val="92D050"/>
        </a:solidFill>
        <a:ln w="12700" cap="flat" cmpd="sng" algn="ctr">
          <a:solidFill>
            <a:srgbClr val="92D05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err="1" smtClean="0">
              <a:solidFill>
                <a:schemeClr val="tx1"/>
              </a:solidFill>
            </a:rPr>
            <a:t>Bangun</a:t>
          </a:r>
          <a:r>
            <a:rPr lang="en-US" sz="1800" b="1" kern="1200" dirty="0" smtClean="0">
              <a:solidFill>
                <a:schemeClr val="tx1"/>
              </a:solidFill>
            </a:rPr>
            <a:t> K</a:t>
          </a:r>
          <a:r>
            <a:rPr lang="id-ID" sz="1800" b="1" kern="1200" dirty="0" smtClean="0">
              <a:solidFill>
                <a:schemeClr val="tx1"/>
              </a:solidFill>
            </a:rPr>
            <a:t>ombinasi Linear Fisher </a:t>
          </a:r>
          <a:endParaRPr lang="id-ID" sz="1800" b="1" kern="1200" dirty="0">
            <a:solidFill>
              <a:schemeClr val="tx1"/>
            </a:solidFill>
          </a:endParaRPr>
        </a:p>
      </dsp:txBody>
      <dsp:txXfrm>
        <a:off x="6021051" y="2118361"/>
        <a:ext cx="2004473" cy="1173477"/>
      </dsp:txXfrm>
    </dsp:sp>
    <dsp:sp modelId="{0A255D4D-CEAE-4A91-BE94-4BD2D0AA8DEC}">
      <dsp:nvSpPr>
        <dsp:cNvPr id="0" name=""/>
        <dsp:cNvSpPr/>
      </dsp:nvSpPr>
      <dsp:spPr>
        <a:xfrm rot="10800000">
          <a:off x="5361295" y="2447491"/>
          <a:ext cx="440428" cy="515217"/>
        </a:xfrm>
        <a:prstGeom prst="rightArrow">
          <a:avLst>
            <a:gd name="adj1" fmla="val 60000"/>
            <a:gd name="adj2" fmla="val 50000"/>
          </a:avLst>
        </a:prstGeom>
        <a:solidFill>
          <a:srgbClr val="7030A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id-ID" sz="1400" kern="1200"/>
        </a:p>
      </dsp:txBody>
      <dsp:txXfrm rot="10800000">
        <a:off x="5493423" y="2550534"/>
        <a:ext cx="308300" cy="309131"/>
      </dsp:txXfrm>
    </dsp:sp>
    <dsp:sp modelId="{69759FE9-4488-44D0-89D8-C01759C86D40}">
      <dsp:nvSpPr>
        <dsp:cNvPr id="0" name=""/>
        <dsp:cNvSpPr/>
      </dsp:nvSpPr>
      <dsp:spPr>
        <a:xfrm>
          <a:off x="3076054" y="2081852"/>
          <a:ext cx="2077491" cy="1246495"/>
        </a:xfrm>
        <a:prstGeom prst="roundRect">
          <a:avLst>
            <a:gd name="adj" fmla="val 10000"/>
          </a:avLst>
        </a:prstGeom>
        <a:solidFill>
          <a:srgbClr val="FFFF99"/>
        </a:solidFill>
        <a:ln w="12700" cap="flat" cmpd="sng" algn="ctr">
          <a:solidFill>
            <a:srgbClr val="FFFF99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d-ID" sz="1800" b="1" kern="1200" dirty="0" smtClean="0">
              <a:solidFill>
                <a:schemeClr val="tx1"/>
              </a:solidFill>
            </a:rPr>
            <a:t>Menghitung skor diskriminan</a:t>
          </a:r>
          <a:r>
            <a:rPr lang="en-US" sz="1800" b="1" kern="1200" dirty="0" smtClean="0">
              <a:solidFill>
                <a:schemeClr val="tx1"/>
              </a:solidFill>
            </a:rPr>
            <a:t> </a:t>
          </a:r>
          <a:endParaRPr lang="id-ID" sz="1800" b="1" kern="1200" dirty="0">
            <a:solidFill>
              <a:schemeClr val="tx1"/>
            </a:solidFill>
          </a:endParaRPr>
        </a:p>
      </dsp:txBody>
      <dsp:txXfrm>
        <a:off x="3112563" y="2118361"/>
        <a:ext cx="2004473" cy="1173477"/>
      </dsp:txXfrm>
    </dsp:sp>
    <dsp:sp modelId="{A459E245-0B47-4C2E-9779-F13F1E66EE9B}">
      <dsp:nvSpPr>
        <dsp:cNvPr id="0" name=""/>
        <dsp:cNvSpPr/>
      </dsp:nvSpPr>
      <dsp:spPr>
        <a:xfrm rot="10800000">
          <a:off x="2452806" y="2447491"/>
          <a:ext cx="440428" cy="515217"/>
        </a:xfrm>
        <a:prstGeom prst="rightArrow">
          <a:avLst>
            <a:gd name="adj1" fmla="val 60000"/>
            <a:gd name="adj2" fmla="val 50000"/>
          </a:avLst>
        </a:prstGeom>
        <a:solidFill>
          <a:srgbClr val="7030A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id-ID" sz="1400" kern="1200"/>
        </a:p>
      </dsp:txBody>
      <dsp:txXfrm rot="10800000">
        <a:off x="2584934" y="2550534"/>
        <a:ext cx="308300" cy="309131"/>
      </dsp:txXfrm>
    </dsp:sp>
    <dsp:sp modelId="{688A4609-EF46-4F6C-97C8-0EBD9EDE6A73}">
      <dsp:nvSpPr>
        <dsp:cNvPr id="0" name=""/>
        <dsp:cNvSpPr/>
      </dsp:nvSpPr>
      <dsp:spPr>
        <a:xfrm>
          <a:off x="167565" y="2081852"/>
          <a:ext cx="2077491" cy="1246495"/>
        </a:xfrm>
        <a:prstGeom prst="roundRect">
          <a:avLst>
            <a:gd name="adj" fmla="val 10000"/>
          </a:avLst>
        </a:prstGeom>
        <a:solidFill>
          <a:srgbClr val="FF0066"/>
        </a:solidFill>
        <a:ln w="12700" cap="flat" cmpd="sng" algn="ctr">
          <a:solidFill>
            <a:srgbClr val="FF0066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d-ID" sz="2000" b="1" kern="1200" dirty="0" smtClean="0">
              <a:solidFill>
                <a:schemeClr val="tx1"/>
              </a:solidFill>
            </a:rPr>
            <a:t>Menghitung </a:t>
          </a:r>
          <a:r>
            <a:rPr lang="id-ID" sz="2000" b="1" i="1" kern="1200" dirty="0" smtClean="0">
              <a:solidFill>
                <a:schemeClr val="tx1"/>
              </a:solidFill>
            </a:rPr>
            <a:t>cutting score</a:t>
          </a:r>
          <a:endParaRPr lang="id-ID" sz="2000" b="1" kern="1200" dirty="0">
            <a:solidFill>
              <a:schemeClr val="tx1"/>
            </a:solidFill>
          </a:endParaRPr>
        </a:p>
      </dsp:txBody>
      <dsp:txXfrm>
        <a:off x="204074" y="2118361"/>
        <a:ext cx="2004473" cy="1173477"/>
      </dsp:txXfrm>
    </dsp:sp>
    <dsp:sp modelId="{DEB8ECF6-C91A-4656-B3BE-E6220B306097}">
      <dsp:nvSpPr>
        <dsp:cNvPr id="0" name=""/>
        <dsp:cNvSpPr/>
      </dsp:nvSpPr>
      <dsp:spPr>
        <a:xfrm rot="5400000">
          <a:off x="986097" y="3473771"/>
          <a:ext cx="440428" cy="515217"/>
        </a:xfrm>
        <a:prstGeom prst="rightArrow">
          <a:avLst>
            <a:gd name="adj1" fmla="val 60000"/>
            <a:gd name="adj2" fmla="val 50000"/>
          </a:avLst>
        </a:prstGeom>
        <a:solidFill>
          <a:srgbClr val="7030A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id-ID" sz="1400" kern="1200"/>
        </a:p>
      </dsp:txBody>
      <dsp:txXfrm rot="-5400000">
        <a:off x="1051746" y="3511165"/>
        <a:ext cx="309131" cy="308300"/>
      </dsp:txXfrm>
    </dsp:sp>
    <dsp:sp modelId="{989BB855-EBA5-4869-AA3A-665E5207F1FA}">
      <dsp:nvSpPr>
        <dsp:cNvPr id="0" name=""/>
        <dsp:cNvSpPr/>
      </dsp:nvSpPr>
      <dsp:spPr>
        <a:xfrm>
          <a:off x="167565" y="4159344"/>
          <a:ext cx="2077491" cy="1246495"/>
        </a:xfrm>
        <a:prstGeom prst="roundRect">
          <a:avLst>
            <a:gd name="adj" fmla="val 10000"/>
          </a:avLst>
        </a:prstGeom>
        <a:solidFill>
          <a:srgbClr val="CC99FF"/>
        </a:solidFill>
        <a:ln w="12700" cap="flat" cmpd="sng" algn="ctr">
          <a:solidFill>
            <a:srgbClr val="CC99F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d-ID" sz="2000" b="1" kern="1200" dirty="0" smtClean="0">
              <a:solidFill>
                <a:schemeClr val="tx1"/>
              </a:solidFill>
            </a:rPr>
            <a:t>Penghitungan </a:t>
          </a:r>
          <a:r>
            <a:rPr lang="en-US" sz="2000" b="1" i="1" kern="1200" dirty="0" smtClean="0">
              <a:solidFill>
                <a:schemeClr val="tx1"/>
              </a:solidFill>
            </a:rPr>
            <a:t>h</a:t>
          </a:r>
          <a:r>
            <a:rPr lang="id-ID" sz="2000" b="1" i="1" kern="1200" dirty="0" smtClean="0">
              <a:solidFill>
                <a:schemeClr val="tx1"/>
              </a:solidFill>
            </a:rPr>
            <a:t>it </a:t>
          </a:r>
          <a:r>
            <a:rPr lang="en-US" sz="2000" b="1" i="1" kern="1200" dirty="0" smtClean="0">
              <a:solidFill>
                <a:schemeClr val="tx1"/>
              </a:solidFill>
            </a:rPr>
            <a:t>r</a:t>
          </a:r>
          <a:r>
            <a:rPr lang="id-ID" sz="2000" b="1" i="1" kern="1200" dirty="0" smtClean="0">
              <a:solidFill>
                <a:schemeClr val="tx1"/>
              </a:solidFill>
            </a:rPr>
            <a:t>atio</a:t>
          </a:r>
          <a:endParaRPr lang="id-ID" sz="2000" b="1" kern="1200" dirty="0">
            <a:solidFill>
              <a:schemeClr val="tx1"/>
            </a:solidFill>
          </a:endParaRPr>
        </a:p>
      </dsp:txBody>
      <dsp:txXfrm>
        <a:off x="204074" y="4195853"/>
        <a:ext cx="2004473" cy="117347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2A7F99-3A62-422A-B186-E9B517C3F017}">
      <dsp:nvSpPr>
        <dsp:cNvPr id="0" name=""/>
        <dsp:cNvSpPr/>
      </dsp:nvSpPr>
      <dsp:spPr>
        <a:xfrm>
          <a:off x="0" y="2479"/>
          <a:ext cx="8077200" cy="1623616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0" kern="1200" dirty="0" smtClean="0">
              <a:solidFill>
                <a:schemeClr val="tx1"/>
              </a:solidFill>
            </a:rPr>
            <a:t>Uji </a:t>
          </a:r>
          <a14:m xmlns:a14="http://schemas.microsoft.com/office/drawing/2010/main">
            <m:oMath xmlns:m="http://schemas.openxmlformats.org/officeDocument/2006/math">
              <m:r>
                <a:rPr lang="en-US" sz="2400" b="0" i="1" kern="1200" smtClean="0">
                  <a:solidFill>
                    <a:schemeClr val="tx1"/>
                  </a:solidFill>
                  <a:latin typeface="Cambria Math"/>
                </a:rPr>
                <m:t>𝐹</m:t>
              </m:r>
            </m:oMath>
          </a14:m>
          <a:r>
            <a:rPr lang="en-US" sz="2400" kern="1200" dirty="0" smtClean="0">
              <a:solidFill>
                <a:schemeClr val="tx1"/>
              </a:solidFill>
            </a:rPr>
            <a:t> </a:t>
          </a:r>
          <a:r>
            <a:rPr lang="en-US" sz="2400" kern="1200" dirty="0" err="1" smtClean="0">
              <a:solidFill>
                <a:schemeClr val="tx1"/>
              </a:solidFill>
            </a:rPr>
            <a:t>dari</a:t>
          </a:r>
          <a:r>
            <a:rPr lang="en-US" sz="2400" kern="1200" dirty="0" smtClean="0">
              <a:solidFill>
                <a:schemeClr val="tx1"/>
              </a:solidFill>
            </a:rPr>
            <a:t> </a:t>
          </a:r>
          <a:r>
            <a:rPr lang="en-US" sz="2400" b="1" kern="1200" dirty="0" err="1" smtClean="0">
              <a:solidFill>
                <a:schemeClr val="tx1"/>
              </a:solidFill>
            </a:rPr>
            <a:t>Manova</a:t>
          </a:r>
          <a:r>
            <a:rPr lang="en-US" sz="2400" kern="1200" dirty="0" smtClean="0">
              <a:solidFill>
                <a:schemeClr val="tx1"/>
              </a:solidFill>
            </a:rPr>
            <a:t>:  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2400" b="1" i="1" kern="1200" smtClean="0">
                    <a:solidFill>
                      <a:schemeClr val="tx1"/>
                    </a:solidFill>
                    <a:latin typeface="Cambria Math"/>
                  </a:rPr>
                  <m:t>𝑭</m:t>
                </m:r>
                <m:r>
                  <a:rPr lang="en-US" sz="2400" b="1" i="1" kern="1200" smtClean="0">
                    <a:solidFill>
                      <a:schemeClr val="tx1"/>
                    </a:solidFill>
                    <a:latin typeface="Cambria Math"/>
                  </a:rPr>
                  <m:t>=</m:t>
                </m:r>
                <m:f>
                  <m:fPr>
                    <m:ctrlPr>
                      <a:rPr lang="en-US" sz="2400" b="1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f>
                      <m:fPr>
                        <m:type m:val="lin"/>
                        <m:ctrlPr>
                          <a:rPr lang="en-US" sz="2400" b="1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1" i="1" kern="12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⃗"/>
                                <m:ctrlPr>
                                  <a:rPr lang="en-US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𝒂</m:t>
                                </m:r>
                              </m:e>
                            </m:acc>
                          </m:e>
                          <m:sup>
                            <m:r>
                              <a:rPr lang="en-US" sz="2400" b="1" i="1" kern="120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𝒕</m:t>
                            </m:r>
                          </m:sup>
                        </m:sSup>
                        <m:r>
                          <a:rPr lang="en-US" sz="2400" b="1" i="0" kern="120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𝐇</m:t>
                        </m:r>
                        <m:acc>
                          <m:accPr>
                            <m:chr m:val="⃗"/>
                            <m:ctrlPr>
                              <a:rPr lang="en-US" sz="2400" b="1" i="1" kern="12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1" i="1" kern="120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</m:acc>
                      </m:num>
                      <m:den>
                        <m:r>
                          <a:rPr lang="en-US" sz="2400" b="1" i="1" kern="120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US" sz="2400" b="1" i="1" kern="120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𝒌</m:t>
                        </m:r>
                        <m:r>
                          <a:rPr lang="en-US" sz="2400" b="1" i="1" kern="120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400" b="1" i="1" kern="120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𝟏</m:t>
                        </m:r>
                        <m:r>
                          <a:rPr lang="en-US" sz="2400" b="1" i="1" kern="120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)</m:t>
                        </m:r>
                      </m:den>
                    </m:f>
                  </m:num>
                  <m:den>
                    <m:f>
                      <m:fPr>
                        <m:type m:val="lin"/>
                        <m:ctrlPr>
                          <a:rPr lang="en-US" sz="2400" b="1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1" i="1" kern="12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⃗"/>
                                <m:ctrlPr>
                                  <a:rPr lang="en-US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1" i="1" kern="120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𝒂</m:t>
                                </m:r>
                              </m:e>
                            </m:acc>
                          </m:e>
                          <m:sup>
                            <m:r>
                              <a:rPr lang="en-US" sz="2400" b="1" i="1" kern="120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𝒕</m:t>
                            </m:r>
                          </m:sup>
                        </m:sSup>
                        <m:r>
                          <a:rPr lang="en-US" sz="2400" b="1" i="0" kern="120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𝐄</m:t>
                        </m:r>
                        <m:acc>
                          <m:accPr>
                            <m:chr m:val="⃗"/>
                            <m:ctrlPr>
                              <a:rPr lang="en-US" sz="2400" b="1" i="1" kern="12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1" i="1" kern="120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</m:acc>
                      </m:num>
                      <m:den>
                        <m:r>
                          <a:rPr lang="en-US" sz="2400" b="1" i="1" kern="120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US" sz="2400" b="1" i="1" kern="120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𝒌𝒏</m:t>
                        </m:r>
                        <m:r>
                          <a:rPr lang="en-US" sz="2400" b="1" i="1" kern="120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400" b="1" i="1" kern="120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𝒌</m:t>
                        </m:r>
                        <m:r>
                          <a:rPr lang="en-US" sz="2400" b="1" i="1" kern="120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)</m:t>
                        </m:r>
                      </m:den>
                    </m:f>
                  </m:den>
                </m:f>
              </m:oMath>
            </m:oMathPara>
          </a14:m>
          <a:endParaRPr lang="en-GB" sz="2400" b="1" kern="1200" dirty="0">
            <a:solidFill>
              <a:schemeClr val="tx1"/>
            </a:solidFill>
          </a:endParaRPr>
        </a:p>
      </dsp:txBody>
      <dsp:txXfrm>
        <a:off x="47554" y="50033"/>
        <a:ext cx="7982092" cy="1528508"/>
      </dsp:txXfrm>
    </dsp:sp>
    <dsp:sp modelId="{307D0BD7-FF7D-4EBC-B3D0-7825D2241C46}">
      <dsp:nvSpPr>
        <dsp:cNvPr id="0" name=""/>
        <dsp:cNvSpPr/>
      </dsp:nvSpPr>
      <dsp:spPr>
        <a:xfrm rot="5400000">
          <a:off x="3733986" y="1666933"/>
          <a:ext cx="609227" cy="7306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2000" kern="1200">
            <a:solidFill>
              <a:schemeClr val="tx1"/>
            </a:solidFill>
          </a:endParaRPr>
        </a:p>
      </dsp:txBody>
      <dsp:txXfrm rot="-5400000">
        <a:off x="3819411" y="1727633"/>
        <a:ext cx="438377" cy="426459"/>
      </dsp:txXfrm>
    </dsp:sp>
    <dsp:sp modelId="{E9032423-17E3-41E8-A631-F06D8326A0DD}">
      <dsp:nvSpPr>
        <dsp:cNvPr id="0" name=""/>
        <dsp:cNvSpPr/>
      </dsp:nvSpPr>
      <dsp:spPr>
        <a:xfrm>
          <a:off x="0" y="2438399"/>
          <a:ext cx="8077200" cy="1623616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solidFill>
                <a:schemeClr val="tx1"/>
              </a:solidFill>
            </a:rPr>
            <a:t>Koefisien model </a:t>
          </a:r>
          <a14:m xmlns:a14="http://schemas.microsoft.com/office/drawing/2010/main">
            <m:oMath xmlns:m="http://schemas.openxmlformats.org/officeDocument/2006/math">
              <m:d>
                <m:dPr>
                  <m:ctrlPr>
                    <a:rPr lang="en-US" sz="2400" b="0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</m:ctrlPr>
                </m:dPr>
                <m:e>
                  <m:acc>
                    <m:accPr>
                      <m:chr m:val="⃗"/>
                      <m:ctrlPr>
                        <a:rPr lang="en-US" sz="24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</m:ctrlPr>
                    </m:accPr>
                    <m:e>
                      <m:r>
                        <a:rPr lang="en-US" sz="2400" b="0" i="1" kern="1200" smtClean="0">
                          <a:solidFill>
                            <a:schemeClr val="tx1"/>
                          </a:solidFill>
                          <a:latin typeface="Cambria Math"/>
                        </a:rPr>
                        <m:t>𝑎</m:t>
                      </m:r>
                    </m:e>
                  </m:acc>
                </m:e>
              </m:d>
            </m:oMath>
          </a14:m>
          <a:r>
            <a:rPr lang="en-US" sz="2400" kern="1200" dirty="0" smtClean="0">
              <a:solidFill>
                <a:schemeClr val="tx1"/>
              </a:solidFill>
            </a:rPr>
            <a:t> </a:t>
          </a:r>
          <a:r>
            <a:rPr lang="en-US" sz="2400" kern="1200" dirty="0" err="1" smtClean="0">
              <a:solidFill>
                <a:schemeClr val="tx1"/>
              </a:solidFill>
            </a:rPr>
            <a:t>untuk</a:t>
          </a:r>
          <a:r>
            <a:rPr lang="en-US" sz="2400" kern="1200" dirty="0" smtClean="0">
              <a:solidFill>
                <a:schemeClr val="tx1"/>
              </a:solidFill>
            </a:rPr>
            <a:t> </a:t>
          </a:r>
          <a:r>
            <a:rPr lang="en-US" sz="2400" kern="1200" dirty="0" err="1" smtClean="0">
              <a:solidFill>
                <a:schemeClr val="tx1"/>
              </a:solidFill>
            </a:rPr>
            <a:t>variabel</a:t>
          </a:r>
          <a:r>
            <a:rPr lang="en-US" sz="2400" kern="1200" dirty="0" smtClean="0">
              <a:solidFill>
                <a:schemeClr val="tx1"/>
              </a:solidFill>
            </a:rPr>
            <a:t> </a:t>
          </a:r>
          <a:r>
            <a:rPr lang="en-US" sz="2400" kern="1200" dirty="0" err="1">
              <a:solidFill>
                <a:schemeClr val="tx1"/>
              </a:solidFill>
            </a:rPr>
            <a:t>respon</a:t>
          </a:r>
          <a:r>
            <a:rPr lang="en-US" sz="2400" kern="1200" dirty="0">
              <a:solidFill>
                <a:schemeClr val="tx1"/>
              </a:solidFill>
            </a:rPr>
            <a:t> </a:t>
          </a:r>
          <a14:m xmlns:a14="http://schemas.microsoft.com/office/drawing/2010/main">
            <m:oMath xmlns:m="http://schemas.openxmlformats.org/officeDocument/2006/math">
              <m:r>
                <a:rPr lang="en-US" sz="2400" b="0" i="1" kern="1200" dirty="0" smtClean="0">
                  <a:solidFill>
                    <a:schemeClr val="tx1"/>
                  </a:solidFill>
                  <a:latin typeface="Cambria Math"/>
                </a:rPr>
                <m:t>𝑘</m:t>
              </m:r>
            </m:oMath>
          </a14:m>
          <a:r>
            <a:rPr lang="en-US" sz="2400" b="1" kern="1200" dirty="0" smtClean="0">
              <a:solidFill>
                <a:schemeClr val="tx1"/>
              </a:solidFill>
            </a:rPr>
            <a:t> </a:t>
          </a:r>
          <a:r>
            <a:rPr lang="en-US" sz="2400" b="1" kern="1200" dirty="0" err="1" smtClean="0">
              <a:solidFill>
                <a:schemeClr val="tx1"/>
              </a:solidFill>
            </a:rPr>
            <a:t>kategori</a:t>
          </a:r>
          <a:r>
            <a:rPr lang="en-US" sz="2400" kern="1200" dirty="0" smtClean="0">
              <a:solidFill>
                <a:schemeClr val="tx1"/>
              </a:solidFill>
            </a:rPr>
            <a:t>:  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2400" b="1" i="1" kern="1200" smtClean="0">
                    <a:solidFill>
                      <a:schemeClr val="tx1"/>
                    </a:solidFill>
                    <a:latin typeface="Cambria Math"/>
                    <a:ea typeface="Cambria Math"/>
                  </a:rPr>
                  <m:t>𝝀</m:t>
                </m:r>
                <m:r>
                  <a:rPr lang="en-US" sz="2400" b="1" i="1" kern="1200" smtClean="0">
                    <a:solidFill>
                      <a:schemeClr val="tx1"/>
                    </a:solidFill>
                    <a:latin typeface="Cambria Math"/>
                  </a:rPr>
                  <m:t>=</m:t>
                </m:r>
                <m:f>
                  <m:fPr>
                    <m:ctrlPr>
                      <a:rPr lang="en-US" sz="2400" b="1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sSup>
                      <m:sSupPr>
                        <m:ctrlPr>
                          <a:rPr lang="en-US" sz="2400" b="1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2400" b="1" i="1" kern="12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1" i="1" kern="120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</m:acc>
                      </m:e>
                      <m:sup>
                        <m:r>
                          <a:rPr lang="en-US" sz="2400" b="1" i="1" kern="120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𝒕</m:t>
                        </m:r>
                      </m:sup>
                    </m:sSup>
                    <m:r>
                      <a:rPr lang="en-US" sz="2400" b="1" i="0" kern="1200" smtClean="0">
                        <a:solidFill>
                          <a:schemeClr val="tx1"/>
                        </a:solidFill>
                        <a:latin typeface="Cambria Math"/>
                      </a:rPr>
                      <m:t>𝐇</m:t>
                    </m:r>
                    <m:acc>
                      <m:accPr>
                        <m:chr m:val="⃗"/>
                        <m:ctrlPr>
                          <a:rPr lang="en-US" sz="2400" b="1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 kern="120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𝒂</m:t>
                        </m:r>
                      </m:e>
                    </m:acc>
                  </m:num>
                  <m:den>
                    <m:sSup>
                      <m:sSupPr>
                        <m:ctrlPr>
                          <a:rPr lang="en-US" sz="2400" b="1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2400" b="1" i="1" kern="120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1" i="1" kern="120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</m:acc>
                      </m:e>
                      <m:sup>
                        <m:r>
                          <a:rPr lang="en-US" sz="2400" b="1" i="1" kern="120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𝒕</m:t>
                        </m:r>
                      </m:sup>
                    </m:sSup>
                    <m:r>
                      <a:rPr lang="en-US" sz="2400" b="1" i="0" kern="1200" smtClean="0">
                        <a:solidFill>
                          <a:schemeClr val="tx1"/>
                        </a:solidFill>
                        <a:latin typeface="Cambria Math"/>
                      </a:rPr>
                      <m:t>𝐄</m:t>
                    </m:r>
                    <m:acc>
                      <m:accPr>
                        <m:chr m:val="⃗"/>
                        <m:ctrlPr>
                          <a:rPr lang="en-US" sz="2400" b="1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 kern="120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𝒂</m:t>
                        </m:r>
                      </m:e>
                    </m:acc>
                  </m:den>
                </m:f>
                <m:r>
                  <a:rPr lang="en-US" sz="2400" b="1" i="1" kern="1200" smtClean="0">
                    <a:solidFill>
                      <a:schemeClr val="tx1"/>
                    </a:solidFill>
                    <a:latin typeface="Cambria Math"/>
                  </a:rPr>
                  <m:t> </m:t>
                </m:r>
                <m:r>
                  <a:rPr lang="en-US" sz="2400" b="1" i="1" kern="1200" smtClean="0">
                    <a:solidFill>
                      <a:schemeClr val="tx1"/>
                    </a:solidFill>
                    <a:latin typeface="Cambria Math"/>
                    <a:ea typeface="Cambria Math"/>
                  </a:rPr>
                  <m:t>→ </m:t>
                </m:r>
                <m:d>
                  <m:dPr>
                    <m:ctrlPr>
                      <a:rPr lang="en-US" sz="2400" b="1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</m:ctrlPr>
                  </m:dPr>
                  <m:e>
                    <m:sSup>
                      <m:sSupPr>
                        <m:ctrlPr>
                          <a:rPr lang="en-US" sz="2400" b="1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0" kern="120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𝐄</m:t>
                        </m:r>
                      </m:e>
                      <m:sup>
                        <m:r>
                          <a:rPr lang="en-US" sz="2400" b="1" i="1" kern="120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400" b="1" i="1" kern="120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𝟏</m:t>
                        </m:r>
                      </m:sup>
                    </m:sSup>
                    <m:r>
                      <a:rPr lang="en-US" sz="2400" b="1" i="0" kern="1200" smtClean="0">
                        <a:solidFill>
                          <a:schemeClr val="tx1"/>
                        </a:solidFill>
                        <a:latin typeface="Cambria Math"/>
                      </a:rPr>
                      <m:t>𝐇</m:t>
                    </m:r>
                    <m:r>
                      <a:rPr lang="en-US" sz="2400" b="1" i="1" kern="1200" smtClean="0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r>
                      <a:rPr lang="en-US" sz="2400" b="1" i="1" kern="120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𝝀</m:t>
                    </m:r>
                    <m:r>
                      <a:rPr lang="en-US" sz="2400" b="1" i="0" kern="1200" smtClean="0">
                        <a:solidFill>
                          <a:schemeClr val="tx1"/>
                        </a:solidFill>
                        <a:latin typeface="Cambria Math"/>
                      </a:rPr>
                      <m:t>𝐈</m:t>
                    </m:r>
                  </m:e>
                </m:d>
                <m:acc>
                  <m:accPr>
                    <m:chr m:val="⃗"/>
                    <m:ctrlPr>
                      <a:rPr lang="en-US" sz="2400" b="1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</m:ctrlPr>
                  </m:accPr>
                  <m:e>
                    <m:r>
                      <a:rPr lang="en-US" sz="2400" b="1" i="1" kern="1200" smtClean="0">
                        <a:solidFill>
                          <a:schemeClr val="tx1"/>
                        </a:solidFill>
                        <a:latin typeface="Cambria Math"/>
                      </a:rPr>
                      <m:t>𝒂</m:t>
                    </m:r>
                  </m:e>
                </m:acc>
                <m:r>
                  <a:rPr lang="en-US" sz="2400" b="1" i="1" kern="1200" smtClean="0">
                    <a:solidFill>
                      <a:schemeClr val="tx1"/>
                    </a:solidFill>
                    <a:latin typeface="Cambria Math"/>
                  </a:rPr>
                  <m:t>=</m:t>
                </m:r>
                <m:r>
                  <a:rPr lang="en-US" sz="2400" b="1" i="1" kern="1200" smtClean="0">
                    <a:solidFill>
                      <a:schemeClr val="tx1"/>
                    </a:solidFill>
                    <a:latin typeface="Cambria Math"/>
                  </a:rPr>
                  <m:t>𝟎</m:t>
                </m:r>
              </m:oMath>
            </m:oMathPara>
          </a14:m>
          <a:endParaRPr lang="en-GB" sz="2400" b="1" kern="1200" dirty="0">
            <a:solidFill>
              <a:schemeClr val="tx1"/>
            </a:solidFill>
          </a:endParaRPr>
        </a:p>
      </dsp:txBody>
      <dsp:txXfrm>
        <a:off x="47554" y="2485953"/>
        <a:ext cx="7982092" cy="152850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DE9B90-FF88-427E-A58A-0149D39AED28}">
      <dsp:nvSpPr>
        <dsp:cNvPr id="0" name=""/>
        <dsp:cNvSpPr/>
      </dsp:nvSpPr>
      <dsp:spPr>
        <a:xfrm>
          <a:off x="3616" y="649508"/>
          <a:ext cx="1581224" cy="948734"/>
        </a:xfrm>
        <a:prstGeom prst="roundRect">
          <a:avLst>
            <a:gd name="adj" fmla="val 10000"/>
          </a:avLst>
        </a:prstGeom>
        <a:solidFill>
          <a:srgbClr val="FF99FF"/>
        </a:solidFill>
        <a:ln w="12700" cap="flat" cmpd="sng" algn="ctr">
          <a:solidFill>
            <a:srgbClr val="FF99F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solidFill>
                <a:schemeClr val="tx2"/>
              </a:solidFill>
            </a:rPr>
            <a:t>N</a:t>
          </a:r>
          <a:r>
            <a:rPr lang="id-ID" sz="1200" b="1" kern="1200" dirty="0" smtClean="0">
              <a:solidFill>
                <a:schemeClr val="tx2"/>
              </a:solidFill>
            </a:rPr>
            <a:t>yatakan </a:t>
          </a:r>
          <a:r>
            <a:rPr lang="id-ID" sz="1200" b="1" kern="1200" dirty="0">
              <a:solidFill>
                <a:schemeClr val="tx2"/>
              </a:solidFill>
            </a:rPr>
            <a:t>matriks data </a:t>
          </a:r>
          <a:r>
            <a:rPr lang="en-US" sz="1200" b="1" kern="1200" dirty="0" err="1" smtClean="0">
              <a:solidFill>
                <a:schemeClr val="tx2"/>
              </a:solidFill>
            </a:rPr>
            <a:t>sebagai</a:t>
          </a:r>
          <a:r>
            <a:rPr lang="en-US" sz="1200" b="1" kern="1200" dirty="0" smtClean="0">
              <a:solidFill>
                <a:schemeClr val="tx2"/>
              </a:solidFill>
            </a:rPr>
            <a:t> </a:t>
          </a:r>
          <a14:m xmlns:a14="http://schemas.microsoft.com/office/drawing/2010/main">
            <m:oMath xmlns:m="http://schemas.openxmlformats.org/officeDocument/2006/math">
              <m:r>
                <a:rPr lang="en-US" sz="1200" b="1" i="1" kern="1200" smtClean="0">
                  <a:solidFill>
                    <a:schemeClr val="tx2"/>
                  </a:solidFill>
                  <a:latin typeface="Cambria Math"/>
                </a:rPr>
                <m:t>𝑿</m:t>
              </m:r>
            </m:oMath>
          </a14:m>
          <a:r>
            <a:rPr lang="en-US" sz="1200" b="1" kern="1200" dirty="0" smtClean="0">
              <a:solidFill>
                <a:schemeClr val="tx2"/>
              </a:solidFill>
            </a:rPr>
            <a:t> </a:t>
          </a:r>
          <a:r>
            <a:rPr lang="en-US" sz="1200" b="1" kern="1200" dirty="0" err="1" smtClean="0">
              <a:solidFill>
                <a:schemeClr val="tx2"/>
              </a:solidFill>
            </a:rPr>
            <a:t>dengan</a:t>
          </a:r>
          <a:r>
            <a:rPr lang="en-US" sz="1200" b="1" kern="1200" dirty="0" smtClean="0">
              <a:solidFill>
                <a:schemeClr val="tx2"/>
              </a:solidFill>
            </a:rPr>
            <a:t> </a:t>
          </a:r>
          <a:r>
            <a:rPr lang="en-US" sz="1200" b="1" kern="1200" dirty="0" err="1" smtClean="0">
              <a:solidFill>
                <a:schemeClr val="tx2"/>
              </a:solidFill>
            </a:rPr>
            <a:t>variabel</a:t>
          </a:r>
          <a:r>
            <a:rPr lang="en-US" sz="1200" b="1" kern="1200" dirty="0" smtClean="0">
              <a:solidFill>
                <a:schemeClr val="tx2"/>
              </a:solidFill>
            </a:rPr>
            <a:t> </a:t>
          </a:r>
          <a14:m xmlns:a14="http://schemas.microsoft.com/office/drawing/2010/main">
            <m:oMath xmlns:m="http://schemas.openxmlformats.org/officeDocument/2006/math">
              <m:r>
                <a:rPr lang="en-US" sz="1200" b="1" i="1" kern="1200" dirty="0" smtClean="0">
                  <a:solidFill>
                    <a:schemeClr val="tx2"/>
                  </a:solidFill>
                  <a:latin typeface="Cambria Math"/>
                </a:rPr>
                <m:t>𝒀</m:t>
              </m:r>
            </m:oMath>
          </a14:m>
          <a:r>
            <a:rPr lang="en-US" sz="1200" b="1" kern="1200" dirty="0" smtClean="0">
              <a:solidFill>
                <a:schemeClr val="tx2"/>
              </a:solidFill>
            </a:rPr>
            <a:t> </a:t>
          </a:r>
          <a:r>
            <a:rPr lang="en-US" sz="1200" b="1" kern="1200" dirty="0" err="1" smtClean="0">
              <a:solidFill>
                <a:schemeClr val="tx2"/>
              </a:solidFill>
            </a:rPr>
            <a:t>terurut</a:t>
          </a:r>
          <a:endParaRPr lang="id-ID" sz="1200" b="1" kern="1200" dirty="0">
            <a:solidFill>
              <a:schemeClr val="tx2"/>
            </a:solidFill>
          </a:endParaRPr>
        </a:p>
      </dsp:txBody>
      <dsp:txXfrm>
        <a:off x="31403" y="677295"/>
        <a:ext cx="1525650" cy="893160"/>
      </dsp:txXfrm>
    </dsp:sp>
    <dsp:sp modelId="{FE006960-BC87-4FE8-ACDD-A918B7AAA70A}">
      <dsp:nvSpPr>
        <dsp:cNvPr id="0" name=""/>
        <dsp:cNvSpPr/>
      </dsp:nvSpPr>
      <dsp:spPr>
        <a:xfrm>
          <a:off x="1723988" y="927803"/>
          <a:ext cx="335219" cy="392143"/>
        </a:xfrm>
        <a:prstGeom prst="rightArrow">
          <a:avLst>
            <a:gd name="adj1" fmla="val 60000"/>
            <a:gd name="adj2" fmla="val 50000"/>
          </a:avLst>
        </a:prstGeom>
        <a:solidFill>
          <a:srgbClr val="7030A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id-ID" sz="1700" kern="1200"/>
        </a:p>
      </dsp:txBody>
      <dsp:txXfrm>
        <a:off x="1723988" y="1006232"/>
        <a:ext cx="234653" cy="235285"/>
      </dsp:txXfrm>
    </dsp:sp>
    <dsp:sp modelId="{C663D752-1C7D-4468-AC81-F90B20F9E3DC}">
      <dsp:nvSpPr>
        <dsp:cNvPr id="0" name=""/>
        <dsp:cNvSpPr/>
      </dsp:nvSpPr>
      <dsp:spPr>
        <a:xfrm>
          <a:off x="2217330" y="649508"/>
          <a:ext cx="1581224" cy="948734"/>
        </a:xfrm>
        <a:prstGeom prst="roundRect">
          <a:avLst>
            <a:gd name="adj" fmla="val 10000"/>
          </a:avLst>
        </a:prstGeom>
        <a:solidFill>
          <a:srgbClr val="33CCFF"/>
        </a:solidFill>
        <a:ln w="12700" cap="flat" cmpd="sng" algn="ctr">
          <a:solidFill>
            <a:srgbClr val="33CCF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err="1" smtClean="0">
              <a:solidFill>
                <a:schemeClr val="tx1"/>
              </a:solidFill>
            </a:rPr>
            <a:t>Hitung</a:t>
          </a:r>
          <a:r>
            <a:rPr lang="en-US" sz="1600" b="1" kern="1200" dirty="0" smtClean="0">
              <a:solidFill>
                <a:schemeClr val="tx1"/>
              </a:solidFill>
            </a:rPr>
            <a:t> </a:t>
          </a:r>
          <a:r>
            <a:rPr lang="en-US" sz="1600" b="1" kern="1200" dirty="0" err="1" smtClean="0">
              <a:solidFill>
                <a:schemeClr val="tx1"/>
              </a:solidFill>
            </a:rPr>
            <a:t>matriks</a:t>
          </a:r>
          <a:r>
            <a:rPr lang="en-US" sz="1600" b="1" kern="1200" dirty="0" smtClean="0">
              <a:solidFill>
                <a:schemeClr val="tx1"/>
              </a:solidFill>
            </a:rPr>
            <a:t> </a:t>
          </a:r>
          <a:r>
            <a:rPr lang="en-US" sz="1600" b="1" i="1" kern="1200" dirty="0" smtClean="0">
              <a:solidFill>
                <a:schemeClr val="tx1"/>
              </a:solidFill>
            </a:rPr>
            <a:t>between H</a:t>
          </a:r>
          <a:endParaRPr lang="id-ID" sz="1600" b="1" i="1" kern="1200" dirty="0">
            <a:solidFill>
              <a:schemeClr val="tx1"/>
            </a:solidFill>
          </a:endParaRPr>
        </a:p>
      </dsp:txBody>
      <dsp:txXfrm>
        <a:off x="2245117" y="677295"/>
        <a:ext cx="1525650" cy="893160"/>
      </dsp:txXfrm>
    </dsp:sp>
    <dsp:sp modelId="{E77C461F-80DB-403D-9463-F6366E095577}">
      <dsp:nvSpPr>
        <dsp:cNvPr id="0" name=""/>
        <dsp:cNvSpPr/>
      </dsp:nvSpPr>
      <dsp:spPr>
        <a:xfrm>
          <a:off x="3937702" y="927803"/>
          <a:ext cx="335219" cy="392143"/>
        </a:xfrm>
        <a:prstGeom prst="rightArrow">
          <a:avLst>
            <a:gd name="adj1" fmla="val 60000"/>
            <a:gd name="adj2" fmla="val 50000"/>
          </a:avLst>
        </a:prstGeom>
        <a:solidFill>
          <a:srgbClr val="7030A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id-ID" sz="1700" kern="1200"/>
        </a:p>
      </dsp:txBody>
      <dsp:txXfrm>
        <a:off x="3937702" y="1006232"/>
        <a:ext cx="234653" cy="235285"/>
      </dsp:txXfrm>
    </dsp:sp>
    <dsp:sp modelId="{9BEA32ED-D2C5-4196-9EFA-D35C95FAA9D4}">
      <dsp:nvSpPr>
        <dsp:cNvPr id="0" name=""/>
        <dsp:cNvSpPr/>
      </dsp:nvSpPr>
      <dsp:spPr>
        <a:xfrm>
          <a:off x="4431044" y="649508"/>
          <a:ext cx="1581224" cy="948734"/>
        </a:xfrm>
        <a:prstGeom prst="roundRect">
          <a:avLst>
            <a:gd name="adj" fmla="val 10000"/>
          </a:avLst>
        </a:prstGeom>
        <a:solidFill>
          <a:srgbClr val="FF9933"/>
        </a:solidFill>
        <a:ln w="12700" cap="flat" cmpd="sng" algn="ctr">
          <a:solidFill>
            <a:srgbClr val="FF993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solidFill>
                <a:schemeClr val="tx1"/>
              </a:solidFill>
            </a:rPr>
            <a:t>Hitung </a:t>
          </a:r>
          <a:r>
            <a:rPr lang="en-US" sz="1600" b="1" kern="1200" dirty="0" err="1" smtClean="0">
              <a:solidFill>
                <a:schemeClr val="tx1"/>
              </a:solidFill>
            </a:rPr>
            <a:t>mariks</a:t>
          </a:r>
          <a:r>
            <a:rPr lang="en-US" sz="1600" b="1" kern="1200" dirty="0" smtClean="0">
              <a:solidFill>
                <a:schemeClr val="tx1"/>
              </a:solidFill>
            </a:rPr>
            <a:t> </a:t>
          </a:r>
          <a:r>
            <a:rPr lang="en-GB" sz="1600" b="1" i="1" kern="1200" dirty="0" smtClean="0">
              <a:solidFill>
                <a:schemeClr val="tx1"/>
              </a:solidFill>
            </a:rPr>
            <a:t>within</a:t>
          </a:r>
          <a:r>
            <a:rPr lang="en-GB" sz="1600" b="1" kern="1200" dirty="0" smtClean="0">
              <a:solidFill>
                <a:schemeClr val="tx1"/>
              </a:solidFill>
            </a:rPr>
            <a:t> </a:t>
          </a:r>
          <a14:m xmlns:a14="http://schemas.microsoft.com/office/drawing/2010/main">
            <m:oMath xmlns:m="http://schemas.openxmlformats.org/officeDocument/2006/math">
              <m:r>
                <a:rPr lang="en-US" sz="1600" b="1" i="0" kern="1200" smtClean="0">
                  <a:solidFill>
                    <a:schemeClr val="tx1"/>
                  </a:solidFill>
                  <a:latin typeface="Cambria Math"/>
                </a:rPr>
                <m:t>𝐄</m:t>
              </m:r>
            </m:oMath>
          </a14:m>
          <a:endParaRPr lang="id-ID" sz="1600" b="1" kern="1200" dirty="0">
            <a:solidFill>
              <a:schemeClr val="tx1"/>
            </a:solidFill>
          </a:endParaRPr>
        </a:p>
      </dsp:txBody>
      <dsp:txXfrm>
        <a:off x="4458831" y="677295"/>
        <a:ext cx="1525650" cy="893160"/>
      </dsp:txXfrm>
    </dsp:sp>
    <dsp:sp modelId="{31333B5C-7F1C-4082-A91E-9DB266FAA769}">
      <dsp:nvSpPr>
        <dsp:cNvPr id="0" name=""/>
        <dsp:cNvSpPr/>
      </dsp:nvSpPr>
      <dsp:spPr>
        <a:xfrm>
          <a:off x="6151417" y="927803"/>
          <a:ext cx="335219" cy="392143"/>
        </a:xfrm>
        <a:prstGeom prst="rightArrow">
          <a:avLst>
            <a:gd name="adj1" fmla="val 60000"/>
            <a:gd name="adj2" fmla="val 50000"/>
          </a:avLst>
        </a:prstGeom>
        <a:solidFill>
          <a:srgbClr val="7030A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id-ID" sz="1700" kern="1200"/>
        </a:p>
      </dsp:txBody>
      <dsp:txXfrm>
        <a:off x="6151417" y="1006232"/>
        <a:ext cx="234653" cy="235285"/>
      </dsp:txXfrm>
    </dsp:sp>
    <dsp:sp modelId="{5ED9CD20-F149-4713-9495-197CADF124AF}">
      <dsp:nvSpPr>
        <dsp:cNvPr id="0" name=""/>
        <dsp:cNvSpPr/>
      </dsp:nvSpPr>
      <dsp:spPr>
        <a:xfrm>
          <a:off x="6644759" y="649508"/>
          <a:ext cx="1581224" cy="948734"/>
        </a:xfrm>
        <a:prstGeom prst="roundRect">
          <a:avLst>
            <a:gd name="adj" fmla="val 10000"/>
          </a:avLst>
        </a:prstGeom>
        <a:solidFill>
          <a:srgbClr val="92D050"/>
        </a:solidFill>
        <a:ln w="12700" cap="flat" cmpd="sng" algn="ctr">
          <a:solidFill>
            <a:srgbClr val="92D05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solidFill>
                <a:schemeClr val="tx1"/>
              </a:solidFill>
            </a:rPr>
            <a:t>Hitung invers </a:t>
          </a:r>
          <a:r>
            <a:rPr lang="en-US" sz="1600" b="1" kern="1200" dirty="0" err="1" smtClean="0">
              <a:solidFill>
                <a:schemeClr val="tx1"/>
              </a:solidFill>
            </a:rPr>
            <a:t>mariks</a:t>
          </a:r>
          <a:r>
            <a:rPr lang="en-US" sz="1600" b="1" kern="1200" dirty="0" smtClean="0">
              <a:solidFill>
                <a:schemeClr val="tx1"/>
              </a:solidFill>
            </a:rPr>
            <a:t> </a:t>
          </a:r>
          <a:r>
            <a:rPr lang="en-GB" sz="1600" b="1" i="1" kern="1200" dirty="0">
              <a:solidFill>
                <a:schemeClr val="tx1"/>
              </a:solidFill>
            </a:rPr>
            <a:t>within</a:t>
          </a:r>
          <a:r>
            <a:rPr lang="en-GB" sz="1600" b="1" kern="1200" dirty="0">
              <a:solidFill>
                <a:schemeClr val="tx1"/>
              </a:solidFill>
            </a:rPr>
            <a:t> </a:t>
          </a:r>
          <a14:m xmlns:a14="http://schemas.microsoft.com/office/drawing/2010/main">
            <m:oMath xmlns:m="http://schemas.openxmlformats.org/officeDocument/2006/math">
              <m:sSup>
                <m:sSupPr>
                  <m:ctrlPr>
                    <a:rPr lang="en-US" sz="1600" b="1" i="1" kern="1200" smtClean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</m:ctrlPr>
                </m:sSupPr>
                <m:e>
                  <m:r>
                    <a:rPr lang="en-US" sz="1600" b="1" kern="1200">
                      <a:solidFill>
                        <a:schemeClr val="tx1"/>
                      </a:solidFill>
                      <a:latin typeface="Cambria Math"/>
                    </a:rPr>
                    <m:t>𝐄</m:t>
                  </m:r>
                </m:e>
                <m:sup>
                  <m:r>
                    <a:rPr lang="en-US" sz="1600" b="1" i="0" kern="1200" smtClean="0">
                      <a:solidFill>
                        <a:schemeClr val="tx1"/>
                      </a:solidFill>
                      <a:latin typeface="Cambria Math"/>
                    </a:rPr>
                    <m:t>−</m:t>
                  </m:r>
                  <m:r>
                    <a:rPr lang="en-US" sz="1600" b="1" i="0" kern="1200" smtClean="0">
                      <a:solidFill>
                        <a:schemeClr val="tx1"/>
                      </a:solidFill>
                      <a:latin typeface="Cambria Math"/>
                    </a:rPr>
                    <m:t>𝟏</m:t>
                  </m:r>
                </m:sup>
              </m:sSup>
            </m:oMath>
          </a14:m>
          <a:endParaRPr lang="id-ID" sz="1600" b="1" kern="1200" dirty="0">
            <a:solidFill>
              <a:schemeClr val="tx1"/>
            </a:solidFill>
          </a:endParaRPr>
        </a:p>
      </dsp:txBody>
      <dsp:txXfrm>
        <a:off x="6672546" y="677295"/>
        <a:ext cx="1525650" cy="893160"/>
      </dsp:txXfrm>
    </dsp:sp>
    <dsp:sp modelId="{0A255D4D-CEAE-4A91-BE94-4BD2D0AA8DEC}">
      <dsp:nvSpPr>
        <dsp:cNvPr id="0" name=""/>
        <dsp:cNvSpPr/>
      </dsp:nvSpPr>
      <dsp:spPr>
        <a:xfrm rot="5400000">
          <a:off x="7267761" y="1708928"/>
          <a:ext cx="335219" cy="392143"/>
        </a:xfrm>
        <a:prstGeom prst="rightArrow">
          <a:avLst>
            <a:gd name="adj1" fmla="val 60000"/>
            <a:gd name="adj2" fmla="val 50000"/>
          </a:avLst>
        </a:prstGeom>
        <a:solidFill>
          <a:srgbClr val="7030A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id-ID" sz="1700" kern="1200"/>
        </a:p>
      </dsp:txBody>
      <dsp:txXfrm rot="-5400000">
        <a:off x="7317728" y="1737390"/>
        <a:ext cx="235285" cy="234653"/>
      </dsp:txXfrm>
    </dsp:sp>
    <dsp:sp modelId="{69759FE9-4488-44D0-89D8-C01759C86D40}">
      <dsp:nvSpPr>
        <dsp:cNvPr id="0" name=""/>
        <dsp:cNvSpPr/>
      </dsp:nvSpPr>
      <dsp:spPr>
        <a:xfrm>
          <a:off x="6644759" y="2230732"/>
          <a:ext cx="1581224" cy="948734"/>
        </a:xfrm>
        <a:prstGeom prst="roundRect">
          <a:avLst>
            <a:gd name="adj" fmla="val 10000"/>
          </a:avLst>
        </a:prstGeom>
        <a:solidFill>
          <a:srgbClr val="6666FF"/>
        </a:solidFill>
        <a:ln w="12700" cap="flat" cmpd="sng" algn="ctr">
          <a:solidFill>
            <a:srgbClr val="FFFF99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solidFill>
                <a:schemeClr val="tx1"/>
              </a:solidFill>
            </a:rPr>
            <a:t>Hitung </a:t>
          </a:r>
          <a:r>
            <a:rPr lang="en-US" sz="1600" b="1" kern="1200" dirty="0" err="1" smtClean="0">
              <a:solidFill>
                <a:schemeClr val="tx1"/>
              </a:solidFill>
            </a:rPr>
            <a:t>mariks</a:t>
          </a:r>
          <a:r>
            <a:rPr lang="en-US" sz="1600" b="1" kern="1200" dirty="0" smtClean="0">
              <a:solidFill>
                <a:schemeClr val="tx1"/>
              </a:solidFill>
            </a:rPr>
            <a:t> </a:t>
          </a:r>
          <a14:m xmlns:a14="http://schemas.microsoft.com/office/drawing/2010/main">
            <m:oMath xmlns:m="http://schemas.openxmlformats.org/officeDocument/2006/math">
              <m:sSup>
                <m:sSupPr>
                  <m:ctrlPr>
                    <a:rPr lang="en-US" sz="1600" b="1" i="1" kern="120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</m:ctrlPr>
                </m:sSupPr>
                <m:e>
                  <m:r>
                    <a:rPr lang="en-US" sz="1600" b="1" kern="1200">
                      <a:solidFill>
                        <a:schemeClr val="tx1"/>
                      </a:solidFill>
                      <a:latin typeface="Cambria Math"/>
                    </a:rPr>
                    <m:t>𝐄</m:t>
                  </m:r>
                </m:e>
                <m:sup>
                  <m:r>
                    <a:rPr lang="en-US" sz="1600" b="1" kern="1200">
                      <a:solidFill>
                        <a:schemeClr val="tx1"/>
                      </a:solidFill>
                      <a:latin typeface="Cambria Math"/>
                    </a:rPr>
                    <m:t>−</m:t>
                  </m:r>
                  <m:r>
                    <a:rPr lang="en-US" sz="1600" b="1" i="1" kern="1200">
                      <a:solidFill>
                        <a:schemeClr val="tx1"/>
                      </a:solidFill>
                      <a:latin typeface="Cambria Math"/>
                    </a:rPr>
                    <m:t>𝟏</m:t>
                  </m:r>
                </m:sup>
              </m:sSup>
              <m:r>
                <a:rPr lang="en-US" sz="1600" b="1" i="0" kern="1200" smtClean="0">
                  <a:solidFill>
                    <a:schemeClr val="tx1"/>
                  </a:solidFill>
                  <a:latin typeface="Cambria Math"/>
                </a:rPr>
                <m:t>𝐇</m:t>
              </m:r>
            </m:oMath>
          </a14:m>
          <a:endParaRPr lang="id-ID" sz="1600" b="1" kern="1200" dirty="0">
            <a:solidFill>
              <a:schemeClr val="tx1"/>
            </a:solidFill>
          </a:endParaRPr>
        </a:p>
      </dsp:txBody>
      <dsp:txXfrm>
        <a:off x="6672546" y="2258519"/>
        <a:ext cx="1525650" cy="893160"/>
      </dsp:txXfrm>
    </dsp:sp>
    <dsp:sp modelId="{A459E245-0B47-4C2E-9779-F13F1E66EE9B}">
      <dsp:nvSpPr>
        <dsp:cNvPr id="0" name=""/>
        <dsp:cNvSpPr/>
      </dsp:nvSpPr>
      <dsp:spPr>
        <a:xfrm rot="10800000">
          <a:off x="6170391" y="2509028"/>
          <a:ext cx="335219" cy="392143"/>
        </a:xfrm>
        <a:prstGeom prst="rightArrow">
          <a:avLst>
            <a:gd name="adj1" fmla="val 60000"/>
            <a:gd name="adj2" fmla="val 50000"/>
          </a:avLst>
        </a:prstGeom>
        <a:solidFill>
          <a:srgbClr val="7030A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id-ID" sz="1700" kern="1200"/>
        </a:p>
      </dsp:txBody>
      <dsp:txXfrm rot="10800000">
        <a:off x="6270957" y="2587457"/>
        <a:ext cx="234653" cy="235285"/>
      </dsp:txXfrm>
    </dsp:sp>
    <dsp:sp modelId="{688A4609-EF46-4F6C-97C8-0EBD9EDE6A73}">
      <dsp:nvSpPr>
        <dsp:cNvPr id="0" name=""/>
        <dsp:cNvSpPr/>
      </dsp:nvSpPr>
      <dsp:spPr>
        <a:xfrm>
          <a:off x="4431044" y="2230732"/>
          <a:ext cx="1581224" cy="948734"/>
        </a:xfrm>
        <a:prstGeom prst="roundRect">
          <a:avLst>
            <a:gd name="adj" fmla="val 10000"/>
          </a:avLst>
        </a:prstGeom>
        <a:solidFill>
          <a:srgbClr val="FF0066"/>
        </a:solidFill>
        <a:ln w="12700" cap="flat" cmpd="sng" algn="ctr">
          <a:solidFill>
            <a:srgbClr val="FF0066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solidFill>
                <a:schemeClr val="tx1"/>
              </a:solidFill>
            </a:rPr>
            <a:t>Hitung </a:t>
          </a:r>
          <a:r>
            <a:rPr lang="en-US" sz="1600" b="1" kern="1200" dirty="0" err="1" smtClean="0">
              <a:solidFill>
                <a:schemeClr val="tx1"/>
              </a:solidFill>
            </a:rPr>
            <a:t>nilai</a:t>
          </a:r>
          <a:r>
            <a:rPr lang="en-US" sz="1600" b="1" kern="1200" dirty="0" smtClean="0">
              <a:solidFill>
                <a:schemeClr val="tx1"/>
              </a:solidFill>
            </a:rPr>
            <a:t> </a:t>
          </a:r>
          <a:r>
            <a:rPr lang="en-US" sz="1600" b="1" kern="1200" dirty="0" err="1" smtClean="0">
              <a:solidFill>
                <a:schemeClr val="tx1"/>
              </a:solidFill>
            </a:rPr>
            <a:t>dan</a:t>
          </a:r>
          <a:r>
            <a:rPr lang="en-US" sz="1600" b="1" kern="1200" dirty="0" smtClean="0">
              <a:solidFill>
                <a:schemeClr val="tx1"/>
              </a:solidFill>
            </a:rPr>
            <a:t> </a:t>
          </a:r>
          <a:r>
            <a:rPr lang="en-US" sz="1600" b="1" kern="1200" dirty="0" err="1" smtClean="0">
              <a:solidFill>
                <a:schemeClr val="tx1"/>
              </a:solidFill>
            </a:rPr>
            <a:t>vektor</a:t>
          </a:r>
          <a:r>
            <a:rPr lang="en-US" sz="1600" b="1" kern="1200" dirty="0" smtClean="0">
              <a:solidFill>
                <a:schemeClr val="tx1"/>
              </a:solidFill>
            </a:rPr>
            <a:t> </a:t>
          </a:r>
          <a:r>
            <a:rPr lang="en-US" sz="1600" b="1" kern="1200" dirty="0" err="1" smtClean="0">
              <a:solidFill>
                <a:schemeClr val="tx1"/>
              </a:solidFill>
            </a:rPr>
            <a:t>eigen</a:t>
          </a:r>
          <a:r>
            <a:rPr lang="en-US" sz="1600" b="1" kern="1200" dirty="0" smtClean="0">
              <a:solidFill>
                <a:schemeClr val="tx1"/>
              </a:solidFill>
            </a:rPr>
            <a:t> </a:t>
          </a:r>
          <a:r>
            <a:rPr lang="en-US" sz="1600" b="1" kern="1200" dirty="0" err="1" smtClean="0">
              <a:solidFill>
                <a:schemeClr val="tx1"/>
              </a:solidFill>
            </a:rPr>
            <a:t>dari</a:t>
          </a:r>
          <a:r>
            <a:rPr lang="en-US" sz="1600" b="1" kern="1200" dirty="0" smtClean="0">
              <a:solidFill>
                <a:schemeClr val="tx1"/>
              </a:solidFill>
            </a:rPr>
            <a:t> </a:t>
          </a:r>
          <a14:m xmlns:a14="http://schemas.microsoft.com/office/drawing/2010/main">
            <m:oMath xmlns:m="http://schemas.openxmlformats.org/officeDocument/2006/math">
              <m:sSup>
                <m:sSupPr>
                  <m:ctrlPr>
                    <a:rPr lang="en-US" sz="1600" b="1" i="1" kern="120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</m:ctrlPr>
                </m:sSupPr>
                <m:e>
                  <m:r>
                    <a:rPr lang="en-US" sz="1600" b="1" kern="1200">
                      <a:solidFill>
                        <a:schemeClr val="tx1"/>
                      </a:solidFill>
                      <a:latin typeface="Cambria Math"/>
                    </a:rPr>
                    <m:t>𝐄</m:t>
                  </m:r>
                </m:e>
                <m:sup>
                  <m:r>
                    <a:rPr lang="en-US" sz="1600" b="1" kern="1200">
                      <a:solidFill>
                        <a:schemeClr val="tx1"/>
                      </a:solidFill>
                      <a:latin typeface="Cambria Math"/>
                    </a:rPr>
                    <m:t>−</m:t>
                  </m:r>
                  <m:r>
                    <a:rPr lang="en-US" sz="1600" b="1" i="1" kern="1200">
                      <a:solidFill>
                        <a:schemeClr val="tx1"/>
                      </a:solidFill>
                      <a:latin typeface="Cambria Math"/>
                    </a:rPr>
                    <m:t>𝟏</m:t>
                  </m:r>
                </m:sup>
              </m:sSup>
              <m:r>
                <a:rPr lang="en-US" sz="1600" b="1" i="0" kern="1200" smtClean="0">
                  <a:solidFill>
                    <a:schemeClr val="tx1"/>
                  </a:solidFill>
                  <a:latin typeface="Cambria Math"/>
                </a:rPr>
                <m:t>𝐇</m:t>
              </m:r>
            </m:oMath>
          </a14:m>
          <a:endParaRPr lang="id-ID" sz="1600" b="1" kern="1200" dirty="0">
            <a:solidFill>
              <a:schemeClr val="tx1"/>
            </a:solidFill>
          </a:endParaRPr>
        </a:p>
      </dsp:txBody>
      <dsp:txXfrm>
        <a:off x="4458831" y="2258519"/>
        <a:ext cx="1525650" cy="893160"/>
      </dsp:txXfrm>
    </dsp:sp>
    <dsp:sp modelId="{DEB8ECF6-C91A-4656-B3BE-E6220B306097}">
      <dsp:nvSpPr>
        <dsp:cNvPr id="0" name=""/>
        <dsp:cNvSpPr/>
      </dsp:nvSpPr>
      <dsp:spPr>
        <a:xfrm rot="10800000">
          <a:off x="3956677" y="2509028"/>
          <a:ext cx="335219" cy="392143"/>
        </a:xfrm>
        <a:prstGeom prst="rightArrow">
          <a:avLst>
            <a:gd name="adj1" fmla="val 60000"/>
            <a:gd name="adj2" fmla="val 50000"/>
          </a:avLst>
        </a:prstGeom>
        <a:solidFill>
          <a:srgbClr val="7030A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id-ID" sz="1700" kern="1200"/>
        </a:p>
      </dsp:txBody>
      <dsp:txXfrm rot="10800000">
        <a:off x="4057243" y="2587457"/>
        <a:ext cx="234653" cy="235285"/>
      </dsp:txXfrm>
    </dsp:sp>
    <dsp:sp modelId="{989BB855-EBA5-4869-AA3A-665E5207F1FA}">
      <dsp:nvSpPr>
        <dsp:cNvPr id="0" name=""/>
        <dsp:cNvSpPr/>
      </dsp:nvSpPr>
      <dsp:spPr>
        <a:xfrm>
          <a:off x="2217330" y="2230732"/>
          <a:ext cx="1581224" cy="948734"/>
        </a:xfrm>
        <a:prstGeom prst="roundRect">
          <a:avLst>
            <a:gd name="adj" fmla="val 10000"/>
          </a:avLst>
        </a:prstGeom>
        <a:solidFill>
          <a:srgbClr val="FFFF00"/>
        </a:solidFill>
        <a:ln w="12700" cap="flat" cmpd="sng" algn="ctr">
          <a:solidFill>
            <a:srgbClr val="FFFF99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err="1" smtClean="0">
              <a:solidFill>
                <a:schemeClr val="tx1"/>
              </a:solidFill>
            </a:rPr>
            <a:t>Hitung</a:t>
          </a:r>
          <a:r>
            <a:rPr lang="en-US" sz="1600" b="1" kern="1200" dirty="0" smtClean="0">
              <a:solidFill>
                <a:schemeClr val="tx1"/>
              </a:solidFill>
            </a:rPr>
            <a:t> </a:t>
          </a:r>
          <a:r>
            <a:rPr lang="en-US" sz="1600" b="1" kern="1200" dirty="0" err="1" smtClean="0">
              <a:solidFill>
                <a:schemeClr val="tx1"/>
              </a:solidFill>
            </a:rPr>
            <a:t>proporsi</a:t>
          </a:r>
          <a:r>
            <a:rPr lang="en-US" sz="1600" b="1" kern="1200" dirty="0" smtClean="0">
              <a:solidFill>
                <a:schemeClr val="tx1"/>
              </a:solidFill>
            </a:rPr>
            <a:t> </a:t>
          </a:r>
          <a:r>
            <a:rPr lang="en-US" sz="1600" b="1" kern="1200" dirty="0" err="1" smtClean="0">
              <a:solidFill>
                <a:schemeClr val="tx1"/>
              </a:solidFill>
            </a:rPr>
            <a:t>nilai</a:t>
          </a:r>
          <a:r>
            <a:rPr lang="en-US" sz="1600" b="1" kern="1200" dirty="0" smtClean="0">
              <a:solidFill>
                <a:schemeClr val="tx1"/>
              </a:solidFill>
            </a:rPr>
            <a:t> </a:t>
          </a:r>
          <a:r>
            <a:rPr lang="en-US" sz="1600" b="1" kern="1200" dirty="0" err="1" smtClean="0">
              <a:solidFill>
                <a:schemeClr val="tx1"/>
              </a:solidFill>
            </a:rPr>
            <a:t>eigen</a:t>
          </a:r>
          <a:r>
            <a:rPr lang="en-US" sz="1600" b="1" kern="1200" dirty="0" smtClean="0">
              <a:solidFill>
                <a:schemeClr val="tx1"/>
              </a:solidFill>
            </a:rPr>
            <a:t> </a:t>
          </a:r>
          <a:endParaRPr lang="id-ID" sz="1600" b="1" kern="1200" dirty="0">
            <a:solidFill>
              <a:schemeClr val="tx1"/>
            </a:solidFill>
          </a:endParaRPr>
        </a:p>
      </dsp:txBody>
      <dsp:txXfrm>
        <a:off x="2245117" y="2258519"/>
        <a:ext cx="1525650" cy="893160"/>
      </dsp:txXfrm>
    </dsp:sp>
    <dsp:sp modelId="{F321CF65-FDFA-4B7D-817A-0AF9EF4ACCA1}">
      <dsp:nvSpPr>
        <dsp:cNvPr id="0" name=""/>
        <dsp:cNvSpPr/>
      </dsp:nvSpPr>
      <dsp:spPr>
        <a:xfrm rot="10800000">
          <a:off x="1742963" y="2509028"/>
          <a:ext cx="335219" cy="39214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345715"/>
            <a:satOff val="19062"/>
            <a:lumOff val="-147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id-ID" sz="1700" kern="1200"/>
        </a:p>
      </dsp:txBody>
      <dsp:txXfrm rot="10800000">
        <a:off x="1843529" y="2587457"/>
        <a:ext cx="234653" cy="235285"/>
      </dsp:txXfrm>
    </dsp:sp>
    <dsp:sp modelId="{54C20DD4-DD40-4F1D-8FCD-DFFDF129E69A}">
      <dsp:nvSpPr>
        <dsp:cNvPr id="0" name=""/>
        <dsp:cNvSpPr/>
      </dsp:nvSpPr>
      <dsp:spPr>
        <a:xfrm>
          <a:off x="3616" y="2230732"/>
          <a:ext cx="1581224" cy="948734"/>
        </a:xfrm>
        <a:prstGeom prst="roundRect">
          <a:avLst>
            <a:gd name="adj" fmla="val 10000"/>
          </a:avLst>
        </a:prstGeom>
        <a:solidFill>
          <a:srgbClr val="00FFCC"/>
        </a:solidFill>
        <a:ln w="12700" cap="flat" cmpd="sng" algn="ctr">
          <a:solidFill>
            <a:srgbClr val="00FFCC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d-ID" sz="1600" b="1" kern="1200" dirty="0" smtClean="0">
              <a:solidFill>
                <a:schemeClr val="tx1"/>
              </a:solidFill>
            </a:rPr>
            <a:t>Menghitung skor diskriminan</a:t>
          </a:r>
          <a:r>
            <a:rPr lang="en-US" sz="1600" b="1" kern="1200" dirty="0" smtClean="0">
              <a:solidFill>
                <a:schemeClr val="tx1"/>
              </a:solidFill>
            </a:rPr>
            <a:t> </a:t>
          </a:r>
          <a:endParaRPr lang="id-ID" sz="1600" b="1" kern="1200" dirty="0">
            <a:solidFill>
              <a:schemeClr val="tx1"/>
            </a:solidFill>
          </a:endParaRPr>
        </a:p>
      </dsp:txBody>
      <dsp:txXfrm>
        <a:off x="31403" y="2258519"/>
        <a:ext cx="1525650" cy="893160"/>
      </dsp:txXfrm>
    </dsp:sp>
    <dsp:sp modelId="{E53FFD42-04A0-44E9-94D5-DFF82AD0DE4A}">
      <dsp:nvSpPr>
        <dsp:cNvPr id="0" name=""/>
        <dsp:cNvSpPr/>
      </dsp:nvSpPr>
      <dsp:spPr>
        <a:xfrm rot="5400000">
          <a:off x="626618" y="3290153"/>
          <a:ext cx="335219" cy="39214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403334"/>
            <a:satOff val="22239"/>
            <a:lumOff val="-171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700" kern="1200"/>
        </a:p>
      </dsp:txBody>
      <dsp:txXfrm rot="-5400000">
        <a:off x="676585" y="3318615"/>
        <a:ext cx="235285" cy="234653"/>
      </dsp:txXfrm>
    </dsp:sp>
    <dsp:sp modelId="{3C8D85BA-386C-489A-B6CE-FB0C5FF1BDB0}">
      <dsp:nvSpPr>
        <dsp:cNvPr id="0" name=""/>
        <dsp:cNvSpPr/>
      </dsp:nvSpPr>
      <dsp:spPr>
        <a:xfrm>
          <a:off x="3616" y="3811957"/>
          <a:ext cx="1581224" cy="948734"/>
        </a:xfrm>
        <a:prstGeom prst="roundRect">
          <a:avLst>
            <a:gd name="adj" fmla="val 10000"/>
          </a:avLst>
        </a:prstGeom>
        <a:solidFill>
          <a:srgbClr val="CC6600"/>
        </a:solidFill>
        <a:ln w="12700" cap="flat" cmpd="sng" algn="ctr">
          <a:solidFill>
            <a:srgbClr val="CC66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d-ID" sz="1600" b="1" kern="1200" dirty="0" smtClean="0">
              <a:solidFill>
                <a:schemeClr val="tx1"/>
              </a:solidFill>
            </a:rPr>
            <a:t>Menghitung </a:t>
          </a:r>
          <a:r>
            <a:rPr lang="id-ID" sz="1600" b="1" i="1" kern="1200" dirty="0" smtClean="0">
              <a:solidFill>
                <a:schemeClr val="tx1"/>
              </a:solidFill>
            </a:rPr>
            <a:t>cutting score</a:t>
          </a:r>
          <a:endParaRPr lang="id-ID" sz="1600" b="1" kern="1200" dirty="0">
            <a:solidFill>
              <a:schemeClr val="tx1"/>
            </a:solidFill>
          </a:endParaRPr>
        </a:p>
      </dsp:txBody>
      <dsp:txXfrm>
        <a:off x="31403" y="3839744"/>
        <a:ext cx="1525650" cy="893160"/>
      </dsp:txXfrm>
    </dsp:sp>
    <dsp:sp modelId="{A479E5BB-FC86-4D3D-9933-968C36C542A5}">
      <dsp:nvSpPr>
        <dsp:cNvPr id="0" name=""/>
        <dsp:cNvSpPr/>
      </dsp:nvSpPr>
      <dsp:spPr>
        <a:xfrm>
          <a:off x="1723988" y="4090252"/>
          <a:ext cx="335219" cy="39214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460953"/>
            <a:satOff val="25416"/>
            <a:lumOff val="-196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700" kern="1200"/>
        </a:p>
      </dsp:txBody>
      <dsp:txXfrm>
        <a:off x="1723988" y="4168681"/>
        <a:ext cx="234653" cy="235285"/>
      </dsp:txXfrm>
    </dsp:sp>
    <dsp:sp modelId="{B3F6C876-DC4C-440A-91B3-7D23D204A5C6}">
      <dsp:nvSpPr>
        <dsp:cNvPr id="0" name=""/>
        <dsp:cNvSpPr/>
      </dsp:nvSpPr>
      <dsp:spPr>
        <a:xfrm>
          <a:off x="2217330" y="3811957"/>
          <a:ext cx="1581224" cy="948734"/>
        </a:xfrm>
        <a:prstGeom prst="roundRect">
          <a:avLst>
            <a:gd name="adj" fmla="val 10000"/>
          </a:avLst>
        </a:prstGeom>
        <a:solidFill>
          <a:srgbClr val="CC99FF"/>
        </a:solidFill>
        <a:ln w="12700" cap="flat" cmpd="sng" algn="ctr">
          <a:solidFill>
            <a:srgbClr val="CC99F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d-ID" sz="1600" b="1" kern="1200" dirty="0" smtClean="0">
              <a:solidFill>
                <a:schemeClr val="tx1"/>
              </a:solidFill>
            </a:rPr>
            <a:t>Penghitungan </a:t>
          </a:r>
          <a:r>
            <a:rPr lang="en-US" sz="1600" b="1" i="1" kern="1200" dirty="0" smtClean="0">
              <a:solidFill>
                <a:schemeClr val="tx1"/>
              </a:solidFill>
            </a:rPr>
            <a:t>h</a:t>
          </a:r>
          <a:r>
            <a:rPr lang="id-ID" sz="1600" b="1" i="1" kern="1200" dirty="0" smtClean="0">
              <a:solidFill>
                <a:schemeClr val="tx1"/>
              </a:solidFill>
            </a:rPr>
            <a:t>it </a:t>
          </a:r>
          <a:r>
            <a:rPr lang="en-US" sz="1600" b="1" i="1" kern="1200" dirty="0" smtClean="0">
              <a:solidFill>
                <a:schemeClr val="tx1"/>
              </a:solidFill>
            </a:rPr>
            <a:t>r</a:t>
          </a:r>
          <a:r>
            <a:rPr lang="id-ID" sz="1600" b="1" i="1" kern="1200" dirty="0" smtClean="0">
              <a:solidFill>
                <a:schemeClr val="tx1"/>
              </a:solidFill>
            </a:rPr>
            <a:t>atio</a:t>
          </a:r>
          <a:endParaRPr lang="id-ID" sz="1600" b="1" kern="1200" dirty="0">
            <a:solidFill>
              <a:schemeClr val="tx1"/>
            </a:solidFill>
          </a:endParaRPr>
        </a:p>
      </dsp:txBody>
      <dsp:txXfrm>
        <a:off x="2245117" y="3839744"/>
        <a:ext cx="1525650" cy="8931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35425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04" tIns="46552" rIns="93104" bIns="46552" numCol="1" anchor="t" anchorCtr="0" compatLnSpc="1">
            <a:prstTxWarp prst="textNoShape">
              <a:avLst/>
            </a:prstTxWarp>
          </a:bodyPr>
          <a:lstStyle>
            <a:lvl1pPr defTabSz="930275" eaLnBrk="1" hangingPunct="1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75263" y="0"/>
            <a:ext cx="4037012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04" tIns="46552" rIns="93104" bIns="46552" numCol="1" anchor="t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3513"/>
            <a:ext cx="4035425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04" tIns="46552" rIns="93104" bIns="46552" numCol="1" anchor="b" anchorCtr="0" compatLnSpc="1">
            <a:prstTxWarp prst="textNoShape">
              <a:avLst/>
            </a:prstTxWarp>
          </a:bodyPr>
          <a:lstStyle>
            <a:lvl1pPr defTabSz="930275" eaLnBrk="1" hangingPunct="1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75263" y="6513513"/>
            <a:ext cx="4037012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04" tIns="46552" rIns="93104" bIns="46552" numCol="1" anchor="b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608BFE77-C36A-4C12-A8AF-CE13F86287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79929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35425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75263" y="0"/>
            <a:ext cx="4037012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768EB8-29E2-44EC-BA53-E1B546BDBE63}" type="datetimeFigureOut">
              <a:rPr lang="id-ID" smtClean="0"/>
              <a:t>23/10/2020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113088" y="857250"/>
            <a:ext cx="3087687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1863" y="3300413"/>
            <a:ext cx="7450137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4035425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75263" y="6513513"/>
            <a:ext cx="4037012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B54205-E532-4F24-BE6D-ACEBAA9FFB7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88615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B54205-E532-4F24-BE6D-ACEBAA9FFB75}" type="slidenum">
              <a:rPr lang="id-ID" smtClean="0"/>
              <a:t>6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13006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B54205-E532-4F24-BE6D-ACEBAA9FFB75}" type="slidenum">
              <a:rPr lang="id-ID" smtClean="0"/>
              <a:t>22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40239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90626" y="1346947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0626" y="4299697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90626" y="1484779"/>
            <a:ext cx="7667244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47522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94550" y="4289334"/>
            <a:ext cx="895401" cy="640080"/>
          </a:xfr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fld id="{3B0578DF-6AA0-445E-B1A5-9F094AD833C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140461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8CDA-F703-40F7-8B36-72425903C74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83168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1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7031" y="6272785"/>
            <a:ext cx="4745736" cy="365125"/>
          </a:xfrm>
        </p:spPr>
        <p:txBody>
          <a:bodyPr/>
          <a:lstStyle/>
          <a:p>
            <a:pPr>
              <a:defRPr/>
            </a:pPr>
            <a:endParaRPr lang="en-US" altLang="en-US"/>
          </a:p>
        </p:txBody>
      </p:sp>
      <p:grpSp>
        <p:nvGrpSpPr>
          <p:cNvPr id="8" name="Group 7"/>
          <p:cNvGrpSpPr/>
          <p:nvPr/>
        </p:nvGrpSpPr>
        <p:grpSpPr>
          <a:xfrm>
            <a:off x="673049" y="2325848"/>
            <a:ext cx="810678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2776" y="2506133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fld id="{8030CF15-4FB9-44E3-8F73-8B2E1D7D564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4279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2386" y="2194560"/>
            <a:ext cx="356616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3168" y="2194560"/>
            <a:ext cx="356616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5124B4-B612-4443-9885-C9050BA29B2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3022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2048256"/>
            <a:ext cx="356616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2386" y="2743200"/>
            <a:ext cx="356616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3168" y="2048256"/>
            <a:ext cx="356616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3168" y="2743200"/>
            <a:ext cx="356616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0E9256-1634-43E5-BD9D-C0E31BF4300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1424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3EF466-102C-49FC-AFE9-E6A2FBD6C9A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1503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600C2E-2D2F-411B-B585-BCB906893EC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9563925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8551294" y="6229681"/>
            <a:ext cx="3429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D9556E-C34B-4E4D-AE60-4B2189D70CE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735595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8551294" y="6229681"/>
            <a:ext cx="3429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43D070-1F0D-414D-96E1-2BC8F516432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754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743AA9-A17B-408C-80D5-1BE4F6710B6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4765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214F4B-1F79-4DCE-A754-72DDA0671C5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3995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2121408"/>
            <a:ext cx="75438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331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6102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60353" y="6248400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pPr>
              <a:defRPr/>
            </a:pPr>
            <a:fld id="{20CF1422-DE4B-4B19-B6C9-B89244ABAC8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1218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0.xml"/><Relationship Id="rId3" Type="http://schemas.openxmlformats.org/officeDocument/2006/relationships/diagramData" Target="../diagrams/data4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3" Type="http://schemas.openxmlformats.org/officeDocument/2006/relationships/diagramData" Target="../diagrams/data5.xml"/><Relationship Id="rId7" Type="http://schemas.microsoft.com/office/2007/relationships/diagramDrawing" Target="../diagrams/drawing4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Relationship Id="rId9" Type="http://schemas.openxmlformats.org/officeDocument/2006/relationships/diagramLayout" Target="../diagrams/layout4.xml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24.png"/><Relationship Id="rId7" Type="http://schemas.openxmlformats.org/officeDocument/2006/relationships/diagramColors" Target="../diagrams/colors5.xml"/><Relationship Id="rId12" Type="http://schemas.openxmlformats.org/officeDocument/2006/relationships/diagramColors" Target="../diagrams/colors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11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10" Type="http://schemas.openxmlformats.org/officeDocument/2006/relationships/diagramLayout" Target="../diagrams/layout5.xml"/><Relationship Id="rId4" Type="http://schemas.openxmlformats.org/officeDocument/2006/relationships/diagramData" Target="../diagrams/data7.xml"/><Relationship Id="rId9" Type="http://schemas.openxmlformats.org/officeDocument/2006/relationships/diagramData" Target="../diagrams/data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22493" y="2150160"/>
            <a:ext cx="5302107" cy="1202640"/>
          </a:xfrm>
          <a:solidFill>
            <a:srgbClr val="FF9933"/>
          </a:solidFill>
        </p:spPr>
        <p:txBody>
          <a:bodyPr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en-US" sz="4000" b="1" dirty="0">
                <a:solidFill>
                  <a:schemeClr val="tx2">
                    <a:satMod val="130000"/>
                  </a:schemeClr>
                </a:solidFill>
              </a:rPr>
              <a:t>ANALISIS DISKRIMINAN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28600" y="4468031"/>
            <a:ext cx="6934200" cy="10009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spcAft>
                <a:spcPts val="0"/>
              </a:spcAft>
            </a:pPr>
            <a:r>
              <a:rPr lang="en-US" sz="2400" dirty="0" err="1" smtClean="0"/>
              <a:t>Irlandia</a:t>
            </a:r>
            <a:r>
              <a:rPr lang="en-US" sz="2400" dirty="0" smtClean="0"/>
              <a:t> </a:t>
            </a:r>
            <a:r>
              <a:rPr lang="en-US" sz="2400" dirty="0" err="1" smtClean="0"/>
              <a:t>Ginanjar</a:t>
            </a:r>
            <a:r>
              <a:rPr lang="en-US" sz="2400" dirty="0" smtClean="0"/>
              <a:t> &amp; Anna Chadidjah</a:t>
            </a:r>
            <a:endParaRPr 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514600" y="4800600"/>
            <a:ext cx="4343400" cy="6096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Rectangle 6"/>
          <p:cNvSpPr/>
          <p:nvPr/>
        </p:nvSpPr>
        <p:spPr>
          <a:xfrm>
            <a:off x="2667000" y="3505200"/>
            <a:ext cx="4038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543800" cy="1609344"/>
          </a:xfrm>
        </p:spPr>
        <p:txBody>
          <a:bodyPr/>
          <a:lstStyle/>
          <a:p>
            <a:r>
              <a:rPr lang="en-US" dirty="0"/>
              <a:t>ANALISIS DISKRIMINAN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40080" y="1600200"/>
                <a:ext cx="8113014" cy="49530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id-ID" sz="2400" b="1" dirty="0" smtClean="0">
                    <a:solidFill>
                      <a:schemeClr val="accent5"/>
                    </a:solidFill>
                  </a:rPr>
                  <a:t>TUJUAN</a:t>
                </a:r>
                <a:endParaRPr lang="en-US" sz="2400" b="1" dirty="0" smtClean="0">
                  <a:solidFill>
                    <a:schemeClr val="accent5"/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/>
                  <a:t>Memodelkan </a:t>
                </a:r>
                <a:r>
                  <a:rPr lang="en-US" sz="2400" dirty="0" err="1"/>
                  <a:t>hubungan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antara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satu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variabel</a:t>
                </a:r>
                <a:r>
                  <a:rPr lang="en-US" sz="2400" dirty="0"/>
                  <a:t> </a:t>
                </a:r>
                <a:r>
                  <a:rPr lang="en-US" sz="2400" dirty="0" err="1"/>
                  <a:t>respon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(</m:t>
                    </m:r>
                    <m:r>
                      <a:rPr lang="en-US" sz="2400" i="1">
                        <a:latin typeface="Cambria Math"/>
                      </a:rPr>
                      <m:t>𝑌</m:t>
                    </m:r>
                    <m:r>
                      <a:rPr lang="en-US" sz="24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/>
                  <a:t> yang </a:t>
                </a:r>
                <a:r>
                  <a:rPr lang="en-US" sz="2400" dirty="0" err="1"/>
                  <a:t>bersifat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kualitatif</a:t>
                </a:r>
                <a:r>
                  <a:rPr lang="en-US" sz="2400" dirty="0"/>
                  <a:t> (</a:t>
                </a:r>
                <a:r>
                  <a:rPr lang="en-US" sz="2400" dirty="0" err="1"/>
                  <a:t>kategori</a:t>
                </a:r>
                <a:r>
                  <a:rPr lang="en-US" sz="2400" dirty="0"/>
                  <a:t>) </a:t>
                </a:r>
                <a:r>
                  <a:rPr lang="en-US" sz="2400" dirty="0" err="1"/>
                  <a:t>dengan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𝑝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variabel</a:t>
                </a:r>
                <a:r>
                  <a:rPr lang="en-US" sz="2400" dirty="0"/>
                  <a:t>  </a:t>
                </a:r>
                <a:r>
                  <a:rPr lang="en-US" sz="2400" dirty="0" err="1"/>
                  <a:t>bebas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/>
                      </a:rPr>
                      <m:t>, </m:t>
                    </m:r>
                    <m:r>
                      <a:rPr lang="en-US" sz="2400" b="0" i="1" smtClean="0">
                        <a:latin typeface="Cambria Math"/>
                      </a:rPr>
                      <m:t>𝑗</m:t>
                    </m:r>
                    <m:r>
                      <a:rPr lang="en-US" sz="2400" i="1">
                        <a:latin typeface="Cambria Math"/>
                      </a:rPr>
                      <m:t>=1,...,</m:t>
                    </m:r>
                    <m:r>
                      <a:rPr lang="en-US" sz="2400" i="1">
                        <a:latin typeface="Cambria Math"/>
                      </a:rPr>
                      <m:t>𝑝</m:t>
                    </m:r>
                  </m:oMath>
                </a14:m>
                <a:r>
                  <a:rPr lang="en-US" sz="2400" dirty="0"/>
                  <a:t> yang </a:t>
                </a:r>
                <a:r>
                  <a:rPr lang="en-US" sz="2400" dirty="0" err="1"/>
                  <a:t>bersifat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kuantitatif</a:t>
                </a:r>
                <a:r>
                  <a:rPr lang="id-ID" sz="2400" dirty="0"/>
                  <a:t>.</a:t>
                </a:r>
                <a:r>
                  <a:rPr lang="en-US" sz="2400" dirty="0"/>
                  <a:t> </a:t>
                </a:r>
                <a:endParaRPr lang="en-US" sz="2400" dirty="0" smtClean="0"/>
              </a:p>
              <a:p>
                <a:pPr marL="0" indent="0">
                  <a:buNone/>
                </a:pPr>
                <a:r>
                  <a:rPr lang="en-US" sz="2400" dirty="0" smtClean="0"/>
                  <a:t>Model:</a:t>
                </a: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𝑍</m:t>
                      </m:r>
                      <m:r>
                        <a:rPr lang="en-US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+⋯+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sz="2400" b="1" dirty="0" smtClean="0"/>
              </a:p>
              <a:p>
                <a:pPr marL="0" indent="0">
                  <a:buNone/>
                </a:pPr>
                <a:r>
                  <a:rPr lang="en-US" sz="2400" dirty="0" err="1" smtClean="0"/>
                  <a:t>sehingga</a:t>
                </a:r>
                <a:r>
                  <a:rPr lang="en-US" sz="2400" dirty="0" smtClean="0"/>
                  <a:t>:</a:t>
                </a:r>
                <a:endParaRPr lang="id-ID" sz="2400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+⋯+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sz="2400" i="1">
                              <a:latin typeface="Cambria Math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id-ID" sz="2400" dirty="0" smtClean="0"/>
              </a:p>
              <a:p>
                <a:pPr marL="0" indent="0">
                  <a:buNone/>
                </a:pPr>
                <a:endParaRPr lang="en-US" sz="1200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sz="2400" dirty="0" smtClean="0"/>
                  <a:t> </a:t>
                </a:r>
                <a:r>
                  <a:rPr lang="en-US" altLang="en-US" sz="2400" dirty="0" err="1"/>
                  <a:t>disebut</a:t>
                </a:r>
                <a:r>
                  <a:rPr lang="en-US" altLang="en-US" sz="2400" dirty="0"/>
                  <a:t> </a:t>
                </a:r>
                <a:r>
                  <a:rPr lang="en-US" altLang="en-US" sz="2400" b="1" dirty="0" err="1"/>
                  <a:t>skor</a:t>
                </a:r>
                <a:r>
                  <a:rPr lang="en-US" altLang="en-US" sz="2400" b="1" dirty="0"/>
                  <a:t> </a:t>
                </a:r>
                <a:r>
                  <a:rPr lang="en-US" altLang="en-US" sz="2400" b="1" dirty="0" err="1" smtClean="0"/>
                  <a:t>diskriminan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1600200"/>
                <a:ext cx="8113014" cy="4953000"/>
              </a:xfrm>
              <a:blipFill rotWithShape="0">
                <a:blip r:embed="rId2"/>
                <a:stretch>
                  <a:fillRect l="-1127" t="-1847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7920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67056"/>
            <a:ext cx="7543800" cy="1609344"/>
          </a:xfrm>
        </p:spPr>
        <p:txBody>
          <a:bodyPr/>
          <a:lstStyle/>
          <a:p>
            <a:r>
              <a:rPr lang="en-US" dirty="0"/>
              <a:t>ANALISIS DISKRIMINAN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76400"/>
            <a:ext cx="8153400" cy="449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FF0000"/>
                </a:solidFill>
              </a:rPr>
              <a:t>MANFAAT</a:t>
            </a:r>
          </a:p>
          <a:p>
            <a:pPr marL="514350" indent="-514350">
              <a:buClr>
                <a:schemeClr val="tx1"/>
              </a:buClr>
              <a:buFont typeface="+mj-lt"/>
              <a:buAutoNum type="alphaLcPeriod"/>
            </a:pPr>
            <a:r>
              <a:rPr lang="id-ID" sz="2400" dirty="0" smtClean="0"/>
              <a:t>M</a:t>
            </a:r>
            <a:r>
              <a:rPr lang="nn-NO" sz="2400" dirty="0" smtClean="0"/>
              <a:t>enjelaskan </a:t>
            </a:r>
            <a:r>
              <a:rPr lang="nn-NO" sz="2400" dirty="0"/>
              <a:t>perbedaan antar </a:t>
            </a:r>
            <a:r>
              <a:rPr lang="nn-NO" sz="2400" dirty="0" smtClean="0"/>
              <a:t>kategori (kelompok), berdasarkan koefisien dari </a:t>
            </a:r>
            <a:r>
              <a:rPr lang="en-US" sz="2400" dirty="0"/>
              <a:t>model </a:t>
            </a:r>
            <a:r>
              <a:rPr lang="en-US" sz="2400" dirty="0" err="1" smtClean="0"/>
              <a:t>diskriminan</a:t>
            </a:r>
            <a:r>
              <a:rPr lang="en-US" sz="2400" dirty="0" smtClean="0"/>
              <a:t> yang </a:t>
            </a:r>
            <a:r>
              <a:rPr lang="en-US" sz="2400" dirty="0" err="1" smtClean="0"/>
              <a:t>terbentuk</a:t>
            </a:r>
            <a:r>
              <a:rPr lang="en-US" sz="2400" dirty="0" smtClean="0"/>
              <a:t>.  </a:t>
            </a:r>
          </a:p>
          <a:p>
            <a:pPr marL="990600" lvl="1" indent="0">
              <a:buClr>
                <a:schemeClr val="tx1"/>
              </a:buClr>
              <a:buNone/>
            </a:pPr>
            <a:r>
              <a:rPr lang="en-US" sz="2000" dirty="0" smtClean="0"/>
              <a:t>(</a:t>
            </a:r>
            <a:r>
              <a:rPr lang="en-US" sz="2000" dirty="0" err="1" smtClean="0"/>
              <a:t>Variabel</a:t>
            </a:r>
            <a:r>
              <a:rPr lang="en-US" sz="2000" dirty="0" smtClean="0"/>
              <a:t> </a:t>
            </a:r>
            <a:r>
              <a:rPr lang="en-US" sz="2000" dirty="0" err="1" smtClean="0"/>
              <a:t>bebas</a:t>
            </a:r>
            <a:r>
              <a:rPr lang="en-US" sz="2000" dirty="0" smtClean="0"/>
              <a:t> </a:t>
            </a:r>
            <a:r>
              <a:rPr lang="en-US" sz="2000" dirty="0" err="1" smtClean="0"/>
              <a:t>dengan</a:t>
            </a:r>
            <a:r>
              <a:rPr lang="en-US" sz="2000" dirty="0" smtClean="0"/>
              <a:t> </a:t>
            </a:r>
            <a:r>
              <a:rPr lang="en-US" sz="2000" dirty="0" err="1" smtClean="0"/>
              <a:t>harga</a:t>
            </a:r>
            <a:r>
              <a:rPr lang="en-US" sz="2000" dirty="0" smtClean="0"/>
              <a:t> </a:t>
            </a:r>
            <a:r>
              <a:rPr lang="en-US" sz="2000" dirty="0" err="1" smtClean="0"/>
              <a:t>mutlak</a:t>
            </a:r>
            <a:r>
              <a:rPr lang="en-US" sz="2000" dirty="0" smtClean="0"/>
              <a:t> </a:t>
            </a:r>
            <a:r>
              <a:rPr lang="en-US" sz="2000" dirty="0" err="1" smtClean="0"/>
              <a:t>koefisien</a:t>
            </a:r>
            <a:r>
              <a:rPr lang="en-US" sz="2000" dirty="0" smtClean="0"/>
              <a:t> </a:t>
            </a:r>
            <a:r>
              <a:rPr lang="en-US" sz="2000" dirty="0" err="1" smtClean="0"/>
              <a:t>terbesar</a:t>
            </a:r>
            <a:r>
              <a:rPr lang="en-US" sz="2000" dirty="0" smtClean="0"/>
              <a:t>, </a:t>
            </a:r>
            <a:r>
              <a:rPr lang="en-US" sz="2000" dirty="0" err="1" smtClean="0"/>
              <a:t>merupakan</a:t>
            </a:r>
            <a:r>
              <a:rPr lang="en-US" sz="2000" dirty="0" smtClean="0"/>
              <a:t> </a:t>
            </a:r>
            <a:r>
              <a:rPr lang="en-US" sz="2000" dirty="0" err="1" smtClean="0"/>
              <a:t>variabel</a:t>
            </a:r>
            <a:r>
              <a:rPr lang="en-US" sz="2000" dirty="0" smtClean="0"/>
              <a:t> </a:t>
            </a:r>
            <a:r>
              <a:rPr lang="en-US" sz="2000" dirty="0" err="1" smtClean="0"/>
              <a:t>bebas</a:t>
            </a:r>
            <a:r>
              <a:rPr lang="en-US" sz="2000" dirty="0" smtClean="0"/>
              <a:t> </a:t>
            </a:r>
            <a:r>
              <a:rPr lang="en-US" sz="2000" dirty="0" err="1" smtClean="0"/>
              <a:t>dominan</a:t>
            </a:r>
            <a:r>
              <a:rPr lang="en-US" sz="2000" dirty="0" smtClean="0"/>
              <a:t> yang </a:t>
            </a:r>
            <a:r>
              <a:rPr lang="en-US" sz="2000" dirty="0" err="1" smtClean="0"/>
              <a:t>menjadi</a:t>
            </a:r>
            <a:r>
              <a:rPr lang="en-US" sz="2000" dirty="0" smtClean="0"/>
              <a:t> </a:t>
            </a:r>
            <a:r>
              <a:rPr lang="en-US" sz="2000" dirty="0" err="1" smtClean="0"/>
              <a:t>pembeda</a:t>
            </a:r>
            <a:r>
              <a:rPr lang="en-US" sz="2000" dirty="0" smtClean="0"/>
              <a:t> </a:t>
            </a:r>
            <a:r>
              <a:rPr lang="en-US" sz="2000" dirty="0" err="1" smtClean="0"/>
              <a:t>antar</a:t>
            </a:r>
            <a:r>
              <a:rPr lang="en-US" sz="2000" dirty="0" smtClean="0"/>
              <a:t> </a:t>
            </a:r>
            <a:r>
              <a:rPr lang="en-US" sz="2000" dirty="0" err="1" smtClean="0"/>
              <a:t>kategori</a:t>
            </a:r>
            <a:r>
              <a:rPr lang="en-US" sz="2000" dirty="0" smtClean="0"/>
              <a:t>)</a:t>
            </a:r>
            <a:r>
              <a:rPr lang="nn-NO" sz="2000" dirty="0" smtClean="0"/>
              <a:t> </a:t>
            </a:r>
            <a:endParaRPr lang="nn-NO" sz="2000" dirty="0"/>
          </a:p>
          <a:p>
            <a:pPr marL="514350" indent="-514350">
              <a:buClrTx/>
              <a:buFont typeface="+mj-lt"/>
              <a:buAutoNum type="alphaLcPeriod"/>
            </a:pPr>
            <a:r>
              <a:rPr lang="nn-NO" sz="2400" dirty="0"/>
              <a:t>Kategorisasi (</a:t>
            </a:r>
            <a:r>
              <a:rPr lang="nn-NO" sz="2400" dirty="0" smtClean="0"/>
              <a:t>pengelompokan</a:t>
            </a:r>
            <a:r>
              <a:rPr lang="nn-NO" sz="2400" dirty="0"/>
              <a:t>) suatu objek </a:t>
            </a:r>
            <a:r>
              <a:rPr lang="nn-NO" sz="2400" dirty="0" smtClean="0"/>
              <a:t>baru, berdasarkan </a:t>
            </a:r>
            <a:r>
              <a:rPr lang="nn-NO" sz="2400" dirty="0"/>
              <a:t>variabel bebas  yang dimiliki menggunakan model </a:t>
            </a:r>
            <a:r>
              <a:rPr lang="nn-NO" sz="2400" dirty="0" smtClean="0"/>
              <a:t>diskriminan</a:t>
            </a:r>
            <a:r>
              <a:rPr lang="id-ID" sz="2400" dirty="0" smtClean="0"/>
              <a:t>.</a:t>
            </a:r>
            <a:endParaRPr lang="nn-NO" sz="2400" dirty="0" smtClean="0"/>
          </a:p>
          <a:p>
            <a:pPr marL="679450" lvl="1" indent="0">
              <a:buClrTx/>
              <a:buNone/>
            </a:pPr>
            <a:endParaRPr lang="nn-NO" sz="2000" dirty="0"/>
          </a:p>
        </p:txBody>
      </p:sp>
    </p:spTree>
    <p:extLst>
      <p:ext uri="{BB962C8B-B14F-4D97-AF65-F5344CB8AC3E}">
        <p14:creationId xmlns:p14="http://schemas.microsoft.com/office/powerpoint/2010/main" val="2632481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792162"/>
          </a:xfrm>
        </p:spPr>
        <p:txBody>
          <a:bodyPr>
            <a:normAutofit/>
          </a:bodyPr>
          <a:lstStyle/>
          <a:p>
            <a:r>
              <a:rPr lang="en-US" sz="3200" b="1" dirty="0" err="1"/>
              <a:t>koefisien</a:t>
            </a:r>
            <a:r>
              <a:rPr lang="en-US" sz="3200" b="1" dirty="0"/>
              <a:t> model </a:t>
            </a:r>
            <a:r>
              <a:rPr lang="en-US" sz="3200" b="1" dirty="0" err="1" smtClean="0"/>
              <a:t>diskriminan</a:t>
            </a:r>
            <a:endParaRPr lang="en-US" sz="3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143000"/>
                <a:ext cx="8839200" cy="5562600"/>
              </a:xfrm>
            </p:spPr>
            <p:txBody>
              <a:bodyPr>
                <a:normAutofit/>
              </a:bodyPr>
              <a:lstStyle/>
              <a:p>
                <a:pPr marL="400050" lvl="0" indent="-40005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sz="2400" dirty="0" smtClean="0"/>
                  <a:t>1.  </a:t>
                </a:r>
                <a:r>
                  <a:rPr lang="en-US" sz="2400" dirty="0" err="1" smtClean="0"/>
                  <a:t>Jika</a:t>
                </a:r>
                <a:r>
                  <a:rPr lang="en-US" sz="2400" dirty="0" smtClean="0"/>
                  <a:t> variabel </a:t>
                </a:r>
                <a:r>
                  <a:rPr lang="en-US" sz="2400" dirty="0" err="1"/>
                  <a:t>respon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𝑌</m:t>
                    </m:r>
                  </m:oMath>
                </a14:m>
                <a:r>
                  <a:rPr lang="en-US" sz="2400" dirty="0" smtClean="0"/>
                  <a:t>  </a:t>
                </a:r>
                <a:r>
                  <a:rPr lang="en-US" sz="2400" dirty="0" err="1" smtClean="0"/>
                  <a:t>berbentuk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kualitatif</a:t>
                </a:r>
                <a:r>
                  <a:rPr lang="en-US" sz="2400" dirty="0" smtClean="0"/>
                  <a:t> </a:t>
                </a:r>
                <a:r>
                  <a:rPr lang="en-US" sz="2400" b="1" dirty="0" err="1" smtClean="0"/>
                  <a:t>dua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kategori</a:t>
                </a:r>
                <a:r>
                  <a:rPr lang="en-US" sz="2400" dirty="0" smtClean="0"/>
                  <a:t>, </a:t>
                </a:r>
                <a:r>
                  <a:rPr lang="en-US" sz="2400" dirty="0" err="1" smtClean="0"/>
                  <a:t>maka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perhitungan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koefisien</a:t>
                </a:r>
                <a:r>
                  <a:rPr lang="en-US" sz="2400" dirty="0" smtClean="0"/>
                  <a:t> model </a:t>
                </a:r>
                <a:r>
                  <a:rPr lang="en-US" sz="2400" dirty="0" err="1" smtClean="0"/>
                  <a:t>diskriminan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berdasarkan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Uji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beda</a:t>
                </a:r>
                <a:r>
                  <a:rPr lang="en-US" sz="2400" dirty="0" smtClean="0"/>
                  <a:t> </a:t>
                </a:r>
                <a:r>
                  <a:rPr lang="en-US" sz="2400" dirty="0" smtClean="0"/>
                  <a:t>rata-rata </a:t>
                </a:r>
                <a:r>
                  <a:rPr lang="en-US" sz="2400" b="1" dirty="0" err="1" smtClean="0"/>
                  <a:t>dua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populasi</a:t>
                </a:r>
                <a:r>
                  <a:rPr lang="en-US" sz="2400" dirty="0" smtClean="0"/>
                  <a:t>:</a:t>
                </a:r>
              </a:p>
              <a:p>
                <a:pPr marL="0" lv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en-US" sz="2400" dirty="0" smtClean="0"/>
              </a:p>
              <a:p>
                <a:pPr marL="457200" lvl="0" indent="-457200">
                  <a:lnSpc>
                    <a:spcPct val="100000"/>
                  </a:lnSpc>
                  <a:spcBef>
                    <a:spcPts val="0"/>
                  </a:spcBef>
                  <a:buFont typeface="+mj-lt"/>
                  <a:buAutoNum type="arabicPeriod"/>
                </a:pPr>
                <a:endParaRPr lang="en-US" sz="2400" dirty="0" smtClean="0"/>
              </a:p>
              <a:p>
                <a:pPr marL="0" lv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2400" dirty="0" smtClean="0"/>
                  <a:t>  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143000"/>
                <a:ext cx="8839200" cy="5562600"/>
              </a:xfrm>
              <a:blipFill>
                <a:blip r:embed="rId2"/>
                <a:stretch>
                  <a:fillRect l="-1034" t="-7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Diagram 4"/>
              <p:cNvGraphicFramePr/>
              <p:nvPr>
                <p:extLst>
                  <p:ext uri="{D42A27DB-BD31-4B8C-83A1-F6EECF244321}">
                    <p14:modId xmlns:p14="http://schemas.microsoft.com/office/powerpoint/2010/main" val="3681055366"/>
                  </p:ext>
                </p:extLst>
              </p:nvPr>
            </p:nvGraphicFramePr>
            <p:xfrm>
              <a:off x="685800" y="2514600"/>
              <a:ext cx="8077200" cy="40640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5" name="Diagram 4"/>
              <p:cNvGraphicFramePr/>
              <p:nvPr>
                <p:extLst>
                  <p:ext uri="{D42A27DB-BD31-4B8C-83A1-F6EECF244321}">
                    <p14:modId xmlns:p14="http://schemas.microsoft.com/office/powerpoint/2010/main" val="3681055366"/>
                  </p:ext>
                </p:extLst>
              </p:nvPr>
            </p:nvGraphicFramePr>
            <p:xfrm>
              <a:off x="685800" y="2514600"/>
              <a:ext cx="8077200" cy="40640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56386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86200"/>
            <a:ext cx="9067800" cy="29718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792162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ANALISIS DISKRIMINAN </a:t>
            </a:r>
            <a:r>
              <a:rPr lang="en-US" sz="2400" b="1" dirty="0" smtClean="0"/>
              <a:t>(</a:t>
            </a:r>
            <a:r>
              <a:rPr lang="en-US" sz="2400" b="1" dirty="0" err="1" smtClean="0"/>
              <a:t>Pengujian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Asumsi</a:t>
            </a:r>
            <a:r>
              <a:rPr lang="en-US" sz="2400" b="1" dirty="0" smtClean="0"/>
              <a:t>)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" y="4038600"/>
            <a:ext cx="8839200" cy="2590800"/>
          </a:xfrm>
        </p:spPr>
        <p:txBody>
          <a:bodyPr>
            <a:normAutofit fontScale="92500" lnSpcReduction="10000"/>
          </a:bodyPr>
          <a:lstStyle/>
          <a:p>
            <a:pPr marL="457200" lvl="0" indent="-457200">
              <a:buClrTx/>
              <a:buFont typeface="+mj-lt"/>
              <a:buAutoNum type="arabicPeriod"/>
            </a:pPr>
            <a:r>
              <a:rPr lang="id-ID" sz="2400" dirty="0" smtClean="0"/>
              <a:t>Pemeriksaan asumsi normal multivariate</a:t>
            </a:r>
            <a:endParaRPr lang="en-US" sz="2400" dirty="0" smtClean="0"/>
          </a:p>
          <a:p>
            <a:pPr marL="400050" lvl="1" indent="0">
              <a:buClrTx/>
              <a:buNone/>
            </a:pPr>
            <a:r>
              <a:rPr lang="id-ID" sz="2000" dirty="0" smtClean="0"/>
              <a:t> </a:t>
            </a:r>
            <a:r>
              <a:rPr lang="en-US" sz="2000" dirty="0" smtClean="0"/>
              <a:t>U</a:t>
            </a:r>
            <a:r>
              <a:rPr lang="id-ID" sz="2000" dirty="0" smtClean="0"/>
              <a:t>ji asumsi normalitas</a:t>
            </a:r>
            <a:r>
              <a:rPr lang="en-US" sz="2000" dirty="0" smtClean="0"/>
              <a:t> multivariate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setiap</a:t>
            </a:r>
            <a:r>
              <a:rPr lang="en-US" sz="2000" dirty="0" smtClean="0"/>
              <a:t> </a:t>
            </a:r>
            <a:r>
              <a:rPr lang="en-US" sz="2000" dirty="0" err="1" smtClean="0"/>
              <a:t>kategori</a:t>
            </a:r>
            <a:r>
              <a:rPr lang="en-US" sz="2000" dirty="0" smtClean="0"/>
              <a:t> </a:t>
            </a:r>
            <a:r>
              <a:rPr lang="en-US" sz="2000" dirty="0" err="1" smtClean="0"/>
              <a:t>pada</a:t>
            </a:r>
            <a:r>
              <a:rPr lang="en-US" sz="2000" dirty="0" smtClean="0"/>
              <a:t> Y.</a:t>
            </a:r>
          </a:p>
          <a:p>
            <a:pPr marL="457200" lvl="0" indent="-457200">
              <a:buClrTx/>
              <a:buFont typeface="+mj-lt"/>
              <a:buAutoNum type="arabicPeriod"/>
            </a:pPr>
            <a:r>
              <a:rPr lang="id-ID" sz="2400" dirty="0"/>
              <a:t>Pengujian vektor rata-rata kedua kelompok</a:t>
            </a:r>
            <a:r>
              <a:rPr lang="en-US" sz="2400" dirty="0" smtClean="0"/>
              <a:t>.</a:t>
            </a:r>
          </a:p>
          <a:p>
            <a:pPr marL="400050" lvl="1" indent="0">
              <a:buClrTx/>
              <a:buNone/>
            </a:pPr>
            <a:r>
              <a:rPr lang="en-US" sz="2000" dirty="0" err="1" smtClean="0"/>
              <a:t>Diharapkan</a:t>
            </a:r>
            <a:r>
              <a:rPr lang="en-US" sz="2000" dirty="0" smtClean="0"/>
              <a:t> rata-rata </a:t>
            </a:r>
            <a:r>
              <a:rPr lang="en-US" sz="2000" dirty="0" err="1" smtClean="0"/>
              <a:t>berbeda</a:t>
            </a:r>
            <a:r>
              <a:rPr lang="en-US" sz="2000" dirty="0" smtClean="0"/>
              <a:t> </a:t>
            </a:r>
            <a:r>
              <a:rPr lang="en-US" sz="2000" dirty="0" err="1" smtClean="0"/>
              <a:t>nyata</a:t>
            </a:r>
            <a:r>
              <a:rPr lang="en-US" sz="2000" dirty="0" smtClean="0"/>
              <a:t> </a:t>
            </a:r>
            <a:r>
              <a:rPr lang="en-US" sz="2000" dirty="0" err="1" smtClean="0"/>
              <a:t>sehingga</a:t>
            </a:r>
            <a:r>
              <a:rPr lang="en-US" sz="2000" dirty="0" smtClean="0"/>
              <a:t> </a:t>
            </a:r>
            <a:r>
              <a:rPr lang="id-ID" sz="2000" dirty="0" smtClean="0"/>
              <a:t>variabel </a:t>
            </a:r>
            <a:r>
              <a:rPr lang="id-ID" sz="2000" dirty="0"/>
              <a:t>yang sedang diteliti memang membedakan kedua kelompok</a:t>
            </a:r>
            <a:r>
              <a:rPr lang="id-ID" sz="2000" dirty="0" smtClean="0"/>
              <a:t>.</a:t>
            </a:r>
            <a:endParaRPr lang="en-US" sz="2000" dirty="0" smtClean="0"/>
          </a:p>
          <a:p>
            <a:pPr marL="395288" lvl="0" indent="-395288">
              <a:buClrTx/>
              <a:buFont typeface="+mj-lt"/>
              <a:buAutoNum type="arabicPeriod"/>
            </a:pPr>
            <a:r>
              <a:rPr lang="id-ID" sz="2400" dirty="0"/>
              <a:t>Pemeriksaan asumsi </a:t>
            </a:r>
            <a:r>
              <a:rPr lang="en-US" sz="2400" dirty="0" err="1"/>
              <a:t>homogenitas</a:t>
            </a:r>
            <a:r>
              <a:rPr lang="en-US" sz="2400" dirty="0"/>
              <a:t> </a:t>
            </a:r>
            <a:r>
              <a:rPr lang="en-US" sz="2400" dirty="0" err="1"/>
              <a:t>matriks</a:t>
            </a:r>
            <a:r>
              <a:rPr lang="en-US" sz="2400" dirty="0"/>
              <a:t> </a:t>
            </a:r>
            <a:r>
              <a:rPr lang="en-US" sz="2400" dirty="0" err="1"/>
              <a:t>variansi</a:t>
            </a:r>
            <a:r>
              <a:rPr lang="id-ID" sz="2400" dirty="0" smtClean="0"/>
              <a:t>:</a:t>
            </a:r>
            <a:endParaRPr lang="en-US" sz="2400" dirty="0" smtClean="0"/>
          </a:p>
          <a:p>
            <a:pPr marL="400050" lvl="1" indent="0">
              <a:buNone/>
            </a:pPr>
            <a:r>
              <a:rPr lang="en-US" sz="2000" dirty="0"/>
              <a:t>D</a:t>
            </a:r>
            <a:r>
              <a:rPr lang="id-ID" sz="2000" dirty="0"/>
              <a:t>iharapkan  </a:t>
            </a:r>
            <a:r>
              <a:rPr lang="en-US" sz="2000" dirty="0" err="1" smtClean="0"/>
              <a:t>matriks</a:t>
            </a:r>
            <a:r>
              <a:rPr lang="en-US" sz="2000" dirty="0" smtClean="0"/>
              <a:t> </a:t>
            </a:r>
            <a:r>
              <a:rPr lang="en-US" sz="2000" dirty="0" err="1" smtClean="0"/>
              <a:t>kovarians</a:t>
            </a:r>
            <a:r>
              <a:rPr lang="en-US" sz="2000" dirty="0" smtClean="0"/>
              <a:t> </a:t>
            </a:r>
            <a:r>
              <a:rPr lang="en-US" sz="2000" dirty="0" err="1" smtClean="0"/>
              <a:t>antar</a:t>
            </a:r>
            <a:r>
              <a:rPr lang="en-US" sz="2000" dirty="0" smtClean="0"/>
              <a:t> </a:t>
            </a:r>
            <a:r>
              <a:rPr lang="en-US" sz="2000" dirty="0" err="1" smtClean="0"/>
              <a:t>kelompok</a:t>
            </a:r>
            <a:r>
              <a:rPr lang="en-US" sz="2000" dirty="0" smtClean="0"/>
              <a:t> </a:t>
            </a:r>
            <a:r>
              <a:rPr lang="en-US" sz="2000" dirty="0" err="1" smtClean="0"/>
              <a:t>homogen</a:t>
            </a:r>
            <a:r>
              <a:rPr lang="id-ID" sz="2000" dirty="0" smtClean="0"/>
              <a:t>, </a:t>
            </a:r>
            <a:r>
              <a:rPr lang="id-ID" sz="2000" dirty="0"/>
              <a:t>sehingga asumsi </a:t>
            </a:r>
            <a:r>
              <a:rPr lang="en-US" sz="2000" dirty="0" err="1"/>
              <a:t>homogentias</a:t>
            </a:r>
            <a:r>
              <a:rPr lang="en-US" sz="2000" dirty="0"/>
              <a:t> </a:t>
            </a:r>
            <a:r>
              <a:rPr lang="id-ID" sz="2000" dirty="0"/>
              <a:t>terpenuhi</a:t>
            </a:r>
            <a:r>
              <a:rPr lang="id-ID" sz="2000" dirty="0" smtClean="0"/>
              <a:t>.</a:t>
            </a:r>
            <a:endParaRPr lang="en-US" sz="2000" dirty="0" smtClean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369961026"/>
              </p:ext>
            </p:extLst>
          </p:nvPr>
        </p:nvGraphicFramePr>
        <p:xfrm>
          <a:off x="457200" y="1066800"/>
          <a:ext cx="8382000" cy="2743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80623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792162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ANALISIS DISKRIMINAN </a:t>
            </a:r>
            <a:r>
              <a:rPr lang="en-US" sz="2400" b="1" dirty="0" smtClean="0"/>
              <a:t>(</a:t>
            </a:r>
            <a:r>
              <a:rPr lang="en-US" sz="2400" b="1" dirty="0"/>
              <a:t>ALUR </a:t>
            </a:r>
            <a:r>
              <a:rPr lang="en-US" sz="2400" b="1" dirty="0" smtClean="0"/>
              <a:t>KERJA)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Diagram 6"/>
              <p:cNvGraphicFramePr/>
              <p:nvPr>
                <p:extLst>
                  <p:ext uri="{D42A27DB-BD31-4B8C-83A1-F6EECF244321}">
                    <p14:modId xmlns:p14="http://schemas.microsoft.com/office/powerpoint/2010/main" val="1722265740"/>
                  </p:ext>
                </p:extLst>
              </p:nvPr>
            </p:nvGraphicFramePr>
            <p:xfrm>
              <a:off x="609600" y="1219200"/>
              <a:ext cx="8229600" cy="54102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7" name="Diagram 6"/>
              <p:cNvGraphicFramePr/>
              <p:nvPr>
                <p:extLst>
                  <p:ext uri="{D42A27DB-BD31-4B8C-83A1-F6EECF244321}">
                    <p14:modId xmlns:p14="http://schemas.microsoft.com/office/powerpoint/2010/main" val="1722265740"/>
                  </p:ext>
                </p:extLst>
              </p:nvPr>
            </p:nvGraphicFramePr>
            <p:xfrm>
              <a:off x="609600" y="1219200"/>
              <a:ext cx="8229600" cy="54102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p:sp>
        <p:nvSpPr>
          <p:cNvPr id="8" name="Oval 7"/>
          <p:cNvSpPr/>
          <p:nvPr/>
        </p:nvSpPr>
        <p:spPr>
          <a:xfrm>
            <a:off x="381000" y="10668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b="1" dirty="0" smtClean="0">
                <a:solidFill>
                  <a:schemeClr val="tx1"/>
                </a:solidFill>
              </a:rPr>
              <a:t>1</a:t>
            </a:r>
            <a:endParaRPr lang="id-ID" b="1" dirty="0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3276600" y="10668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b="1" dirty="0" smtClean="0">
                <a:solidFill>
                  <a:schemeClr val="tx1"/>
                </a:solidFill>
              </a:rPr>
              <a:t>2</a:t>
            </a:r>
            <a:endParaRPr lang="id-ID" b="1" dirty="0"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6324600" y="10668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b="1" dirty="0" smtClean="0">
                <a:solidFill>
                  <a:schemeClr val="tx1"/>
                </a:solidFill>
              </a:rPr>
              <a:t>3</a:t>
            </a:r>
            <a:endParaRPr lang="id-ID" b="1" dirty="0">
              <a:solidFill>
                <a:schemeClr val="tx1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6355080" y="31242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b="1" dirty="0" smtClean="0">
                <a:solidFill>
                  <a:schemeClr val="tx1"/>
                </a:solidFill>
              </a:rPr>
              <a:t>4</a:t>
            </a:r>
            <a:endParaRPr lang="id-ID" b="1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3497580" y="31242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b="1" dirty="0" smtClean="0">
                <a:solidFill>
                  <a:schemeClr val="tx1"/>
                </a:solidFill>
              </a:rPr>
              <a:t>5</a:t>
            </a:r>
            <a:endParaRPr lang="id-ID" b="1" dirty="0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411480" y="31242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b="1" dirty="0" smtClean="0">
                <a:solidFill>
                  <a:schemeClr val="tx1"/>
                </a:solidFill>
              </a:rPr>
              <a:t>6</a:t>
            </a:r>
            <a:endParaRPr lang="id-ID" b="1" dirty="0">
              <a:solidFill>
                <a:schemeClr val="tx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457200" y="52578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b="1" dirty="0" smtClean="0">
                <a:solidFill>
                  <a:schemeClr val="tx1"/>
                </a:solidFill>
              </a:rPr>
              <a:t>7</a:t>
            </a:r>
            <a:endParaRPr lang="id-ID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1984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05000" y="3962400"/>
            <a:ext cx="4953000" cy="17526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" name="Rectangle 3"/>
          <p:cNvSpPr/>
          <p:nvPr/>
        </p:nvSpPr>
        <p:spPr>
          <a:xfrm>
            <a:off x="3657600" y="2133600"/>
            <a:ext cx="1447800" cy="990600"/>
          </a:xfrm>
          <a:prstGeom prst="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792162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ANALISIS DISKRIMINAN </a:t>
            </a:r>
            <a:r>
              <a:rPr lang="en-US" sz="2400" b="1" dirty="0" smtClean="0"/>
              <a:t>(</a:t>
            </a:r>
            <a:r>
              <a:rPr lang="en-US" sz="2400" b="1" dirty="0"/>
              <a:t>ALUR </a:t>
            </a:r>
            <a:r>
              <a:rPr lang="en-US" sz="2400" b="1" dirty="0" smtClean="0"/>
              <a:t>KERJA)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143000"/>
                <a:ext cx="8839200" cy="5562600"/>
              </a:xfrm>
            </p:spPr>
            <p:txBody>
              <a:bodyPr>
                <a:normAutofit/>
              </a:bodyPr>
              <a:lstStyle/>
              <a:p>
                <a:pPr marL="533400" lvl="0" indent="-533400">
                  <a:buNone/>
                </a:pPr>
                <a:r>
                  <a:rPr lang="id-ID" sz="2400" dirty="0" smtClean="0"/>
                  <a:t>1.    </a:t>
                </a:r>
                <a:r>
                  <a:rPr lang="en-US" sz="2400" dirty="0" smtClean="0"/>
                  <a:t>N</a:t>
                </a:r>
                <a:r>
                  <a:rPr lang="id-ID" sz="2400" dirty="0" smtClean="0"/>
                  <a:t>yatakan </a:t>
                </a:r>
                <a:r>
                  <a:rPr lang="id-ID" sz="2400" dirty="0"/>
                  <a:t>matriks data </a:t>
                </a:r>
                <a:r>
                  <a:rPr lang="en-US" sz="2400" dirty="0" err="1" smtClean="0"/>
                  <a:t>sebagai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/>
                      </a:rPr>
                      <m:t>𝐗</m:t>
                    </m:r>
                  </m:oMath>
                </a14:m>
                <a:r>
                  <a:rPr lang="en-US" sz="2400" dirty="0" smtClean="0"/>
                  <a:t> </a:t>
                </a:r>
                <a:r>
                  <a:rPr lang="en-US" sz="2400" dirty="0" err="1" smtClean="0"/>
                  <a:t>dengan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variabel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𝑌</m:t>
                    </m:r>
                  </m:oMath>
                </a14:m>
                <a:r>
                  <a:rPr lang="en-US" sz="2400" dirty="0" smtClean="0"/>
                  <a:t> </a:t>
                </a:r>
                <a:r>
                  <a:rPr lang="en-US" sz="2400" dirty="0" err="1" smtClean="0"/>
                  <a:t>terurut</a:t>
                </a:r>
                <a:r>
                  <a:rPr lang="en-US" sz="2400" dirty="0" smtClean="0"/>
                  <a:t>.</a:t>
                </a:r>
                <a:endParaRPr lang="id-ID" sz="2400" dirty="0" smtClean="0"/>
              </a:p>
              <a:p>
                <a:pPr marL="441325" lvl="0" indent="-441325">
                  <a:buNone/>
                </a:pPr>
                <a:endParaRPr lang="en-US" sz="2400" dirty="0" smtClean="0"/>
              </a:p>
              <a:p>
                <a:pPr marL="400050" lvl="1" indent="0"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/>
                        </a:rPr>
                        <m:t>𝐗</m:t>
                      </m:r>
                      <m:r>
                        <a:rPr lang="en-US" sz="24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>
                                        <a:latin typeface="Cambria Math"/>
                                      </a:rPr>
                                      <m:t>𝐗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>
                                        <a:latin typeface="Cambria Math"/>
                                      </a:rPr>
                                      <m:t>𝐗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d-ID" sz="2400" dirty="0" smtClean="0"/>
              </a:p>
              <a:p>
                <a:pPr marL="400050" lvl="1" indent="0">
                  <a:spcBef>
                    <a:spcPts val="600"/>
                  </a:spcBef>
                  <a:buNone/>
                </a:pPr>
                <a:endParaRPr lang="en-US" sz="2400" dirty="0"/>
              </a:p>
              <a:p>
                <a:pPr marL="400050" lvl="1" indent="0"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/>
                          </a:rPr>
                          <m:t>𝐗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id-ID" sz="2400" dirty="0"/>
                  <a:t>menyatakan matriks data pada kelompok ke-</a:t>
                </a:r>
                <a14:m>
                  <m:oMath xmlns:m="http://schemas.openxmlformats.org/officeDocument/2006/math">
                    <m:r>
                      <a:rPr lang="id-ID" sz="2400" i="1">
                        <a:latin typeface="Cambria Math"/>
                      </a:rPr>
                      <m:t>𝑘</m:t>
                    </m:r>
                  </m:oMath>
                </a14:m>
                <a:r>
                  <a:rPr lang="id-ID" sz="2400" dirty="0"/>
                  <a:t>.</a:t>
                </a:r>
                <a:endParaRPr lang="en-US" sz="2400" dirty="0"/>
              </a:p>
              <a:p>
                <a:pPr marL="400050" lvl="1" indent="0">
                  <a:spcBef>
                    <a:spcPts val="600"/>
                  </a:spcBef>
                  <a:buNone/>
                </a:pPr>
                <a:endParaRPr lang="en-US" sz="2400" i="1" dirty="0" smtClean="0">
                  <a:latin typeface="Cambria Math"/>
                </a:endParaRPr>
              </a:p>
              <a:p>
                <a:pPr marL="400050" lvl="1" indent="0"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/>
                            </a:rPr>
                            <m:t>𝐗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11</m:t>
                                    </m:r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12</m:t>
                                    </m:r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1</m:t>
                                    </m:r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𝑝𝑘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21</m:t>
                                    </m:r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22</m:t>
                                    </m:r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2</m:t>
                                    </m:r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𝑝𝑘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1</m:t>
                                    </m:r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2</m:t>
                                    </m:r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𝑝𝑘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d-ID" sz="2400" dirty="0" smtClean="0"/>
              </a:p>
              <a:p>
                <a:pPr marL="400050" lvl="1" indent="0">
                  <a:spcBef>
                    <a:spcPts val="600"/>
                  </a:spcBef>
                  <a:buNone/>
                </a:pPr>
                <a:endParaRPr lang="en-US" sz="2400" dirty="0"/>
              </a:p>
              <a:p>
                <a:pPr marL="400050" lvl="1" indent="0"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𝑖𝑗𝑘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id-ID" sz="2000" dirty="0"/>
                  <a:t>menyatakan </a:t>
                </a:r>
                <a:r>
                  <a:rPr lang="en-US" sz="2000" dirty="0" err="1" smtClean="0"/>
                  <a:t>objek</a:t>
                </a:r>
                <a:r>
                  <a:rPr lang="id-ID" sz="2000" dirty="0" smtClean="0"/>
                  <a:t> </a:t>
                </a:r>
                <a:r>
                  <a:rPr lang="id-ID" sz="2000" dirty="0"/>
                  <a:t>ke-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/>
                      </a:rPr>
                      <m:t>𝑖</m:t>
                    </m:r>
                  </m:oMath>
                </a14:m>
                <a:r>
                  <a:rPr lang="id-ID" sz="2000" dirty="0"/>
                  <a:t> variabel ke-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/>
                      </a:rPr>
                      <m:t>𝑗</m:t>
                    </m:r>
                  </m:oMath>
                </a14:m>
                <a:r>
                  <a:rPr lang="id-ID" sz="2000" dirty="0"/>
                  <a:t> pada kelompok ke-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/>
                      </a:rPr>
                      <m:t>𝑘</m:t>
                    </m:r>
                  </m:oMath>
                </a14:m>
                <a:r>
                  <a:rPr lang="id-ID" sz="2000" dirty="0" smtClean="0"/>
                  <a:t>.</a:t>
                </a:r>
                <a:endParaRPr lang="en-US" sz="20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143000"/>
                <a:ext cx="8839200" cy="5562600"/>
              </a:xfrm>
              <a:blipFill rotWithShape="0">
                <a:blip r:embed="rId2"/>
                <a:stretch>
                  <a:fillRect l="-1034" t="-1645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8944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76600" y="2438400"/>
            <a:ext cx="2209800" cy="1752600"/>
          </a:xfrm>
          <a:prstGeom prst="rect">
            <a:avLst/>
          </a:prstGeom>
          <a:solidFill>
            <a:schemeClr val="accent2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792162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ANALISIS DISKRIMINAN </a:t>
            </a:r>
            <a:r>
              <a:rPr lang="en-US" sz="2400" b="1" dirty="0" smtClean="0"/>
              <a:t>(</a:t>
            </a:r>
            <a:r>
              <a:rPr lang="en-US" sz="2400" b="1" dirty="0"/>
              <a:t>ALUR </a:t>
            </a:r>
            <a:r>
              <a:rPr lang="en-US" sz="2400" b="1" dirty="0" smtClean="0"/>
              <a:t>KERJA)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4300" y="1600200"/>
                <a:ext cx="8839200" cy="3200400"/>
              </a:xfrm>
            </p:spPr>
            <p:txBody>
              <a:bodyPr>
                <a:normAutofit/>
              </a:bodyPr>
              <a:lstStyle/>
              <a:p>
                <a:pPr marL="441325" lvl="0" indent="-441325">
                  <a:buNone/>
                </a:pPr>
                <a:r>
                  <a:rPr lang="id-ID" sz="2400" dirty="0" smtClean="0"/>
                  <a:t>2.   </a:t>
                </a:r>
                <a:r>
                  <a:rPr lang="en-US" sz="2400" dirty="0" err="1" smtClean="0"/>
                  <a:t>Hitung</a:t>
                </a:r>
                <a:r>
                  <a:rPr lang="en-US" sz="2400" dirty="0" smtClean="0"/>
                  <a:t> </a:t>
                </a:r>
                <a:r>
                  <a:rPr lang="en-US" sz="2400" dirty="0"/>
                  <a:t>rata-rata </a:t>
                </a:r>
                <a:r>
                  <a:rPr lang="en-US" sz="2400" dirty="0" err="1"/>
                  <a:t>setiap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variabel</a:t>
                </a:r>
                <a:r>
                  <a:rPr lang="en-US" sz="2400" dirty="0"/>
                  <a:t> </a:t>
                </a:r>
                <a:r>
                  <a:rPr lang="en-US" sz="2400" dirty="0" err="1"/>
                  <a:t>untuk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setiap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kelompok</a:t>
                </a:r>
                <a:r>
                  <a:rPr lang="en-US" sz="2400" dirty="0"/>
                  <a:t>, d</a:t>
                </a:r>
                <a:r>
                  <a:rPr lang="id-ID" sz="2400" dirty="0"/>
                  <a:t>engan asumsi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2400" b="1" i="1">
                            <a:latin typeface="Cambria Math"/>
                          </a:rPr>
                          <m:t>𝐗</m:t>
                        </m:r>
                      </m:e>
                      <m:sub>
                        <m:r>
                          <a:rPr lang="id-ID" sz="2400" i="1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id-ID" sz="2400" i="1">
                        <a:latin typeface="Cambria Math"/>
                      </a:rPr>
                      <m:t>~</m:t>
                    </m:r>
                    <m:r>
                      <a:rPr lang="id-ID" sz="2400" i="1">
                        <a:latin typeface="Cambria Math"/>
                      </a:rPr>
                      <m:t>𝑁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d-ID" sz="2400" i="1">
                                    <a:latin typeface="Cambria Math"/>
                                  </a:rPr>
                                  <m:t>𝜇</m:t>
                                </m:r>
                              </m:e>
                            </m:acc>
                          </m:e>
                          <m:sub>
                            <m:r>
                              <a:rPr lang="id-ID" sz="2400" i="1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  <m:r>
                          <a:rPr lang="id-ID" sz="2400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d-ID" sz="2400" b="1" i="1">
                                <a:latin typeface="Cambria Math"/>
                              </a:rPr>
                              <m:t>𝚺</m:t>
                            </m:r>
                          </m:e>
                          <m:sub>
                            <m:r>
                              <a:rPr lang="id-ID" sz="2400" i="1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id-ID" sz="2400" dirty="0"/>
                  <a:t> </a:t>
                </a:r>
                <a:r>
                  <a:rPr lang="en-US" sz="2400" dirty="0"/>
                  <a:t>.</a:t>
                </a:r>
              </a:p>
              <a:p>
                <a:pPr marL="400050" lvl="1" indent="0">
                  <a:buNone/>
                </a:pPr>
                <a:endParaRPr lang="en-US" sz="2400" i="1" dirty="0" smtClean="0">
                  <a:latin typeface="Cambria Math"/>
                </a:endParaRPr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d-ID" sz="2400" i="1">
                                  <a:latin typeface="Cambria Math"/>
                                </a:rPr>
                                <m:t>𝜇</m:t>
                              </m:r>
                            </m:e>
                          </m:acc>
                        </m:e>
                        <m:sub>
                          <m:r>
                            <a:rPr lang="id-ID" sz="2400" i="1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id-ID" sz="24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d-ID" sz="2400" i="1">
                                        <a:latin typeface="Cambria Math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id-ID" sz="2400" i="1">
                                        <a:latin typeface="Cambria Math"/>
                                      </a:rPr>
                                      <m:t>1</m:t>
                                    </m:r>
                                    <m:r>
                                      <a:rPr lang="id-ID" sz="2400" i="1">
                                        <a:latin typeface="Cambria Math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d-ID" sz="2400" i="1">
                                        <a:latin typeface="Cambria Math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id-ID" sz="2400" i="1">
                                        <a:latin typeface="Cambria Math"/>
                                      </a:rPr>
                                      <m:t>2</m:t>
                                    </m:r>
                                    <m:r>
                                      <a:rPr lang="id-ID" sz="2400" i="1">
                                        <a:latin typeface="Cambria Math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id-ID" sz="2400" i="1">
                                    <a:latin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d-ID" sz="2400" i="1">
                                        <a:latin typeface="Cambria Math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id-ID" sz="2400" i="1">
                                        <a:latin typeface="Cambria Math"/>
                                      </a:rPr>
                                      <m:t>𝑝𝑘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d-ID" sz="2400" dirty="0" smtClean="0"/>
              </a:p>
              <a:p>
                <a:pPr marL="400050" lvl="1" indent="0">
                  <a:buNone/>
                </a:pPr>
                <a:endParaRPr lang="en-US" sz="2400" dirty="0"/>
              </a:p>
              <a:p>
                <a:pPr marL="40005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d-ID" sz="2400" i="1">
                                <a:latin typeface="Cambria Math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id-ID" sz="2400" i="1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id-ID" sz="2400" dirty="0"/>
                  <a:t> adalah vektor rata-rata tiap variabel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dirty="0" smtClean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300" y="1600200"/>
                <a:ext cx="8839200" cy="3200400"/>
              </a:xfrm>
              <a:blipFill rotWithShape="0">
                <a:blip r:embed="rId2"/>
                <a:stretch>
                  <a:fillRect l="-1103" t="-2857" b="-4000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2336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905000" y="3505200"/>
            <a:ext cx="4267200" cy="1828800"/>
          </a:xfrm>
          <a:prstGeom prst="rect">
            <a:avLst/>
          </a:prstGeom>
          <a:solidFill>
            <a:srgbClr val="CC99FF"/>
          </a:solidFill>
          <a:ln>
            <a:solidFill>
              <a:srgbClr val="CC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" name="Rectangle 3"/>
          <p:cNvSpPr/>
          <p:nvPr/>
        </p:nvSpPr>
        <p:spPr>
          <a:xfrm>
            <a:off x="2057400" y="1905000"/>
            <a:ext cx="4572000" cy="1143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792162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ANALISIS DISKRIMINAN </a:t>
            </a:r>
            <a:r>
              <a:rPr lang="en-US" sz="2400" b="1" dirty="0" smtClean="0"/>
              <a:t>(</a:t>
            </a:r>
            <a:r>
              <a:rPr lang="en-US" sz="2400" b="1" dirty="0"/>
              <a:t>ALUR </a:t>
            </a:r>
            <a:r>
              <a:rPr lang="en-US" sz="2400" b="1" dirty="0" smtClean="0"/>
              <a:t>KERJA)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143000"/>
                <a:ext cx="8839200" cy="5562600"/>
              </a:xfrm>
            </p:spPr>
            <p:txBody>
              <a:bodyPr>
                <a:normAutofit/>
              </a:bodyPr>
              <a:lstStyle/>
              <a:p>
                <a:pPr marL="0" lv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id-ID" sz="2400" dirty="0" smtClean="0"/>
                  <a:t>3.  </a:t>
                </a:r>
                <a:r>
                  <a:rPr lang="en-US" sz="2400" dirty="0" err="1" smtClean="0"/>
                  <a:t>Bangun</a:t>
                </a:r>
                <a:r>
                  <a:rPr lang="en-US" sz="2400" dirty="0" smtClean="0"/>
                  <a:t> </a:t>
                </a:r>
                <a:r>
                  <a:rPr lang="en-US" sz="2400" dirty="0" err="1"/>
                  <a:t>matriks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kovariansi</a:t>
                </a:r>
                <a:r>
                  <a:rPr lang="en-US" sz="2400" dirty="0"/>
                  <a:t> </a:t>
                </a:r>
                <a:r>
                  <a:rPr lang="en-US" sz="2400" dirty="0" err="1" smtClean="0"/>
                  <a:t>gabungan</a:t>
                </a:r>
                <a:r>
                  <a:rPr lang="en-US" sz="2400" dirty="0" smtClean="0"/>
                  <a:t> (</a:t>
                </a:r>
                <a:r>
                  <a:rPr lang="en-GB" sz="2400" i="1" dirty="0"/>
                  <a:t>pooled </a:t>
                </a:r>
                <a:r>
                  <a:rPr lang="en-GB" sz="2400" i="1" dirty="0" smtClean="0"/>
                  <a:t>variance</a:t>
                </a:r>
                <a:r>
                  <a:rPr lang="en-GB" sz="2400" dirty="0" smtClean="0"/>
                  <a:t>)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smtClean="0">
                            <a:latin typeface="Cambria Math"/>
                          </a:rPr>
                          <m:t>𝐒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𝑝𝑙</m:t>
                        </m:r>
                      </m:sub>
                    </m:sSub>
                  </m:oMath>
                </a14:m>
                <a:r>
                  <a:rPr lang="en-US" sz="2400" dirty="0" smtClean="0"/>
                  <a:t>.</a:t>
                </a:r>
              </a:p>
              <a:p>
                <a:pPr marL="400050" lvl="1" indent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/>
                            </a:rPr>
                            <m:t>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𝑝𝑙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/>
                            </a:rPr>
                            <m:t>(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>
                                  <a:latin typeface="Cambria Math"/>
                                </a:rPr>
                                <m:t>𝐒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>
                                  <a:latin typeface="Cambria Math"/>
                                </a:rPr>
                                <m:t>𝐒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/>
                            </a:rPr>
                            <m:t>−2</m:t>
                          </m:r>
                        </m:den>
                      </m:f>
                    </m:oMath>
                  </m:oMathPara>
                </a14:m>
                <a:endParaRPr lang="en-US" sz="2400" i="1" dirty="0" smtClean="0">
                  <a:latin typeface="Cambria Math"/>
                </a:endParaRPr>
              </a:p>
              <a:p>
                <a:pPr marL="465138" lv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sz="2400" dirty="0" err="1" smtClean="0"/>
                  <a:t>Dengan</a:t>
                </a:r>
                <a:r>
                  <a:rPr lang="id-ID" sz="2400" dirty="0" smtClean="0"/>
                  <a:t>  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d-ID" sz="2400" b="1" i="1">
                            <a:latin typeface="Cambria Math"/>
                          </a:rPr>
                          <m:t>𝐒</m:t>
                        </m:r>
                      </m:e>
                      <m:sub>
                        <m:r>
                          <a:rPr lang="id-ID" sz="2400" i="1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id-ID" sz="2400" b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11</m:t>
                                  </m:r>
                                  <m:r>
                                    <a:rPr lang="en-US" sz="2400" i="1"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12</m:t>
                                  </m:r>
                                  <m:r>
                                    <a:rPr lang="en-US" sz="2400" i="1"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1</m:t>
                                  </m:r>
                                  <m:r>
                                    <a:rPr lang="en-US" sz="2400" i="1">
                                      <a:latin typeface="Cambria Math"/>
                                    </a:rPr>
                                    <m:t>𝑝𝑘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21</m:t>
                                  </m:r>
                                  <m:r>
                                    <a:rPr lang="en-US" sz="2400" i="1"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22</m:t>
                                  </m:r>
                                  <m:r>
                                    <a:rPr lang="en-US" sz="2400" i="1"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2</m:t>
                                  </m:r>
                                  <m:r>
                                    <a:rPr lang="en-US" sz="2400" i="1">
                                      <a:latin typeface="Cambria Math"/>
                                    </a:rPr>
                                    <m:t>𝑝𝑘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𝑝</m:t>
                                  </m:r>
                                  <m:r>
                                    <a:rPr lang="en-US" sz="2400" i="1">
                                      <a:latin typeface="Cambria Math"/>
                                    </a:rPr>
                                    <m:t>1</m:t>
                                  </m:r>
                                  <m:r>
                                    <a:rPr lang="en-US" sz="2400" i="1"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𝑝</m:t>
                                  </m:r>
                                  <m:r>
                                    <a:rPr lang="en-US" sz="2400" i="1">
                                      <a:latin typeface="Cambria Math"/>
                                    </a:rPr>
                                    <m:t>2</m:t>
                                  </m:r>
                                  <m:r>
                                    <a:rPr lang="en-US" sz="2400" i="1"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𝑝𝑝𝑘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 smtClean="0"/>
                  <a:t> </a:t>
                </a:r>
                <a:r>
                  <a:rPr lang="id-ID" sz="2400" dirty="0" smtClean="0"/>
                  <a:t>  </a:t>
                </a:r>
                <a:r>
                  <a:rPr lang="en-US" sz="2400" dirty="0" smtClean="0"/>
                  <a:t>matriks </a:t>
                </a:r>
                <a:r>
                  <a:rPr lang="en-US" sz="2400" dirty="0" err="1" smtClean="0"/>
                  <a:t>kovarians</a:t>
                </a:r>
                <a:r>
                  <a:rPr lang="en-US" sz="2400" dirty="0" smtClean="0"/>
                  <a:t> </a:t>
                </a:r>
                <a:endParaRPr lang="id-ID" sz="2400" dirty="0" smtClean="0"/>
              </a:p>
              <a:p>
                <a:pPr marL="465138" lv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id-ID" sz="1800" dirty="0"/>
              </a:p>
              <a:p>
                <a:pPr marL="465138" lv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sz="2400" dirty="0" err="1" smtClean="0"/>
                  <a:t>untuk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kelompok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ke</a:t>
                </a:r>
                <a:r>
                  <a:rPr lang="en-US" sz="2400" dirty="0" smtClean="0"/>
                  <a:t>-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𝑘</m:t>
                    </m:r>
                  </m:oMath>
                </a14:m>
                <a:endParaRPr lang="en-US" sz="2400" dirty="0" smtClean="0"/>
              </a:p>
              <a:p>
                <a:pPr marL="400050" lvl="1" indent="0">
                  <a:buNone/>
                </a:pPr>
                <a:endParaRPr lang="en-US" sz="24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143000"/>
                <a:ext cx="8839200" cy="5562600"/>
              </a:xfrm>
              <a:blipFill rotWithShape="0">
                <a:blip r:embed="rId2"/>
                <a:stretch>
                  <a:fillRect l="-1034" r="-759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1520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38400" y="2057400"/>
            <a:ext cx="4800600" cy="76200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792162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ANALISIS DISKRIMINAN </a:t>
            </a:r>
            <a:r>
              <a:rPr lang="en-US" sz="2400" b="1" dirty="0" smtClean="0"/>
              <a:t>(</a:t>
            </a:r>
            <a:r>
              <a:rPr lang="en-US" sz="2400" b="1" dirty="0"/>
              <a:t>ALUR </a:t>
            </a:r>
            <a:r>
              <a:rPr lang="en-US" sz="2400" b="1" dirty="0" smtClean="0"/>
              <a:t>KERJA)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295400"/>
                <a:ext cx="8839200" cy="5562600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lang="id-ID" sz="2400" dirty="0" smtClean="0"/>
                  <a:t>4.  </a:t>
                </a:r>
                <a:r>
                  <a:rPr lang="en-US" sz="2400" dirty="0" err="1" smtClean="0"/>
                  <a:t>Bangun</a:t>
                </a:r>
                <a:r>
                  <a:rPr lang="en-US" sz="2400" dirty="0" smtClean="0"/>
                  <a:t> K</a:t>
                </a:r>
                <a:r>
                  <a:rPr lang="id-ID" sz="2400" dirty="0" smtClean="0"/>
                  <a:t>ombinasi </a:t>
                </a:r>
                <a:r>
                  <a:rPr lang="id-ID" sz="2400" dirty="0"/>
                  <a:t>L</a:t>
                </a:r>
                <a:r>
                  <a:rPr lang="id-ID" sz="2400" dirty="0" smtClean="0"/>
                  <a:t>inear </a:t>
                </a:r>
                <a:r>
                  <a:rPr lang="id-ID" sz="2400" dirty="0"/>
                  <a:t>Fisher </a:t>
                </a:r>
                <a:r>
                  <a:rPr lang="en-US" sz="2400" dirty="0"/>
                  <a:t>(model </a:t>
                </a:r>
                <a:r>
                  <a:rPr lang="en-US" sz="2400" dirty="0" err="1"/>
                  <a:t>diskriminan</a:t>
                </a:r>
                <a:r>
                  <a:rPr lang="en-US" sz="2400" dirty="0" smtClean="0"/>
                  <a:t>)</a:t>
                </a:r>
                <a:endParaRPr lang="id-ID" sz="2400" dirty="0" smtClean="0"/>
              </a:p>
              <a:p>
                <a:pPr marL="0" lvl="0" indent="0">
                  <a:buNone/>
                </a:pPr>
                <a:endParaRPr lang="en-US" sz="2400" dirty="0" smtClean="0"/>
              </a:p>
              <a:p>
                <a:pPr marL="400050" lvl="1" indent="0" algn="ctr">
                  <a:buNone/>
                </a:pPr>
                <a14:m>
                  <m:oMath xmlns:m="http://schemas.openxmlformats.org/officeDocument/2006/math">
                    <m:r>
                      <a:rPr lang="id-ID" sz="2400" b="1" i="1" smtClean="0">
                        <a:latin typeface="Cambria Math"/>
                      </a:rPr>
                      <m:t>𝒁</m:t>
                    </m:r>
                    <m:r>
                      <a:rPr lang="id-ID" sz="2400" b="1" i="1" smtClean="0">
                        <a:latin typeface="Cambria Math"/>
                      </a:rPr>
                      <m:t>=</m:t>
                    </m:r>
                    <m:r>
                      <a:rPr lang="id-ID" sz="2400" b="1" i="1">
                        <a:latin typeface="Cambria Math"/>
                      </a:rPr>
                      <m:t>𝑿</m:t>
                    </m:r>
                    <m:acc>
                      <m:accPr>
                        <m:chr m:val="⃗"/>
                        <m:ctrlPr>
                          <a:rPr lang="id-ID" sz="24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 smtClean="0">
                            <a:latin typeface="Cambria Math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sz="2400" b="1" dirty="0" smtClean="0"/>
                  <a:t> dengan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id-ID" sz="2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>
                            <a:latin typeface="Cambria Math"/>
                          </a:rPr>
                          <m:t>𝒂</m:t>
                        </m:r>
                      </m:e>
                    </m:acc>
                    <m:r>
                      <a:rPr lang="id-ID" sz="2400" b="1" i="1"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>
                            <a:latin typeface="Cambria Math"/>
                          </a:rPr>
                          <m:t>𝐒</m:t>
                        </m:r>
                      </m:e>
                      <m:sub>
                        <m:r>
                          <a:rPr lang="en-US" sz="2400" b="1" i="1">
                            <a:latin typeface="Cambria Math"/>
                          </a:rPr>
                          <m:t>𝒑𝒍</m:t>
                        </m:r>
                      </m:sub>
                      <m:sup>
                        <m:r>
                          <a:rPr lang="en-US" sz="2400" b="1" i="1" smtClean="0">
                            <a:latin typeface="Cambria Math"/>
                          </a:rPr>
                          <m:t>−</m:t>
                        </m:r>
                        <m:r>
                          <a:rPr lang="en-US" sz="2400" b="1" i="1" smtClean="0">
                            <a:latin typeface="Cambria Math"/>
                          </a:rPr>
                          <m:t>𝟏</m:t>
                        </m:r>
                      </m:sup>
                    </m:sSubSup>
                    <m:d>
                      <m:d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d-ID" sz="2400" b="1" i="1">
                                    <a:latin typeface="Cambria Math"/>
                                  </a:rPr>
                                  <m:t>𝝁</m:t>
                                </m:r>
                              </m:e>
                            </m:acc>
                          </m:e>
                          <m:sub>
                            <m:r>
                              <a:rPr lang="id-ID" sz="2400" b="1" i="1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  <m:r>
                          <a:rPr lang="id-ID" sz="2400" b="1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d-ID" sz="2400" b="1" i="1">
                                    <a:latin typeface="Cambria Math"/>
                                  </a:rPr>
                                  <m:t>𝝁</m:t>
                                </m:r>
                              </m:e>
                            </m:acc>
                          </m:e>
                          <m:sub>
                            <m:r>
                              <a:rPr lang="id-ID" sz="2400" b="1" i="1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id-ID" sz="2400" b="1" dirty="0" smtClean="0"/>
              </a:p>
              <a:p>
                <a:pPr marL="400050" lvl="1" indent="0">
                  <a:buNone/>
                </a:pPr>
                <a:endParaRPr lang="en-US" sz="2400" dirty="0" smtClean="0"/>
              </a:p>
              <a:p>
                <a:pPr marL="0" lvl="0" indent="0">
                  <a:buNone/>
                </a:pPr>
                <a:r>
                  <a:rPr lang="id-ID" sz="2400" dirty="0" smtClean="0"/>
                  <a:t>5.  Menghitung </a:t>
                </a:r>
                <a:r>
                  <a:rPr lang="id-ID" sz="2400" dirty="0"/>
                  <a:t>skor </a:t>
                </a:r>
                <a:r>
                  <a:rPr lang="id-ID" sz="2400" dirty="0" smtClean="0"/>
                  <a:t>diskriminan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400" i="1">
                            <a:latin typeface="Cambria Math"/>
                          </a:rPr>
                          <m:t>𝑍</m:t>
                        </m:r>
                      </m:e>
                    </m:d>
                  </m:oMath>
                </a14:m>
                <a:endParaRPr lang="en-US" sz="2400" dirty="0"/>
              </a:p>
              <a:p>
                <a:pPr marL="400050" lvl="1" indent="0">
                  <a:buNone/>
                </a:pPr>
                <a:r>
                  <a:rPr lang="en-US" sz="2400" dirty="0"/>
                  <a:t>S</a:t>
                </a:r>
                <a:r>
                  <a:rPr lang="id-ID" sz="2400" dirty="0"/>
                  <a:t>kor diskriminan untuk setiap </a:t>
                </a:r>
                <a:r>
                  <a:rPr lang="en-US" sz="2400" dirty="0" err="1" smtClean="0"/>
                  <a:t>objek</a:t>
                </a:r>
                <a:r>
                  <a:rPr lang="id-ID" sz="2400" dirty="0" smtClean="0"/>
                  <a:t> </a:t>
                </a:r>
                <a:r>
                  <a:rPr lang="en-US" sz="2400" dirty="0" err="1"/>
                  <a:t>didapatkan</a:t>
                </a:r>
                <a:r>
                  <a:rPr lang="en-US" sz="2400" dirty="0"/>
                  <a:t> </a:t>
                </a:r>
                <a:r>
                  <a:rPr lang="id-ID" sz="2400" dirty="0"/>
                  <a:t>dengan </a:t>
                </a:r>
                <a:r>
                  <a:rPr lang="en-US" sz="2400" dirty="0" err="1"/>
                  <a:t>cara</a:t>
                </a:r>
                <a:r>
                  <a:rPr lang="en-US" sz="2400" dirty="0"/>
                  <a:t> </a:t>
                </a:r>
                <a:r>
                  <a:rPr lang="id-ID" sz="2400" dirty="0"/>
                  <a:t>memasukkan nilai-nilai variabel bebas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ke</a:t>
                </a:r>
                <a:r>
                  <a:rPr lang="en-US" sz="2400" dirty="0"/>
                  <a:t> model </a:t>
                </a:r>
                <a:r>
                  <a:rPr lang="en-US" sz="2400" dirty="0" err="1"/>
                  <a:t>diskriminan</a:t>
                </a:r>
                <a:r>
                  <a:rPr lang="id-ID" sz="2400" dirty="0" smtClean="0"/>
                  <a:t>.</a:t>
                </a:r>
                <a:endParaRPr lang="en-US" sz="2400" dirty="0" smtClean="0"/>
              </a:p>
              <a:p>
                <a:pPr marL="400050" lvl="1" indent="0">
                  <a:buNone/>
                </a:pPr>
                <a:endParaRPr lang="en-US" sz="24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295400"/>
                <a:ext cx="8839200" cy="5562600"/>
              </a:xfrm>
              <a:blipFill rotWithShape="0">
                <a:blip r:embed="rId2"/>
                <a:stretch>
                  <a:fillRect l="-1103" t="-1645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8186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048000" y="1828800"/>
            <a:ext cx="2743200" cy="106680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792162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ANALISIS DISKRIMINAN </a:t>
            </a:r>
            <a:r>
              <a:rPr lang="en-US" sz="2400" b="1" dirty="0" smtClean="0"/>
              <a:t>(</a:t>
            </a:r>
            <a:r>
              <a:rPr lang="en-US" sz="2400" b="1" dirty="0"/>
              <a:t>ALUR </a:t>
            </a:r>
            <a:r>
              <a:rPr lang="en-US" sz="2400" b="1" dirty="0" smtClean="0"/>
              <a:t>KERJA)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914400"/>
                <a:ext cx="8839200" cy="5943600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lang="id-ID" sz="2400" dirty="0" smtClean="0"/>
                  <a:t>6.  Menghitung </a:t>
                </a:r>
                <a:r>
                  <a:rPr lang="id-ID" sz="2400" i="1" dirty="0"/>
                  <a:t>cutting score</a:t>
                </a:r>
                <a:r>
                  <a:rPr lang="en-US" sz="2400" dirty="0"/>
                  <a:t>.</a:t>
                </a:r>
              </a:p>
              <a:p>
                <a:pPr marL="400050" lvl="1" indent="0">
                  <a:buNone/>
                </a:pPr>
                <a:r>
                  <a:rPr lang="id-ID" sz="2400" i="1" dirty="0"/>
                  <a:t>Cutting score</a:t>
                </a:r>
                <a:r>
                  <a:rPr lang="id-ID" sz="2400" dirty="0"/>
                  <a:t> (</a:t>
                </a:r>
                <a14:m>
                  <m:oMath xmlns:m="http://schemas.openxmlformats.org/officeDocument/2006/math">
                    <m:r>
                      <a:rPr lang="id-ID" sz="2400" i="1">
                        <a:latin typeface="Cambria Math"/>
                      </a:rPr>
                      <m:t>𝑚</m:t>
                    </m:r>
                  </m:oMath>
                </a14:m>
                <a:r>
                  <a:rPr lang="id-ID" sz="2400" dirty="0"/>
                  <a:t>) dapat dihitung dengan rumus sebagai berikut</a:t>
                </a:r>
                <a:r>
                  <a:rPr lang="id-ID" sz="2400" dirty="0" smtClean="0"/>
                  <a:t>:</a:t>
                </a:r>
                <a:endParaRPr lang="en-US" sz="2400" i="1" dirty="0">
                  <a:latin typeface="Cambria Math"/>
                </a:endParaRPr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/>
                        </a:rPr>
                        <m:t>𝒎</m:t>
                      </m:r>
                      <m:r>
                        <a:rPr lang="en-US" sz="2400" b="1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latin typeface="Cambria Math"/>
                                    </a:rPr>
                                    <m:t>𝒁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1" i="1"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2400" b="1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latin typeface="Cambria Math"/>
                                    </a:rPr>
                                    <m:t>𝒁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1" i="1"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400" b="1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id-ID" sz="2400" b="1" dirty="0" smtClean="0"/>
              </a:p>
              <a:p>
                <a:pPr marL="400050" lvl="1" indent="0">
                  <a:buNone/>
                </a:pPr>
                <a:endParaRPr lang="en-US" sz="2400" dirty="0"/>
              </a:p>
              <a:p>
                <a:pPr marL="400050" lvl="1" indent="0">
                  <a:buNone/>
                </a:pPr>
                <a:r>
                  <a:rPr lang="en-US" sz="2400" dirty="0" err="1"/>
                  <a:t>dengan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𝑍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adalah</a:t>
                </a:r>
                <a:r>
                  <a:rPr lang="en-US" sz="2400" dirty="0"/>
                  <a:t> rata-rata </a:t>
                </a:r>
                <a:r>
                  <a:rPr lang="id-ID" sz="2400" dirty="0"/>
                  <a:t>skor diskriminan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id-ID" sz="2400" i="1">
                        <a:latin typeface="Cambria Math"/>
                      </a:rPr>
                      <m:t>𝑍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untuk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kelompok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ke</a:t>
                </a:r>
                <a:r>
                  <a:rPr lang="en-US" sz="2400" dirty="0"/>
                  <a:t>-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𝑘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400050" lvl="1" indent="0">
                  <a:buNone/>
                </a:pPr>
                <a:r>
                  <a:rPr lang="id-ID" sz="2400" dirty="0"/>
                  <a:t>Suatu </a:t>
                </a:r>
                <a:r>
                  <a:rPr lang="en-US" sz="2400" dirty="0" err="1"/>
                  <a:t>objek</a:t>
                </a:r>
                <a:r>
                  <a:rPr lang="id-ID" sz="2400" dirty="0"/>
                  <a:t> dengan karakteristik </a:t>
                </a:r>
                <a14:m>
                  <m:oMath xmlns:m="http://schemas.openxmlformats.org/officeDocument/2006/math">
                    <m:r>
                      <a:rPr lang="id-ID" sz="2400" i="1">
                        <a:latin typeface="Cambria Math"/>
                      </a:rPr>
                      <m:t>𝑥</m:t>
                    </m:r>
                  </m:oMath>
                </a14:m>
                <a:r>
                  <a:rPr lang="id-ID" sz="2400" dirty="0"/>
                  <a:t> akan diklasifikasikan sebagai anggota </a:t>
                </a:r>
                <a:r>
                  <a:rPr lang="en-US" sz="2400" dirty="0" err="1"/>
                  <a:t>kategori</a:t>
                </a:r>
                <a:r>
                  <a:rPr lang="en-US" sz="2400" dirty="0"/>
                  <a:t> </a:t>
                </a:r>
                <a:r>
                  <a:rPr lang="id-ID" sz="2400" dirty="0"/>
                  <a:t>1 jika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𝑍</m:t>
                    </m:r>
                    <m:r>
                      <a:rPr lang="en-US" sz="2400" i="1">
                        <a:latin typeface="Cambria Math"/>
                      </a:rPr>
                      <m:t>≥</m:t>
                    </m:r>
                    <m:r>
                      <a:rPr lang="en-US" sz="2400" i="1">
                        <a:latin typeface="Cambria Math"/>
                      </a:rPr>
                      <m:t>𝑚</m:t>
                    </m:r>
                  </m:oMath>
                </a14:m>
                <a:r>
                  <a:rPr lang="id-ID" sz="2400" dirty="0"/>
                  <a:t>, selain itu </a:t>
                </a:r>
                <a:r>
                  <a:rPr lang="en-US" sz="2400" dirty="0" err="1"/>
                  <a:t>anggota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kategori</a:t>
                </a:r>
                <a:r>
                  <a:rPr lang="en-US" sz="2400" dirty="0"/>
                  <a:t> </a:t>
                </a:r>
                <a:r>
                  <a:rPr lang="id-ID" sz="2400" dirty="0"/>
                  <a:t>2</a:t>
                </a:r>
                <a:r>
                  <a:rPr lang="id-ID" sz="2400" dirty="0" smtClean="0"/>
                  <a:t>.</a:t>
                </a:r>
                <a:endParaRPr lang="en-US" sz="2400" dirty="0" smtClean="0"/>
              </a:p>
              <a:p>
                <a:pPr marL="0" lvl="0" indent="0">
                  <a:buNone/>
                </a:pPr>
                <a:r>
                  <a:rPr lang="id-ID" sz="2400" dirty="0" smtClean="0"/>
                  <a:t>7.  Penghitungan </a:t>
                </a:r>
                <a:r>
                  <a:rPr lang="en-US" sz="2400" i="1" dirty="0"/>
                  <a:t>h</a:t>
                </a:r>
                <a:r>
                  <a:rPr lang="id-ID" sz="2400" i="1" dirty="0"/>
                  <a:t>it </a:t>
                </a:r>
                <a:r>
                  <a:rPr lang="en-US" sz="2400" i="1" dirty="0"/>
                  <a:t>r</a:t>
                </a:r>
                <a:r>
                  <a:rPr lang="id-ID" sz="2400" i="1" dirty="0"/>
                  <a:t>atio</a:t>
                </a:r>
                <a:r>
                  <a:rPr lang="id-ID" sz="2400" dirty="0" smtClean="0"/>
                  <a:t>:</a:t>
                </a:r>
                <a:endParaRPr lang="en-US" sz="2400" dirty="0" smtClean="0"/>
              </a:p>
              <a:p>
                <a:pPr marL="400050" lvl="1" indent="0">
                  <a:buNone/>
                </a:pPr>
                <a:r>
                  <a:rPr lang="id-ID" sz="2400" dirty="0"/>
                  <a:t>H</a:t>
                </a:r>
                <a:r>
                  <a:rPr lang="en-US" sz="2400" dirty="0" smtClean="0"/>
                  <a:t>it ratio, </a:t>
                </a:r>
                <a:r>
                  <a:rPr lang="en-US" sz="2400" dirty="0" err="1" smtClean="0"/>
                  <a:t>yaitu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rasio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antara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objek</a:t>
                </a:r>
                <a:r>
                  <a:rPr lang="en-US" sz="2400" dirty="0" smtClean="0"/>
                  <a:t> yang </a:t>
                </a:r>
                <a:r>
                  <a:rPr lang="en-US" sz="2400" dirty="0" err="1" smtClean="0"/>
                  <a:t>tepat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pengklasifikasiannya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dengan</a:t>
                </a:r>
                <a:r>
                  <a:rPr lang="en-US" sz="2400" dirty="0" smtClean="0"/>
                  <a:t> total </a:t>
                </a:r>
                <a:r>
                  <a:rPr lang="en-US" sz="2400" dirty="0" err="1" smtClean="0"/>
                  <a:t>seluruh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observasi</a:t>
                </a:r>
                <a:r>
                  <a:rPr lang="en-US" sz="2400" dirty="0" smtClean="0"/>
                  <a:t>, </a:t>
                </a:r>
                <a:r>
                  <a:rPr lang="en-US" sz="2400" dirty="0" err="1" smtClean="0"/>
                  <a:t>dan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digunakan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untuk</a:t>
                </a:r>
                <a:r>
                  <a:rPr lang="en-US" sz="2400" dirty="0" smtClean="0"/>
                  <a:t> </a:t>
                </a:r>
                <a:r>
                  <a:rPr lang="id-ID" sz="2400" dirty="0"/>
                  <a:t>validasi model</a:t>
                </a:r>
                <a:r>
                  <a:rPr lang="en-US" sz="2400" dirty="0" smtClean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914400"/>
                <a:ext cx="8839200" cy="5943600"/>
              </a:xfrm>
              <a:blipFill rotWithShape="0">
                <a:blip r:embed="rId2"/>
                <a:stretch>
                  <a:fillRect l="-1034" t="-1538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7776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7543800" cy="810768"/>
          </a:xfrm>
        </p:spPr>
        <p:txBody>
          <a:bodyPr>
            <a:noAutofit/>
          </a:bodyPr>
          <a:lstStyle/>
          <a:p>
            <a:r>
              <a:rPr lang="en-US" sz="4000" b="1" dirty="0"/>
              <a:t>ANALISIS </a:t>
            </a:r>
            <a:r>
              <a:rPr lang="en-US" sz="4000" b="1" dirty="0" smtClean="0"/>
              <a:t>DISKRIMINAN </a:t>
            </a:r>
            <a:r>
              <a:rPr lang="en-US" sz="2400" b="1" dirty="0"/>
              <a:t>(</a:t>
            </a:r>
            <a:r>
              <a:rPr lang="en-US" sz="2400" b="1" dirty="0" err="1" smtClean="0"/>
              <a:t>Contoh</a:t>
            </a:r>
            <a:r>
              <a:rPr lang="en-US" sz="2400" b="1" dirty="0" smtClean="0"/>
              <a:t>)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039368"/>
                <a:ext cx="8534400" cy="5029200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US" dirty="0" smtClean="0"/>
                  <a:t>Akan </a:t>
                </a:r>
                <a:r>
                  <a:rPr lang="en-US" dirty="0" err="1" smtClean="0"/>
                  <a:t>dicari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variabel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penilaian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dominan</a:t>
                </a:r>
                <a:r>
                  <a:rPr lang="en-US" dirty="0" smtClean="0"/>
                  <a:t>, yang </a:t>
                </a:r>
                <a:r>
                  <a:rPr lang="en-US" dirty="0" err="1" smtClean="0"/>
                  <a:t>membedakan</a:t>
                </a:r>
                <a:r>
                  <a:rPr lang="en-US" dirty="0" smtClean="0"/>
                  <a:t> </a:t>
                </a:r>
                <a:r>
                  <a:rPr lang="en-US" b="1" dirty="0" err="1" smtClean="0"/>
                  <a:t>Nilai</a:t>
                </a:r>
                <a:r>
                  <a:rPr lang="en-US" b="1" dirty="0" smtClean="0"/>
                  <a:t> B </a:t>
                </a:r>
                <a:r>
                  <a:rPr lang="en-US" b="1" dirty="0" err="1" smtClean="0"/>
                  <a:t>atau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lebih</a:t>
                </a:r>
                <a:r>
                  <a:rPr lang="en-US" b="1" dirty="0" smtClean="0"/>
                  <a:t> </a:t>
                </a:r>
                <a:r>
                  <a:rPr lang="en-US" dirty="0" smtClean="0"/>
                  <a:t>(</a:t>
                </a:r>
                <a:r>
                  <a:rPr lang="en-US" b="1" dirty="0" smtClean="0"/>
                  <a:t>L</a:t>
                </a:r>
                <a:r>
                  <a:rPr lang="en-US" dirty="0" smtClean="0"/>
                  <a:t>: </a:t>
                </a:r>
                <a:r>
                  <a:rPr lang="en-US" dirty="0" err="1" smtClean="0"/>
                  <a:t>Nilai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akhir</a:t>
                </a:r>
                <a:r>
                  <a:rPr lang="en-US" dirty="0" smtClean="0"/>
                  <a:t> &gt; 67,5) </a:t>
                </a:r>
                <a:r>
                  <a:rPr lang="en-US" dirty="0" err="1" smtClean="0"/>
                  <a:t>dan</a:t>
                </a:r>
                <a:r>
                  <a:rPr lang="en-US" dirty="0" smtClean="0"/>
                  <a:t> </a:t>
                </a:r>
                <a:r>
                  <a:rPr lang="en-US" b="1" dirty="0" err="1" smtClean="0"/>
                  <a:t>Kurang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dari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nilai</a:t>
                </a:r>
                <a:r>
                  <a:rPr lang="en-US" b="1" dirty="0" smtClean="0"/>
                  <a:t> B </a:t>
                </a:r>
                <a:r>
                  <a:rPr lang="en-US" dirty="0" smtClean="0"/>
                  <a:t>(</a:t>
                </a:r>
                <a:r>
                  <a:rPr lang="en-US" b="1" dirty="0" smtClean="0"/>
                  <a:t>K</a:t>
                </a:r>
                <a:r>
                  <a:rPr lang="en-US" dirty="0" smtClean="0"/>
                  <a:t>: </a:t>
                </a:r>
                <a:r>
                  <a:rPr lang="en-US" dirty="0" err="1" smtClean="0"/>
                  <a:t>Nilai</a:t>
                </a:r>
                <a:r>
                  <a:rPr lang="en-US" dirty="0" smtClean="0"/>
                  <a:t> </a:t>
                </a:r>
                <a:r>
                  <a:rPr lang="en-US" dirty="0" err="1"/>
                  <a:t>akhir</a:t>
                </a:r>
                <a:r>
                  <a:rPr lang="en-US" dirty="0"/>
                  <a:t> </a:t>
                </a:r>
                <a:r>
                  <a:rPr lang="en-US" dirty="0" smtClean="0"/>
                  <a:t>≤ 67,5) </a:t>
                </a:r>
                <a:r>
                  <a:rPr lang="en-US" dirty="0" err="1" smtClean="0"/>
                  <a:t>dengan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ukuran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sampel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masing-masing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adalah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=36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dan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=40</m:t>
                    </m:r>
                  </m:oMath>
                </a14:m>
                <a:r>
                  <a:rPr lang="en-US" dirty="0" smtClean="0"/>
                  <a:t>, </a:t>
                </a:r>
                <a:r>
                  <a:rPr lang="en-US" dirty="0" err="1" smtClean="0"/>
                  <a:t>dari</a:t>
                </a:r>
                <a:r>
                  <a:rPr lang="en-US" dirty="0" smtClean="0"/>
                  <a:t> data </a:t>
                </a:r>
                <a:r>
                  <a:rPr lang="en-US" dirty="0" err="1" smtClean="0"/>
                  <a:t>penilaian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matakuliah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Biostatistika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tanpa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menyertakan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nilai</a:t>
                </a:r>
                <a:r>
                  <a:rPr lang="en-US" dirty="0" smtClean="0"/>
                  <a:t> bonus, </a:t>
                </a:r>
                <a:r>
                  <a:rPr lang="en-US" dirty="0" err="1" smtClean="0"/>
                  <a:t>sebagai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berikut</a:t>
                </a:r>
                <a:r>
                  <a:rPr lang="en-US" dirty="0" smtClean="0"/>
                  <a:t>: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039368"/>
                <a:ext cx="8534400" cy="5029200"/>
              </a:xfrm>
              <a:blipFill>
                <a:blip r:embed="rId2"/>
                <a:stretch>
                  <a:fillRect l="-714" t="-1212" r="-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898548"/>
              </p:ext>
            </p:extLst>
          </p:nvPr>
        </p:nvGraphicFramePr>
        <p:xfrm>
          <a:off x="304800" y="2590800"/>
          <a:ext cx="8686800" cy="39014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31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48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32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48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32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52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92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49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971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495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NIM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KUIS 1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UTS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KUIS 2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UAS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Praktikum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Presensi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Indeks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Dua</a:t>
                      </a:r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Kelompok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106XXXXX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74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58.3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49.5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80.1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69.2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62.4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BC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106XXXXX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38.0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30.5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73.4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57.7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39.8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106XXXXX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51.5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70.0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57.5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85.4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84.6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64.7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BC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106XXXXX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20.0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62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82.4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80.8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56.0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106XXXXX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77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21.0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83.9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46.2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62.8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BC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106XXXXX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55.0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86.6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92.3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54.9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106XXXXX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45.0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69.5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91.7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57.7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74.0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106XXXXX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41.7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48.5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87.2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96.2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57.5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BC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106XXXXX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43.3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91.5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92.3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42.5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106XXXXX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</a:t>
                      </a: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86</a:t>
                      </a:r>
                    </a:p>
                  </a:txBody>
                  <a:tcPr marL="0" marR="0" marT="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96.7</a:t>
                      </a:r>
                    </a:p>
                  </a:txBody>
                  <a:tcPr marL="0" marR="0" marT="0" marB="0" anchor="b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87.5</a:t>
                      </a:r>
                    </a:p>
                  </a:txBody>
                  <a:tcPr marL="0" marR="0" marT="0" marB="0" anchor="b"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84.6</a:t>
                      </a:r>
                    </a:p>
                  </a:txBody>
                  <a:tcPr marL="0" marR="0" marT="0" marB="0" anchor="b"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84.3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106XXXXX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</a:t>
                      </a: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76</a:t>
                      </a:r>
                    </a:p>
                  </a:txBody>
                  <a:tcPr marL="0" marR="0" marT="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70.0</a:t>
                      </a:r>
                    </a:p>
                  </a:txBody>
                  <a:tcPr marL="0" marR="0" marT="0" marB="0" anchor="b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73</a:t>
                      </a: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79.4</a:t>
                      </a:r>
                    </a:p>
                  </a:txBody>
                  <a:tcPr marL="0" marR="0" marT="0" marB="0" anchor="b"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88.5</a:t>
                      </a:r>
                    </a:p>
                  </a:txBody>
                  <a:tcPr marL="0" marR="0" marT="0" marB="0" anchor="b"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77.2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76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106XXXXX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</a:t>
                      </a: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</a:t>
                      </a:r>
                    </a:p>
                  </a:txBody>
                  <a:tcPr marL="0" marR="0" marT="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41.7</a:t>
                      </a:r>
                    </a:p>
                  </a:txBody>
                  <a:tcPr marL="0" marR="0" marT="0" marB="0" anchor="b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69.5</a:t>
                      </a: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86.7</a:t>
                      </a:r>
                    </a:p>
                  </a:txBody>
                  <a:tcPr marL="0" marR="0" marT="0" marB="0" anchor="b"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69.2</a:t>
                      </a:r>
                    </a:p>
                  </a:txBody>
                  <a:tcPr marL="0" marR="0" marT="0" marB="0" anchor="b"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64.2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BC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2497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792162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ANALISIS DISKRIMINAN </a:t>
            </a:r>
            <a:r>
              <a:rPr lang="en-US" sz="2400" b="1" dirty="0" smtClean="0"/>
              <a:t>(</a:t>
            </a:r>
            <a:r>
              <a:rPr lang="en-US" sz="2400" b="1" dirty="0" err="1" smtClean="0"/>
              <a:t>contoh</a:t>
            </a:r>
            <a:r>
              <a:rPr lang="en-US" sz="2400" b="1" dirty="0" smtClean="0"/>
              <a:t>)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143000"/>
                <a:ext cx="8839200" cy="5562600"/>
              </a:xfrm>
            </p:spPr>
            <p:txBody>
              <a:bodyPr>
                <a:normAutofit/>
              </a:bodyPr>
              <a:lstStyle/>
              <a:p>
                <a:pPr marL="441325" lvl="0" indent="-441325">
                  <a:buNone/>
                </a:pPr>
                <a:r>
                  <a:rPr lang="id-ID" sz="2400" dirty="0" smtClean="0"/>
                  <a:t>1.   </a:t>
                </a:r>
                <a:r>
                  <a:rPr lang="en-US" sz="2400" dirty="0" smtClean="0"/>
                  <a:t>N</a:t>
                </a:r>
                <a:r>
                  <a:rPr lang="id-ID" sz="2400" dirty="0" smtClean="0"/>
                  <a:t>yatakan </a:t>
                </a:r>
                <a:r>
                  <a:rPr lang="id-ID" sz="2400" dirty="0"/>
                  <a:t>matriks data </a:t>
                </a:r>
                <a:r>
                  <a:rPr lang="en-US" sz="2400" dirty="0" err="1" smtClean="0"/>
                  <a:t>sebagai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/>
                      </a:rPr>
                      <m:t>𝐗</m:t>
                    </m:r>
                  </m:oMath>
                </a14:m>
                <a:r>
                  <a:rPr lang="en-US" sz="2400" dirty="0" smtClean="0"/>
                  <a:t> </a:t>
                </a:r>
                <a:r>
                  <a:rPr lang="en-US" sz="2400" dirty="0" err="1" smtClean="0"/>
                  <a:t>dengan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variabel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𝑌</m:t>
                    </m:r>
                  </m:oMath>
                </a14:m>
                <a:r>
                  <a:rPr lang="en-US" sz="2400" dirty="0" smtClean="0"/>
                  <a:t> </a:t>
                </a:r>
                <a:r>
                  <a:rPr lang="en-US" sz="2400" b="1" dirty="0" err="1" smtClean="0"/>
                  <a:t>terurut</a:t>
                </a:r>
                <a:r>
                  <a:rPr lang="en-US" sz="2400" dirty="0" smtClean="0"/>
                  <a:t>.</a:t>
                </a:r>
              </a:p>
              <a:p>
                <a:pPr marL="457200" lvl="0" indent="-457200">
                  <a:buFont typeface="+mj-lt"/>
                  <a:buAutoNum type="arabicPeriod"/>
                </a:pPr>
                <a:endParaRPr lang="en-US" sz="24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143000"/>
                <a:ext cx="8839200" cy="5562600"/>
              </a:xfrm>
              <a:blipFill rotWithShape="0">
                <a:blip r:embed="rId2"/>
                <a:stretch>
                  <a:fillRect l="-1034" t="-1645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144153"/>
              </p:ext>
            </p:extLst>
          </p:nvPr>
        </p:nvGraphicFramePr>
        <p:xfrm>
          <a:off x="304800" y="2057400"/>
          <a:ext cx="8686801" cy="449579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23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8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22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59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22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38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6617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6834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28639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26366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0451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82040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KUIS </a:t>
                      </a:r>
                      <a:r>
                        <a:rPr lang="en-GB" sz="1600" b="1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600" b="1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16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)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UTS</a:t>
                      </a:r>
                    </a:p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600" b="1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16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)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KUIS </a:t>
                      </a:r>
                      <a:r>
                        <a:rPr lang="en-GB" sz="1600" b="1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600" b="1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16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)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UAS</a:t>
                      </a:r>
                    </a:p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600" b="1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16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)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 err="1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Praktikum</a:t>
                      </a:r>
                      <a:endParaRPr lang="en-GB" sz="1600" b="1" u="none" strike="noStrike" dirty="0" smtClean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600" b="1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16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)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 err="1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Presensi</a:t>
                      </a:r>
                      <a:endParaRPr lang="en-GB" sz="1600" b="1" u="none" strike="noStrike" dirty="0" smtClean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600" b="1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16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6</a:t>
                      </a:r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)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Dua</a:t>
                      </a:r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0" indent="0" algn="ctr" fontAlgn="b"/>
                      <a:r>
                        <a:rPr lang="en-US" sz="16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Kelompok</a:t>
                      </a:r>
                      <a:endParaRPr lang="en-US" sz="1600" b="1" i="0" u="none" strike="noStrike" dirty="0" smtClean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600" b="1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Y</a:t>
                      </a:r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)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52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96.7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87.5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84.6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52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74.5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100.0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76.5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87.8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100.0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52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85.0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72.5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93.9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100.0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52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81.7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73.5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86.9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96.2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52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86.7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72.5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89.9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92.3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52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91.7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92.9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96.2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52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60.0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91.3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84.6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252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85.0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88.3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92.3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252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68.3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75.5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84.4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96.2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252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252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58.3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90.6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65.4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252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58.3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49.5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80.1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69.2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252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252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41.7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69.5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86.7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69.2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6278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38200" y="3124200"/>
            <a:ext cx="7086600" cy="198120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792162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ANALISIS DISKRIMINAN </a:t>
            </a:r>
            <a:r>
              <a:rPr lang="en-US" sz="2400" b="1" dirty="0"/>
              <a:t>(</a:t>
            </a:r>
            <a:r>
              <a:rPr lang="en-US" sz="2400" b="1" dirty="0" err="1"/>
              <a:t>contoh</a:t>
            </a:r>
            <a:r>
              <a:rPr lang="en-US" sz="2400" b="1" dirty="0"/>
              <a:t>)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143000"/>
                <a:ext cx="8839200" cy="5562600"/>
              </a:xfrm>
            </p:spPr>
            <p:txBody>
              <a:bodyPr>
                <a:normAutofit/>
              </a:bodyPr>
              <a:lstStyle/>
              <a:p>
                <a:pPr marL="365125" lvl="0" indent="-365125">
                  <a:lnSpc>
                    <a:spcPct val="150000"/>
                  </a:lnSpc>
                  <a:buNone/>
                </a:pPr>
                <a:r>
                  <a:rPr lang="id-ID" sz="2400" dirty="0" smtClean="0"/>
                  <a:t>2.  </a:t>
                </a:r>
                <a:r>
                  <a:rPr lang="en-US" sz="2400" dirty="0" err="1" smtClean="0"/>
                  <a:t>Hitung</a:t>
                </a:r>
                <a:r>
                  <a:rPr lang="en-US" sz="2400" dirty="0" smtClean="0"/>
                  <a:t> </a:t>
                </a:r>
                <a:r>
                  <a:rPr lang="en-US" sz="2400" dirty="0"/>
                  <a:t>rata-rata </a:t>
                </a:r>
                <a:r>
                  <a:rPr lang="en-US" sz="2400" dirty="0" err="1"/>
                  <a:t>setiap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variabel</a:t>
                </a:r>
                <a:r>
                  <a:rPr lang="en-US" sz="2400" dirty="0"/>
                  <a:t> </a:t>
                </a:r>
                <a:r>
                  <a:rPr lang="en-US" sz="2400" dirty="0" err="1"/>
                  <a:t>untuk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setiap</a:t>
                </a:r>
                <a:r>
                  <a:rPr lang="en-US" sz="2400" dirty="0"/>
                  <a:t> </a:t>
                </a:r>
                <a:r>
                  <a:rPr lang="en-US" sz="2400" dirty="0" err="1" smtClean="0"/>
                  <a:t>kelompok</a:t>
                </a:r>
                <a:r>
                  <a:rPr lang="en-US" sz="2400" dirty="0" smtClean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d-ID" sz="2400" i="1">
                                <a:latin typeface="Cambria Math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 smtClean="0"/>
                  <a:t> </a:t>
                </a:r>
                <a:r>
                  <a:rPr lang="en-US" sz="2400" dirty="0" err="1" smtClean="0"/>
                  <a:t>dan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d-ID" sz="2400" i="1">
                                <a:latin typeface="Cambria Math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 smtClean="0"/>
                  <a:t>), </a:t>
                </a:r>
                <a:r>
                  <a:rPr lang="en-US" sz="2400" dirty="0" err="1" smtClean="0"/>
                  <a:t>hitung</a:t>
                </a:r>
                <a:r>
                  <a:rPr lang="en-US" sz="2400" dirty="0" smtClean="0"/>
                  <a:t> juga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d-ID" sz="2800" i="1">
                                <a:latin typeface="Cambria Math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d-ID" sz="2400" i="1">
                                <a:latin typeface="Cambria Math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 smtClean="0"/>
                  <a:t>.</a:t>
                </a:r>
                <a:endParaRPr lang="en-US" sz="2400" dirty="0"/>
              </a:p>
              <a:p>
                <a:pPr marL="400050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d-ID" sz="2000" i="1">
                                  <a:latin typeface="Cambria Math"/>
                                </a:rPr>
                                <m:t>𝜇</m:t>
                              </m:r>
                            </m:e>
                          </m:acc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id-ID" sz="200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59.42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71.96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73.7</m:t>
                                </m:r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id-ID" sz="2000" i="1">
                                    <a:latin typeface="Cambria Math"/>
                                  </a:rPr>
                                  <m:t>67.81</m:t>
                                </m:r>
                              </m:e>
                            </m:mr>
                            <m:mr>
                              <m:e>
                                <m:r>
                                  <a:rPr lang="id-ID" sz="2000" i="1">
                                    <a:latin typeface="Cambria Math"/>
                                  </a:rPr>
                                  <m:t>87.95</m:t>
                                </m:r>
                              </m:e>
                            </m:mr>
                            <m:mr>
                              <m:e>
                                <m:r>
                                  <a:rPr lang="id-ID" sz="2000" i="1">
                                    <a:latin typeface="Cambria Math"/>
                                  </a:rPr>
                                  <m:t>88.03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, 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d-ID" sz="2000" i="1">
                                  <a:latin typeface="Cambria Math"/>
                                </a:rPr>
                                <m:t>𝜇</m:t>
                              </m:r>
                            </m:e>
                          </m:acc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id-ID" sz="20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40.25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51.21</m:t>
                                </m:r>
                              </m:e>
                            </m:mr>
                            <m:mr>
                              <m:e>
                                <m:r>
                                  <a:rPr lang="id-ID" sz="2000" i="1">
                                    <a:latin typeface="Cambria Math"/>
                                  </a:rPr>
                                  <m:t>49.82</m:t>
                                </m:r>
                              </m:e>
                            </m:mr>
                            <m:mr>
                              <m:e>
                                <m:r>
                                  <a:rPr lang="id-ID" sz="2000" i="1">
                                    <a:latin typeface="Cambria Math"/>
                                  </a:rPr>
                                  <m:t>50.76</m:t>
                                </m:r>
                              </m:e>
                            </m:mr>
                            <m:mr>
                              <m:e>
                                <m:r>
                                  <a:rPr lang="id-ID" sz="2000" i="1">
                                    <a:latin typeface="Cambria Math"/>
                                  </a:rPr>
                                  <m:t>84.84</m:t>
                                </m:r>
                              </m:e>
                            </m:mr>
                            <m:mr>
                              <m:e>
                                <m:r>
                                  <a:rPr lang="id-ID" sz="2000" i="1">
                                    <a:latin typeface="Cambria Math"/>
                                  </a:rPr>
                                  <m:t>82.31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, 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d-ID" sz="2000" i="1">
                                  <a:latin typeface="Cambria Math"/>
                                </a:rPr>
                                <m:t>𝜇</m:t>
                              </m:r>
                            </m:e>
                          </m:acc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d-ID" sz="2000" i="1">
                                  <a:latin typeface="Cambria Math"/>
                                </a:rPr>
                                <m:t>𝜇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id-ID" sz="20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19.17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20.75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23.89</m:t>
                                </m:r>
                              </m:e>
                            </m:mr>
                            <m:mr>
                              <m:e>
                                <m:r>
                                  <a:rPr lang="id-ID" sz="2000" i="1">
                                    <a:latin typeface="Cambria Math"/>
                                  </a:rPr>
                                  <m:t>17.04</m:t>
                                </m:r>
                              </m:e>
                            </m:mr>
                            <m:mr>
                              <m:e>
                                <m:r>
                                  <a:rPr lang="id-ID" sz="2000" i="1">
                                    <a:latin typeface="Cambria Math"/>
                                  </a:rPr>
                                  <m:t>3.11</m:t>
                                </m:r>
                              </m:e>
                            </m:mr>
                            <m:mr>
                              <m:e>
                                <m:r>
                                  <a:rPr lang="id-ID" sz="2000" i="1">
                                    <a:latin typeface="Cambria Math"/>
                                  </a:rPr>
                                  <m:t>5.73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143000"/>
                <a:ext cx="8839200" cy="5562600"/>
              </a:xfrm>
              <a:blipFill rotWithShape="0">
                <a:blip r:embed="rId2"/>
                <a:stretch>
                  <a:fillRect l="-1034" r="-1310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3648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85800" y="4267200"/>
            <a:ext cx="7391400" cy="198120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Rectangle 4"/>
          <p:cNvSpPr/>
          <p:nvPr/>
        </p:nvSpPr>
        <p:spPr>
          <a:xfrm>
            <a:off x="762000" y="1752600"/>
            <a:ext cx="7162800" cy="2171700"/>
          </a:xfrm>
          <a:prstGeom prst="rect">
            <a:avLst/>
          </a:prstGeom>
          <a:solidFill>
            <a:srgbClr val="CC99FF"/>
          </a:solidFill>
          <a:ln>
            <a:solidFill>
              <a:srgbClr val="CC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792162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ANALISIS DISKRIMINAN </a:t>
            </a:r>
            <a:r>
              <a:rPr lang="en-US" sz="2400" b="1" dirty="0"/>
              <a:t>(</a:t>
            </a:r>
            <a:r>
              <a:rPr lang="en-US" sz="2400" b="1" dirty="0" err="1"/>
              <a:t>contoh</a:t>
            </a:r>
            <a:r>
              <a:rPr lang="en-US" sz="2400" b="1" dirty="0"/>
              <a:t>)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143000"/>
                <a:ext cx="8839200" cy="5562600"/>
              </a:xfrm>
            </p:spPr>
            <p:txBody>
              <a:bodyPr>
                <a:normAutofit/>
              </a:bodyPr>
              <a:lstStyle/>
              <a:p>
                <a:pPr marL="0" lv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id-ID" sz="2400" dirty="0" smtClean="0"/>
                  <a:t>3.  </a:t>
                </a:r>
                <a:r>
                  <a:rPr lang="en-US" sz="2400" dirty="0" err="1" smtClean="0"/>
                  <a:t>Hitung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matriks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kovariansi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untuk</a:t>
                </a:r>
                <a:r>
                  <a:rPr lang="en-US" sz="2400" dirty="0" smtClean="0"/>
                  <a:t> </a:t>
                </a:r>
                <a:r>
                  <a:rPr lang="en-US" sz="2400" dirty="0" err="1"/>
                  <a:t>setiap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kelompok</a:t>
                </a:r>
                <a:r>
                  <a:rPr lang="en-US" sz="2400" dirty="0"/>
                  <a:t>.</a:t>
                </a:r>
              </a:p>
              <a:p>
                <a:pPr marL="400050" lvl="1" indent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0" smtClean="0">
                              <a:latin typeface="Cambria Math"/>
                            </a:rPr>
                            <m:t>𝐒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id-ID" sz="20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299.56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2.16</m:t>
                                </m:r>
                              </m:e>
                              <m:e>
                                <m:r>
                                  <a:rPr lang="id-ID" sz="2000" i="1">
                                    <a:latin typeface="Cambria Math"/>
                                  </a:rPr>
                                  <m:t>−8.78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32.83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4.15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22.38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2.16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65.05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26.33</m:t>
                                </m:r>
                              </m:e>
                              <m:e>
                                <m:r>
                                  <a:rPr lang="id-ID" sz="2000" i="1">
                                    <a:latin typeface="Cambria Math"/>
                                  </a:rPr>
                                  <m:t>−10.89</m:t>
                                </m:r>
                              </m:e>
                              <m:e>
                                <m:r>
                                  <a:rPr lang="id-ID" sz="2000" i="1">
                                    <a:latin typeface="Cambria Math"/>
                                  </a:rPr>
                                  <m:t>7.6</m:t>
                                </m:r>
                              </m:e>
                              <m:e>
                                <m:r>
                                  <a:rPr lang="id-ID" sz="2000" i="1">
                                    <a:latin typeface="Cambria Math"/>
                                  </a:rPr>
                                  <m:t>−8.97</m:t>
                                </m:r>
                              </m:e>
                            </m:mr>
                            <m:mr>
                              <m:e>
                                <m:r>
                                  <a:rPr lang="id-ID" sz="2000" i="1">
                                    <a:latin typeface="Cambria Math"/>
                                  </a:rPr>
                                  <m:t>−8.78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26.33</m:t>
                                </m:r>
                              </m:e>
                              <m:e>
                                <m:r>
                                  <a:rPr lang="id-ID" sz="2000" i="1">
                                    <a:latin typeface="Cambria Math"/>
                                  </a:rPr>
                                  <m:t>264.62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0.74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3.35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48.15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32.83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−10.89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0.74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45.5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−6.12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−3.22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4.15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7.6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3.35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−6.12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10.42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2.06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22.38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−8.97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48.15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−3.22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2.06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104.63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000" i="1">
                          <a:latin typeface="Cambria Math"/>
                        </a:rPr>
                        <m:t>,</m:t>
                      </m:r>
                      <m:r>
                        <a:rPr lang="en-US" sz="2000" b="0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id-ID" sz="2000" b="0" i="1" dirty="0" smtClean="0">
                  <a:latin typeface="Cambria Math"/>
                </a:endParaRPr>
              </a:p>
              <a:p>
                <a:pPr marL="400050" lvl="1" indent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000" b="0" i="1" dirty="0" smtClean="0">
                  <a:latin typeface="Cambria Math"/>
                </a:endParaRPr>
              </a:p>
              <a:p>
                <a:pPr marL="400050" lvl="1" indent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>
                              <a:latin typeface="Cambria Math"/>
                            </a:rPr>
                            <m:t>𝐒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id-ID" sz="20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431.94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77.39 </m:t>
                                </m:r>
                              </m:e>
                              <m:e>
                                <m:r>
                                  <a:rPr lang="id-ID" sz="2000" i="1">
                                    <a:latin typeface="Cambria Math"/>
                                  </a:rPr>
                                  <m:t>136.88 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23.34 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−16.35 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39.15 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77.39 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172.95 </m:t>
                                </m:r>
                              </m:e>
                              <m:e>
                                <m:r>
                                  <a:rPr lang="id-ID" sz="2000" i="1">
                                    <a:latin typeface="Cambria Math"/>
                                  </a:rPr>
                                  <m:t>61.87 </m:t>
                                </m:r>
                              </m:e>
                              <m:e>
                                <m:r>
                                  <a:rPr lang="id-ID" sz="2000" i="1">
                                    <a:latin typeface="Cambria Math"/>
                                  </a:rPr>
                                  <m:t>33.05 </m:t>
                                </m:r>
                              </m:e>
                              <m:e>
                                <m:r>
                                  <a:rPr lang="id-ID" sz="2000" i="1">
                                    <a:latin typeface="Cambria Math"/>
                                  </a:rPr>
                                  <m:t>−12.04 </m:t>
                                </m:r>
                              </m:e>
                              <m:e>
                                <m:r>
                                  <a:rPr lang="id-ID" sz="2000" i="1">
                                    <a:latin typeface="Cambria Math"/>
                                  </a:rPr>
                                  <m:t>−2.01 </m:t>
                                </m:r>
                              </m:e>
                            </m:mr>
                            <m:mr>
                              <m:e>
                                <m:r>
                                  <a:rPr lang="id-ID" sz="2000" i="1">
                                    <a:latin typeface="Cambria Math"/>
                                  </a:rPr>
                                  <m:t>136.88 </m:t>
                                </m:r>
                              </m:e>
                              <m:e>
                                <m:r>
                                  <a:rPr lang="id-ID" sz="2000" i="1">
                                    <a:latin typeface="Cambria Math"/>
                                  </a:rPr>
                                  <m:t>61.87 </m:t>
                                </m:r>
                              </m:e>
                              <m:e>
                                <m:r>
                                  <a:rPr lang="id-ID" sz="2000" i="1">
                                    <a:latin typeface="Cambria Math"/>
                                  </a:rPr>
                                  <m:t>307.16 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6.52 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−32.37 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69.85 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23.34 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33.05 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6.52 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77.99 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5.56 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9.89 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−16.35 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−12.04 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−32.37 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5.56 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33.56 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15.94 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39.15 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−2.01 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69.85 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9.89 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15.94 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193.29 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143000"/>
                <a:ext cx="8839200" cy="5562600"/>
              </a:xfrm>
              <a:blipFill rotWithShape="0">
                <a:blip r:embed="rId2"/>
                <a:stretch>
                  <a:fillRect l="-1034" t="-329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0791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4267200"/>
            <a:ext cx="7772400" cy="1981200"/>
          </a:xfrm>
          <a:prstGeom prst="rect">
            <a:avLst/>
          </a:prstGeom>
          <a:solidFill>
            <a:srgbClr val="CC99FF"/>
          </a:solidFill>
          <a:ln>
            <a:solidFill>
              <a:srgbClr val="CC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792162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ANALISIS DISKRIMINAN </a:t>
            </a:r>
            <a:r>
              <a:rPr lang="en-US" sz="2400" b="1" dirty="0"/>
              <a:t>(</a:t>
            </a:r>
            <a:r>
              <a:rPr lang="en-US" sz="2400" b="1" dirty="0" err="1"/>
              <a:t>contoh</a:t>
            </a:r>
            <a:r>
              <a:rPr lang="en-US" sz="2400" b="1" dirty="0"/>
              <a:t>)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00025" y="1219200"/>
                <a:ext cx="8839200" cy="5562600"/>
              </a:xfrm>
            </p:spPr>
            <p:txBody>
              <a:bodyPr>
                <a:normAutofit/>
              </a:bodyPr>
              <a:lstStyle/>
              <a:p>
                <a:pPr marL="0" lvl="0" indent="0">
                  <a:lnSpc>
                    <a:spcPct val="150000"/>
                  </a:lnSpc>
                  <a:buNone/>
                </a:pPr>
                <a:r>
                  <a:rPr lang="en-US" dirty="0" smtClean="0"/>
                  <a:t>3.  </a:t>
                </a:r>
                <a:r>
                  <a:rPr lang="en-US" dirty="0" err="1" smtClean="0"/>
                  <a:t>Bangun</a:t>
                </a:r>
                <a:r>
                  <a:rPr lang="en-US" dirty="0" smtClean="0"/>
                  <a:t> </a:t>
                </a:r>
                <a:r>
                  <a:rPr lang="en-US" dirty="0" err="1"/>
                  <a:t>matriks</a:t>
                </a:r>
                <a:r>
                  <a:rPr lang="en-US" dirty="0"/>
                  <a:t> </a:t>
                </a:r>
                <a:r>
                  <a:rPr lang="en-US" dirty="0" err="1"/>
                  <a:t>kovariansi</a:t>
                </a:r>
                <a:r>
                  <a:rPr lang="en-US" dirty="0"/>
                  <a:t> </a:t>
                </a:r>
                <a:r>
                  <a:rPr lang="en-US" dirty="0" err="1"/>
                  <a:t>gabungan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/>
                          </a:rPr>
                          <m:t>𝐒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𝑝𝑙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  <a:endParaRPr lang="en-US" dirty="0" smtClean="0"/>
              </a:p>
              <a:p>
                <a:pPr marL="400050" lvl="1" indent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>
                              <a:latin typeface="Cambria Math"/>
                            </a:rPr>
                            <m:t>𝐒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𝑝𝑙</m:t>
                          </m:r>
                        </m:sub>
                      </m:sSub>
                      <m:r>
                        <a:rPr lang="id-ID" sz="20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i="1">
                                    <a:latin typeface="Cambria Math"/>
                                  </a:rPr>
                                  <m:t>3</m:t>
                                </m:r>
                                <m:r>
                                  <a:rPr lang="en-US" sz="2000" i="1">
                                    <a:latin typeface="Cambria Math"/>
                                  </a:rPr>
                                  <m:t>69.33 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41.81 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67.99 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27.83 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−6.66 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31.22 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41.81 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121.91 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45.06 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12.27 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−2.75 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−5.3 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67.99 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45.06 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287.04 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3.79 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−15.47 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59.58 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27.83 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12.27 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3.79 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62.62 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0.04 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3.69 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−6.66 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−2.75 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−15.47 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0.04 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22.62 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9.37 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31.22 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−5.3 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59.58 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3.69 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9.37 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151.36 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000" i="1">
                          <a:latin typeface="Cambria Math"/>
                        </a:rPr>
                        <m:t>, </m:t>
                      </m:r>
                    </m:oMath>
                  </m:oMathPara>
                </a14:m>
                <a:endParaRPr lang="en-US" sz="2000" i="1" dirty="0" smtClean="0">
                  <a:latin typeface="Cambria Math"/>
                </a:endParaRPr>
              </a:p>
              <a:p>
                <a:pPr marL="400050" lvl="1" indent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000" i="1" dirty="0">
                  <a:latin typeface="Cambria Math"/>
                </a:endParaRPr>
              </a:p>
              <a:p>
                <a:pPr marL="400050" lvl="1" indent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>
                              <a:latin typeface="Cambria Math"/>
                            </a:rPr>
                            <m:t>𝐒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𝑝𝑙</m:t>
                          </m:r>
                        </m:sub>
                        <m:sup>
                          <m:r>
                            <a:rPr lang="en-US" b="0" i="1" smtClean="0">
                              <a:latin typeface="Cambria Math"/>
                            </a:rPr>
                            <m:t>−1</m:t>
                          </m:r>
                        </m:sup>
                      </m:sSubSup>
                      <m:r>
                        <a:rPr lang="id-ID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.003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−0.0008 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−0.0004 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−0.0011 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0.0007 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−0.0005 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−0.0008 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0.0092 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−0.0015 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−0.0014 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−0.0006 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0.0012 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−0.0004 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−0.0015 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0.0044 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0.0003 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0.0035 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−0.0019 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−0.0011 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−0.0014 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0.0003 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0.0168 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−0.0002 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−0.0003 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0.0007 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−0.0006 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0.0035 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−0.0002 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0.0486 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−0.0046 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−0.0005 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0.0012 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−0.0019 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−0.0003 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−0.0046 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0.0078 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ea typeface="Cambria Math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0025" y="1219200"/>
                <a:ext cx="8839200" cy="5562600"/>
              </a:xfrm>
              <a:blipFill rotWithShape="0">
                <a:blip r:embed="rId2"/>
                <a:stretch>
                  <a:fillRect l="-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2059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33400" y="1752600"/>
            <a:ext cx="1981200" cy="53340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438400" y="6172200"/>
            <a:ext cx="4572000" cy="457200"/>
          </a:xfrm>
          <a:prstGeom prst="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792162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ANALISIS DISKRIMINAN </a:t>
            </a:r>
            <a:r>
              <a:rPr lang="en-US" sz="2400" b="1" dirty="0"/>
              <a:t>(</a:t>
            </a:r>
            <a:r>
              <a:rPr lang="en-US" sz="2400" b="1" dirty="0" err="1"/>
              <a:t>contoh</a:t>
            </a:r>
            <a:r>
              <a:rPr lang="en-US" sz="2400" b="1" dirty="0"/>
              <a:t>)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" y="1143000"/>
                <a:ext cx="8991600" cy="5715000"/>
              </a:xfrm>
            </p:spPr>
            <p:txBody>
              <a:bodyPr>
                <a:normAutofit lnSpcReduction="10000"/>
              </a:bodyPr>
              <a:lstStyle/>
              <a:p>
                <a:pPr marL="0" lv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2400" dirty="0" smtClean="0"/>
                  <a:t>4.  </a:t>
                </a:r>
                <a:r>
                  <a:rPr lang="en-US" sz="2400" dirty="0" err="1" smtClean="0"/>
                  <a:t>Bangun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koefisien</a:t>
                </a:r>
                <a:r>
                  <a:rPr lang="en-US" sz="2400" dirty="0" smtClean="0"/>
                  <a:t> k</a:t>
                </a:r>
                <a:r>
                  <a:rPr lang="id-ID" sz="2400" dirty="0" smtClean="0"/>
                  <a:t>ombinasi </a:t>
                </a:r>
                <a:r>
                  <a:rPr lang="id-ID" sz="2400" dirty="0"/>
                  <a:t>linear Fisher </a:t>
                </a:r>
                <a:r>
                  <a:rPr lang="en-US" sz="2400" dirty="0"/>
                  <a:t>(model </a:t>
                </a:r>
                <a:r>
                  <a:rPr lang="en-US" sz="2400" dirty="0" err="1"/>
                  <a:t>diskriminan</a:t>
                </a:r>
                <a:r>
                  <a:rPr lang="en-US" sz="2400" dirty="0" smtClean="0"/>
                  <a:t>)</a:t>
                </a:r>
              </a:p>
              <a:p>
                <a:pPr marL="0" lv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2400" dirty="0" smtClean="0"/>
              </a:p>
              <a:p>
                <a:pPr marL="501650" lvl="1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id-ID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>
                              <a:latin typeface="Cambria Math"/>
                            </a:rPr>
                            <m:t>𝒂</m:t>
                          </m:r>
                        </m:e>
                      </m:acc>
                      <m:r>
                        <a:rPr lang="id-ID" sz="2000" b="1" i="1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>
                              <a:latin typeface="Cambria Math"/>
                            </a:rPr>
                            <m:t>𝑺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𝒑𝒍</m:t>
                          </m:r>
                        </m:sub>
                        <m:sup>
                          <m: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𝟏</m:t>
                          </m:r>
                        </m:sup>
                      </m:sSubSup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d-ID" sz="2000" b="1" i="1">
                                      <a:latin typeface="Cambria Math"/>
                                    </a:rPr>
                                    <m:t>𝝁</m:t>
                                  </m:r>
                                </m:e>
                              </m:acc>
                            </m:e>
                            <m:sub>
                              <m:r>
                                <a:rPr lang="id-ID" sz="2000" b="1" i="1"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  <m:r>
                            <a:rPr lang="id-ID" sz="2000" b="1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d-ID" sz="2000" b="1" i="1">
                                      <a:latin typeface="Cambria Math"/>
                                    </a:rPr>
                                    <m:t>𝝁</m:t>
                                  </m:r>
                                </m:e>
                              </m:acc>
                            </m:e>
                            <m:sub>
                              <m:r>
                                <a:rPr lang="id-ID" sz="2000" b="1" i="1"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b="1" i="1" dirty="0" smtClean="0">
                  <a:latin typeface="Cambria Math"/>
                </a:endParaRPr>
              </a:p>
              <a:p>
                <a:pPr marL="501650" lvl="1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000" i="1" dirty="0" smtClean="0">
                  <a:latin typeface="Cambria Math"/>
                </a:endParaRPr>
              </a:p>
              <a:p>
                <a:pPr marL="676275" lvl="1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.0030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−0.0008 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−0.0004 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−0.0011 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0.0007 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−0.0005 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−0.0008 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0.0092 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−0.0015 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−0.0014 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−0.0006 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0.0012 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−0.0004 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−0.0015 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0.0044 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0.0003 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0.0035 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−0.0019 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−0.0011 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−0.0014 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0.0003 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0.0168 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−0.0002 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−0.0003 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0.0007 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−0.0006 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0.0035 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−0.0002 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0.0486 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−0.0046 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−0.0005 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0.0012 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−0.0019 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−0.0003 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−0.0046 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0.0078 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19.17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20.75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23.89</m:t>
                                </m:r>
                              </m:e>
                            </m:mr>
                            <m:mr>
                              <m:e>
                                <m:r>
                                  <a:rPr lang="id-ID" i="1">
                                    <a:latin typeface="Cambria Math"/>
                                  </a:rPr>
                                  <m:t>17.04</m:t>
                                </m:r>
                              </m:e>
                            </m:mr>
                            <m:mr>
                              <m:e>
                                <m:r>
                                  <a:rPr lang="id-ID" i="1">
                                    <a:latin typeface="Cambria Math"/>
                                  </a:rPr>
                                  <m:t>3.11</m:t>
                                </m:r>
                              </m:e>
                            </m:mr>
                            <m:mr>
                              <m:e>
                                <m:r>
                                  <a:rPr lang="id-ID" i="1">
                                    <a:latin typeface="Cambria Math"/>
                                  </a:rPr>
                                  <m:t>5.73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 smtClean="0"/>
              </a:p>
              <a:p>
                <a:pPr marL="676275" lvl="1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0.0115 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lang="en-US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lang="en-US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𝟏𝟐𝟎𝟐</m:t>
                                </m:r>
                                <m:r>
                                  <a:rPr lang="en-US" b="1" i="1">
                                    <a:latin typeface="Cambria Math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0.0710 </m:t>
                                </m:r>
                              </m:e>
                            </m:mr>
                            <m:mr>
                              <m:e>
                                <m:r>
                                  <a:rPr lang="id-ID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lang="id-ID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lang="id-ID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𝟐𝟑𝟗𝟓</m:t>
                                </m:r>
                                <m:r>
                                  <a:rPr lang="id-ID" i="1">
                                    <a:latin typeface="Cambria Math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id-ID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lang="id-ID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lang="id-ID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𝟐𝟎𝟔𝟕</m:t>
                                </m:r>
                                <m:r>
                                  <a:rPr lang="id-ID" b="1" i="1">
                                    <a:latin typeface="Cambria Math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id-ID" i="1">
                                    <a:latin typeface="Cambria Math"/>
                                  </a:rPr>
                                  <m:t>−0.0069 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 smtClean="0"/>
              </a:p>
              <a:p>
                <a:pPr marL="400050" lvl="1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dirty="0" err="1" smtClean="0"/>
                  <a:t>Maka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variabel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penilaian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dominan</a:t>
                </a:r>
                <a:r>
                  <a:rPr lang="en-US" sz="2000" dirty="0"/>
                  <a:t>, yang </a:t>
                </a:r>
                <a:r>
                  <a:rPr lang="en-US" sz="2000" dirty="0" err="1"/>
                  <a:t>membedakan</a:t>
                </a:r>
                <a:r>
                  <a:rPr lang="en-US" sz="2000" dirty="0"/>
                  <a:t> </a:t>
                </a:r>
                <a:r>
                  <a:rPr lang="en-US" sz="2000" b="1" dirty="0" err="1" smtClean="0"/>
                  <a:t>nilai</a:t>
                </a:r>
                <a:r>
                  <a:rPr lang="en-US" sz="2000" b="1" dirty="0" smtClean="0"/>
                  <a:t> </a:t>
                </a:r>
                <a:r>
                  <a:rPr lang="en-US" sz="2000" b="1" dirty="0"/>
                  <a:t>B </a:t>
                </a:r>
                <a:r>
                  <a:rPr lang="en-US" sz="2000" b="1" dirty="0" err="1"/>
                  <a:t>atau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lebih</a:t>
                </a:r>
                <a:r>
                  <a:rPr lang="en-US" sz="2000" b="1" dirty="0"/>
                  <a:t> </a:t>
                </a:r>
                <a:r>
                  <a:rPr lang="en-US" sz="2000" dirty="0" err="1" smtClean="0"/>
                  <a:t>dengan</a:t>
                </a:r>
                <a:r>
                  <a:rPr lang="en-US" sz="2000" dirty="0" smtClean="0"/>
                  <a:t> </a:t>
                </a:r>
                <a:r>
                  <a:rPr lang="en-US" sz="2000" b="1" dirty="0" err="1" smtClean="0"/>
                  <a:t>kurang</a:t>
                </a:r>
                <a:r>
                  <a:rPr lang="en-US" sz="2000" b="1" dirty="0" smtClean="0"/>
                  <a:t> </a:t>
                </a:r>
                <a:r>
                  <a:rPr lang="en-US" sz="2000" b="1" dirty="0" err="1"/>
                  <a:t>dari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nilai</a:t>
                </a:r>
                <a:r>
                  <a:rPr lang="en-US" sz="2000" b="1" dirty="0"/>
                  <a:t> B </a:t>
                </a:r>
                <a:r>
                  <a:rPr lang="en-US" sz="2000" dirty="0" err="1" smtClean="0"/>
                  <a:t>adalah</a:t>
                </a:r>
                <a:r>
                  <a:rPr lang="en-US" sz="2000" dirty="0" smtClean="0"/>
                  <a:t>: </a:t>
                </a:r>
              </a:p>
              <a:p>
                <a:pPr marL="400050" lvl="1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dirty="0" smtClean="0"/>
              </a:p>
              <a:p>
                <a:pPr marL="400050" lvl="1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b="0" i="1" dirty="0" smtClean="0">
                            <a:latin typeface="Cambria Math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000" dirty="0"/>
                  <a:t> (</a:t>
                </a:r>
                <a:r>
                  <a:rPr lang="en-US" sz="2000" dirty="0" smtClean="0"/>
                  <a:t>UAS),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b="0" i="1" dirty="0" smtClean="0">
                            <a:latin typeface="Cambria Math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(</a:t>
                </a:r>
                <a:r>
                  <a:rPr lang="en-US" sz="2000" dirty="0" err="1" smtClean="0"/>
                  <a:t>Praktikum</a:t>
                </a:r>
                <a:r>
                  <a:rPr lang="en-US" sz="2000" dirty="0" smtClean="0"/>
                  <a:t>), </a:t>
                </a:r>
                <a:r>
                  <a:rPr lang="en-US" sz="2000" dirty="0" err="1" smtClean="0"/>
                  <a:t>dan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(UTS)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1143000"/>
                <a:ext cx="8991600" cy="5715000"/>
              </a:xfrm>
              <a:blipFill>
                <a:blip r:embed="rId2"/>
                <a:stretch>
                  <a:fillRect l="-1085" t="-1387" r="-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6688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33400" y="4876800"/>
            <a:ext cx="7848600" cy="533400"/>
          </a:xfrm>
          <a:prstGeom prst="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33400" y="3429000"/>
            <a:ext cx="84201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792162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ANALISIS DISKRIMINAN </a:t>
            </a:r>
            <a:r>
              <a:rPr lang="en-US" sz="2400" b="1" dirty="0"/>
              <a:t>(</a:t>
            </a:r>
            <a:r>
              <a:rPr lang="en-US" sz="2400" b="1" dirty="0" err="1"/>
              <a:t>contoh</a:t>
            </a:r>
            <a:r>
              <a:rPr lang="en-US" sz="2400" b="1" dirty="0"/>
              <a:t>)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4300" y="2057400"/>
                <a:ext cx="8839200" cy="3733800"/>
              </a:xfrm>
            </p:spPr>
            <p:txBody>
              <a:bodyPr>
                <a:normAutofit/>
              </a:bodyPr>
              <a:lstStyle/>
              <a:p>
                <a:pPr marL="0" lvl="0" indent="0">
                  <a:lnSpc>
                    <a:spcPct val="100000"/>
                  </a:lnSpc>
                  <a:buNone/>
                </a:pPr>
                <a:r>
                  <a:rPr lang="en-US" sz="2400" dirty="0" smtClean="0"/>
                  <a:t>5.  </a:t>
                </a:r>
                <a:r>
                  <a:rPr lang="id-ID" sz="2400" dirty="0" smtClean="0"/>
                  <a:t>Menghitung </a:t>
                </a:r>
                <a:r>
                  <a:rPr lang="id-ID" sz="2400" dirty="0"/>
                  <a:t>skor </a:t>
                </a:r>
                <a:r>
                  <a:rPr lang="id-ID" sz="2400" dirty="0" smtClean="0"/>
                  <a:t>diskriminan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400" i="1">
                            <a:latin typeface="Cambria Math"/>
                          </a:rPr>
                          <m:t>𝑍</m:t>
                        </m:r>
                      </m:e>
                    </m:d>
                  </m:oMath>
                </a14:m>
                <a:endParaRPr lang="en-US" sz="2400" dirty="0"/>
              </a:p>
              <a:p>
                <a:pPr marL="400050" lvl="1" indent="0">
                  <a:lnSpc>
                    <a:spcPct val="100000"/>
                  </a:lnSpc>
                  <a:buNone/>
                </a:pPr>
                <a:r>
                  <a:rPr lang="en-US" sz="2000" dirty="0"/>
                  <a:t>S</a:t>
                </a:r>
                <a:r>
                  <a:rPr lang="id-ID" sz="2000" dirty="0"/>
                  <a:t>kor diskriminan untuk setiap </a:t>
                </a:r>
                <a:r>
                  <a:rPr lang="en-US" sz="2000" dirty="0" err="1" smtClean="0"/>
                  <a:t>objek</a:t>
                </a:r>
                <a:r>
                  <a:rPr lang="id-ID" sz="2000" dirty="0" smtClean="0"/>
                  <a:t> </a:t>
                </a:r>
                <a:r>
                  <a:rPr lang="en-US" sz="2000" dirty="0" err="1"/>
                  <a:t>didapatkan</a:t>
                </a:r>
                <a:r>
                  <a:rPr lang="en-US" sz="2000" dirty="0"/>
                  <a:t> </a:t>
                </a:r>
                <a:r>
                  <a:rPr lang="id-ID" sz="2000" dirty="0"/>
                  <a:t>dengan </a:t>
                </a:r>
                <a:r>
                  <a:rPr lang="en-US" sz="2000" dirty="0" err="1"/>
                  <a:t>cara</a:t>
                </a:r>
                <a:r>
                  <a:rPr lang="en-US" sz="2000" dirty="0"/>
                  <a:t> </a:t>
                </a:r>
                <a:r>
                  <a:rPr lang="id-ID" sz="2000" dirty="0"/>
                  <a:t>memasukkan nilai-nilai variabel bebas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ke</a:t>
                </a:r>
                <a:r>
                  <a:rPr lang="en-US" sz="2000" dirty="0"/>
                  <a:t> model </a:t>
                </a:r>
                <a:r>
                  <a:rPr lang="en-US" sz="2000" dirty="0" err="1"/>
                  <a:t>diskriminan</a:t>
                </a:r>
                <a:r>
                  <a:rPr lang="id-ID" sz="2000" dirty="0" smtClean="0"/>
                  <a:t>.</a:t>
                </a:r>
                <a:endParaRPr lang="en-US" sz="2000" dirty="0" smtClean="0"/>
              </a:p>
              <a:p>
                <a:pPr marL="400050" lvl="1" indent="0">
                  <a:lnSpc>
                    <a:spcPct val="100000"/>
                  </a:lnSpc>
                  <a:buNone/>
                </a:pPr>
                <a:endParaRPr lang="en-US" sz="2000" dirty="0" smtClean="0"/>
              </a:p>
              <a:p>
                <a:pPr marL="40005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𝑍</m:t>
                      </m:r>
                      <m:r>
                        <a:rPr lang="en-US" sz="2000" i="1">
                          <a:latin typeface="Cambria Math"/>
                        </a:rPr>
                        <m:t>=0.0115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+0.1202 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+</m:t>
                      </m:r>
                      <m:r>
                        <a:rPr lang="id-ID" sz="2000" i="1">
                          <a:latin typeface="Cambria Math"/>
                        </a:rPr>
                        <m:t>0.07</m:t>
                      </m:r>
                      <m:r>
                        <a:rPr lang="en-US" sz="2000" i="1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+0.2395 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+0.2067 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6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−</m:t>
                      </m:r>
                      <m:r>
                        <a:rPr lang="id-ID" sz="2000" i="1">
                          <a:latin typeface="Cambria Math"/>
                        </a:rPr>
                        <m:t>0.0069</m:t>
                      </m:r>
                      <m:r>
                        <a:rPr lang="en-US" sz="2000" i="1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sz="2000" dirty="0" smtClean="0"/>
              </a:p>
              <a:p>
                <a:pPr marL="400050" lvl="1" indent="0">
                  <a:lnSpc>
                    <a:spcPct val="100000"/>
                  </a:lnSpc>
                  <a:buNone/>
                </a:pPr>
                <a:endParaRPr lang="en-US" sz="2000" dirty="0" smtClean="0"/>
              </a:p>
              <a:p>
                <a:pPr marL="400050" lvl="1" indent="0">
                  <a:lnSpc>
                    <a:spcPct val="100000"/>
                  </a:lnSpc>
                  <a:buNone/>
                </a:pPr>
                <a:r>
                  <a:rPr lang="en-US" sz="2000" dirty="0" err="1" smtClean="0"/>
                  <a:t>atau</a:t>
                </a:r>
                <a:endParaRPr lang="en-US" sz="2000" dirty="0" smtClean="0"/>
              </a:p>
              <a:p>
                <a:pPr marL="400050" lvl="1" indent="0">
                  <a:lnSpc>
                    <a:spcPct val="100000"/>
                  </a:lnSpc>
                  <a:buNone/>
                </a:pPr>
                <a:endParaRPr lang="en-US" sz="2000" dirty="0" smtClean="0"/>
              </a:p>
              <a:p>
                <a:pPr marL="40005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=0.0115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r>
                        <a:rPr lang="en-US" i="1">
                          <a:latin typeface="Cambria Math"/>
                        </a:rPr>
                        <m:t>0.1202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id-ID" i="1">
                          <a:latin typeface="Cambria Math"/>
                        </a:rPr>
                        <m:t>0.07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r>
                        <a:rPr lang="en-US" i="1">
                          <a:latin typeface="Cambria Math"/>
                        </a:rPr>
                        <m:t>0.2395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+0.2067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5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−</m:t>
                      </m:r>
                      <m:r>
                        <a:rPr lang="id-ID" i="1">
                          <a:latin typeface="Cambria Math"/>
                        </a:rPr>
                        <m:t>0.0069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300" y="2057400"/>
                <a:ext cx="8839200" cy="3733800"/>
              </a:xfrm>
              <a:blipFill rotWithShape="0">
                <a:blip r:embed="rId2"/>
                <a:stretch>
                  <a:fillRect l="-1103" t="-1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2006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05000" y="4572000"/>
            <a:ext cx="5410200" cy="9906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792162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ANALISIS DISKRIMINAN </a:t>
            </a:r>
            <a:r>
              <a:rPr lang="en-US" sz="2400" b="1" dirty="0"/>
              <a:t>(</a:t>
            </a:r>
            <a:r>
              <a:rPr lang="en-US" sz="2400" b="1" dirty="0" err="1"/>
              <a:t>contoh</a:t>
            </a:r>
            <a:r>
              <a:rPr lang="en-US" sz="2400" b="1" dirty="0"/>
              <a:t>)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8120" y="1280160"/>
                <a:ext cx="9144000" cy="5562600"/>
              </a:xfrm>
            </p:spPr>
            <p:txBody>
              <a:bodyPr>
                <a:normAutofit/>
              </a:bodyPr>
              <a:lstStyle/>
              <a:p>
                <a:pPr marL="0" lv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id-ID" sz="2400" dirty="0" smtClean="0"/>
                  <a:t>6.  Menghitung </a:t>
                </a:r>
                <a:r>
                  <a:rPr lang="id-ID" sz="2400" i="1" dirty="0"/>
                  <a:t>cutting score</a:t>
                </a:r>
                <a:r>
                  <a:rPr lang="en-US" sz="2400" dirty="0" smtClean="0"/>
                  <a:t>.</a:t>
                </a:r>
              </a:p>
              <a:p>
                <a:pPr marL="461963" lvl="1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d-ID" sz="2200" dirty="0" smtClean="0"/>
                  <a:t>a.  </a:t>
                </a:r>
                <a:r>
                  <a:rPr lang="en-US" sz="2200" dirty="0" err="1" smtClean="0"/>
                  <a:t>Hitung</a:t>
                </a:r>
                <a:r>
                  <a:rPr lang="en-US" sz="2200" dirty="0" smtClean="0"/>
                  <a:t> </a:t>
                </a:r>
                <a:r>
                  <a:rPr lang="en-US" sz="2200" dirty="0" err="1" smtClean="0"/>
                  <a:t>rataan</a:t>
                </a:r>
                <a:r>
                  <a:rPr lang="en-US" sz="2200" dirty="0" smtClean="0"/>
                  <a:t> </a:t>
                </a:r>
                <a:r>
                  <a:rPr lang="en-US" sz="2200" dirty="0" err="1" smtClean="0"/>
                  <a:t>skor</a:t>
                </a:r>
                <a:r>
                  <a:rPr lang="en-US" sz="2200" dirty="0" smtClean="0"/>
                  <a:t> </a:t>
                </a:r>
                <a:r>
                  <a:rPr lang="en-US" sz="2200" dirty="0" err="1" smtClean="0"/>
                  <a:t>diskriminan</a:t>
                </a:r>
                <a:r>
                  <a:rPr lang="en-US" sz="2200" dirty="0" smtClean="0"/>
                  <a:t> </a:t>
                </a:r>
                <a:r>
                  <a:rPr lang="en-US" sz="2200" dirty="0" err="1" smtClean="0"/>
                  <a:t>untuk</a:t>
                </a:r>
                <a:r>
                  <a:rPr lang="en-US" sz="2200" dirty="0" smtClean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/>
                      </a:rPr>
                      <m:t>𝑌</m:t>
                    </m:r>
                    <m:r>
                      <a:rPr lang="en-US" sz="2200" b="0" i="1" smtClean="0">
                        <a:latin typeface="Cambria Math"/>
                      </a:rPr>
                      <m:t>=</m:t>
                    </m:r>
                    <m:r>
                      <a:rPr lang="en-US" sz="2200" b="0" i="1" smtClean="0">
                        <a:latin typeface="Cambria Math"/>
                      </a:rPr>
                      <m:t>𝐿</m:t>
                    </m:r>
                  </m:oMath>
                </a14:m>
                <a:endParaRPr lang="en-US" sz="2200" dirty="0"/>
              </a:p>
              <a:p>
                <a:pPr marL="400050" lvl="1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2200" b="0" i="1" smtClean="0">
                              <a:latin typeface="Cambria Math"/>
                            </a:rPr>
                            <m:t>𝐿</m:t>
                          </m:r>
                        </m:sub>
                      </m:sSub>
                      <m:r>
                        <a:rPr lang="en-US" sz="22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200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/>
                                </a:rPr>
                                <m:t>𝑖𝐿</m:t>
                              </m:r>
                            </m:sub>
                          </m:sSub>
                        </m:e>
                      </m:nary>
                      <m:r>
                        <a:rPr lang="en-US" sz="2200" b="0" i="1" smtClean="0">
                          <a:latin typeface="Cambria Math"/>
                        </a:rPr>
                        <m:t>=</m:t>
                      </m:r>
                      <m:r>
                        <a:rPr lang="en-US" sz="2200" i="1">
                          <a:latin typeface="Cambria Math"/>
                        </a:rPr>
                        <m:t>48.38</m:t>
                      </m:r>
                    </m:oMath>
                  </m:oMathPara>
                </a14:m>
                <a:endParaRPr lang="en-US" sz="2200" dirty="0"/>
              </a:p>
              <a:p>
                <a:pPr marL="461963" lvl="1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d-ID" sz="2200" dirty="0" smtClean="0"/>
                  <a:t>b.  </a:t>
                </a:r>
                <a:r>
                  <a:rPr lang="en-US" sz="2200" dirty="0" err="1" smtClean="0"/>
                  <a:t>Hitung</a:t>
                </a:r>
                <a:r>
                  <a:rPr lang="en-US" sz="2200" dirty="0" smtClean="0"/>
                  <a:t> </a:t>
                </a:r>
                <a:r>
                  <a:rPr lang="en-US" sz="2200" dirty="0" err="1"/>
                  <a:t>rataan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skor</a:t>
                </a:r>
                <a:r>
                  <a:rPr lang="en-US" sz="2200" dirty="0"/>
                  <a:t> </a:t>
                </a:r>
                <a:r>
                  <a:rPr lang="en-US" sz="2200" dirty="0" err="1" smtClean="0"/>
                  <a:t>diskriminan</a:t>
                </a:r>
                <a:r>
                  <a:rPr lang="en-US" sz="2200" dirty="0" smtClean="0"/>
                  <a:t> </a:t>
                </a:r>
                <a:r>
                  <a:rPr lang="en-US" sz="2200" dirty="0" err="1"/>
                  <a:t>untuk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/>
                      </a:rPr>
                      <m:t>𝑌</m:t>
                    </m:r>
                    <m:r>
                      <a:rPr lang="en-US" sz="2200" i="1">
                        <a:latin typeface="Cambria Math"/>
                      </a:rPr>
                      <m:t>=</m:t>
                    </m:r>
                    <m:r>
                      <a:rPr lang="en-US" sz="2200" b="0" i="1" smtClean="0">
                        <a:latin typeface="Cambria Math"/>
                      </a:rPr>
                      <m:t>𝐾</m:t>
                    </m:r>
                  </m:oMath>
                </a14:m>
                <a:endParaRPr lang="en-US" sz="2200" dirty="0"/>
              </a:p>
              <a:p>
                <a:pPr marL="400050" lvl="1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2200" b="0" i="1" smtClean="0">
                              <a:latin typeface="Cambria Math"/>
                            </a:rPr>
                            <m:t>𝐾</m:t>
                          </m:r>
                        </m:sub>
                      </m:sSub>
                      <m:r>
                        <a:rPr lang="en-US" sz="22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200" i="1">
                              <a:latin typeface="Cambria Math"/>
                            </a:rPr>
                            <m:t>𝑖</m:t>
                          </m:r>
                          <m:r>
                            <a:rPr lang="en-US" sz="22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2200" b="0" i="1" smtClean="0">
                                  <a:latin typeface="Cambria Math"/>
                                </a:rPr>
                                <m:t>𝐾</m:t>
                              </m:r>
                            </m:sub>
                          </m:sSub>
                        </m:e>
                      </m:nary>
                      <m:r>
                        <a:rPr lang="en-US" sz="2200" i="1">
                          <a:latin typeface="Cambria Math"/>
                        </a:rPr>
                        <m:t>=39.28</m:t>
                      </m:r>
                    </m:oMath>
                  </m:oMathPara>
                </a14:m>
                <a:endParaRPr lang="en-US" sz="2200" dirty="0"/>
              </a:p>
              <a:p>
                <a:pPr marL="400050" lvl="1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200" i="1" dirty="0" smtClean="0"/>
              </a:p>
              <a:p>
                <a:pPr marL="400050" lvl="1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d-ID" sz="2200" i="1" dirty="0" smtClean="0"/>
                  <a:t>Cutting </a:t>
                </a:r>
                <a:r>
                  <a:rPr lang="id-ID" sz="2200" i="1" dirty="0"/>
                  <a:t>score</a:t>
                </a:r>
                <a:r>
                  <a:rPr lang="id-ID" sz="2200" dirty="0"/>
                  <a:t> (</a:t>
                </a:r>
                <a14:m>
                  <m:oMath xmlns:m="http://schemas.openxmlformats.org/officeDocument/2006/math">
                    <m:r>
                      <a:rPr lang="id-ID" sz="2200" i="1">
                        <a:latin typeface="Cambria Math"/>
                      </a:rPr>
                      <m:t>𝑚</m:t>
                    </m:r>
                  </m:oMath>
                </a14:m>
                <a:r>
                  <a:rPr lang="id-ID" sz="2200" dirty="0"/>
                  <a:t>) dapat dihitung </a:t>
                </a:r>
                <a:r>
                  <a:rPr lang="id-ID" sz="2200" dirty="0" smtClean="0"/>
                  <a:t>sebagai </a:t>
                </a:r>
                <a:r>
                  <a:rPr lang="id-ID" sz="2200" dirty="0"/>
                  <a:t>berikut</a:t>
                </a:r>
                <a:r>
                  <a:rPr lang="id-ID" sz="2200" dirty="0" smtClean="0"/>
                  <a:t>:</a:t>
                </a:r>
                <a:endParaRPr lang="en-US" sz="2200" dirty="0" smtClean="0"/>
              </a:p>
              <a:p>
                <a:pPr marL="400050" lvl="1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200" dirty="0"/>
              </a:p>
              <a:p>
                <a:pPr marL="400050" lvl="1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/>
                        </a:rPr>
                        <m:t>𝑚</m:t>
                      </m:r>
                      <m:r>
                        <a:rPr lang="en-US" sz="22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latin typeface="Cambria Math"/>
                            </a:rPr>
                            <m:t>36 </m:t>
                          </m:r>
                          <m:r>
                            <a:rPr lang="en-US" sz="2200" b="0" i="1" smtClean="0">
                              <a:latin typeface="Cambria Math"/>
                              <a:ea typeface="Cambria Math"/>
                            </a:rPr>
                            <m:t>×(</m:t>
                          </m:r>
                          <m:r>
                            <a:rPr lang="en-US" sz="2200" i="1">
                              <a:latin typeface="Cambria Math"/>
                            </a:rPr>
                            <m:t>39.28</m:t>
                          </m:r>
                          <m:r>
                            <a:rPr lang="en-US" sz="2200" b="0" i="1" smtClean="0">
                              <a:latin typeface="Cambria Math"/>
                            </a:rPr>
                            <m:t>)</m:t>
                          </m:r>
                          <m:r>
                            <a:rPr lang="en-US" sz="2200" i="1">
                              <a:latin typeface="Cambria Math"/>
                            </a:rPr>
                            <m:t>+</m:t>
                          </m:r>
                          <m:r>
                            <a:rPr lang="en-US" sz="2200" b="0" i="1" smtClean="0">
                              <a:latin typeface="Cambria Math"/>
                            </a:rPr>
                            <m:t>40</m:t>
                          </m:r>
                          <m:r>
                            <a:rPr lang="en-US" sz="2200" b="0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en-US" sz="2200" i="1">
                              <a:latin typeface="Cambria Math"/>
                            </a:rPr>
                            <m:t>(48.38</m:t>
                          </m:r>
                          <m:r>
                            <a:rPr lang="en-US" sz="2200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/>
                            </a:rPr>
                            <m:t>36</m:t>
                          </m:r>
                          <m:r>
                            <a:rPr lang="en-US" sz="2200" i="1">
                              <a:latin typeface="Cambria Math"/>
                            </a:rPr>
                            <m:t>+</m:t>
                          </m:r>
                          <m:r>
                            <a:rPr lang="en-US" sz="2200" b="0" i="1" smtClean="0">
                              <a:latin typeface="Cambria Math"/>
                            </a:rPr>
                            <m:t>40</m:t>
                          </m:r>
                        </m:den>
                      </m:f>
                      <m:r>
                        <a:rPr lang="en-US" sz="2200" b="0" i="1" smtClean="0">
                          <a:latin typeface="Cambria Math"/>
                        </a:rPr>
                        <m:t>=</m:t>
                      </m:r>
                      <m:r>
                        <a:rPr lang="en-US" sz="2200" i="1">
                          <a:latin typeface="Cambria Math"/>
                        </a:rPr>
                        <m:t>44.07</m:t>
                      </m:r>
                    </m:oMath>
                  </m:oMathPara>
                </a14:m>
                <a:endParaRPr lang="en-US" sz="2200" dirty="0" smtClean="0"/>
              </a:p>
              <a:p>
                <a:pPr marL="400050" lvl="1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200" dirty="0"/>
              </a:p>
              <a:p>
                <a:pPr marL="400050" lvl="1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d-ID" sz="2200" dirty="0" smtClean="0"/>
                  <a:t>Suatu </a:t>
                </a:r>
                <a:r>
                  <a:rPr lang="en-US" sz="2200" dirty="0" err="1" smtClean="0"/>
                  <a:t>objek</a:t>
                </a:r>
                <a:r>
                  <a:rPr lang="id-ID" sz="2200" dirty="0" smtClean="0"/>
                  <a:t> akan </a:t>
                </a:r>
                <a:r>
                  <a:rPr lang="id-ID" sz="2200" dirty="0"/>
                  <a:t>diklasifikasikan sebagai anggota </a:t>
                </a:r>
                <a:r>
                  <a:rPr lang="en-US" sz="2200" dirty="0" err="1"/>
                  <a:t>kategori</a:t>
                </a:r>
                <a:r>
                  <a:rPr lang="en-US" sz="2200" dirty="0"/>
                  <a:t> </a:t>
                </a:r>
                <a:r>
                  <a:rPr lang="id-ID" sz="2200" dirty="0" smtClean="0"/>
                  <a:t>1</a:t>
                </a:r>
                <a:r>
                  <a:rPr lang="en-US" sz="2200" dirty="0" smtClean="0"/>
                  <a:t> (L)</a:t>
                </a:r>
                <a:r>
                  <a:rPr lang="id-ID" sz="2200" dirty="0" smtClean="0"/>
                  <a:t> </a:t>
                </a:r>
                <a:r>
                  <a:rPr lang="id-ID" sz="2200" dirty="0"/>
                  <a:t>jika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/>
                      </a:rPr>
                      <m:t>𝑧</m:t>
                    </m:r>
                    <m:r>
                      <a:rPr lang="en-US" sz="2200" i="1">
                        <a:latin typeface="Cambria Math"/>
                      </a:rPr>
                      <m:t>≥44.07</m:t>
                    </m:r>
                  </m:oMath>
                </a14:m>
                <a:r>
                  <a:rPr lang="id-ID" sz="2200" dirty="0"/>
                  <a:t>, selain itu </a:t>
                </a:r>
                <a:r>
                  <a:rPr lang="en-US" sz="2200" dirty="0" err="1"/>
                  <a:t>anggota</a:t>
                </a:r>
                <a:r>
                  <a:rPr lang="en-US" sz="2200" dirty="0"/>
                  <a:t> </a:t>
                </a:r>
                <a:r>
                  <a:rPr lang="en-US" sz="2200" dirty="0" err="1"/>
                  <a:t>kategori</a:t>
                </a:r>
                <a:r>
                  <a:rPr lang="en-US" sz="2200" dirty="0"/>
                  <a:t> </a:t>
                </a:r>
                <a:r>
                  <a:rPr lang="id-ID" sz="2200" dirty="0" smtClean="0"/>
                  <a:t>2</a:t>
                </a:r>
                <a:r>
                  <a:rPr lang="en-US" sz="2200" dirty="0" smtClean="0"/>
                  <a:t> (K)</a:t>
                </a:r>
                <a:r>
                  <a:rPr lang="id-ID" sz="2200" dirty="0" smtClean="0"/>
                  <a:t>.</a:t>
                </a:r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" y="1280160"/>
                <a:ext cx="9144000" cy="5562600"/>
              </a:xfrm>
              <a:blipFill rotWithShape="0">
                <a:blip r:embed="rId2"/>
                <a:stretch>
                  <a:fillRect l="-1067" t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9720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792162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ANALISIS DISKRIMINAN </a:t>
            </a:r>
            <a:r>
              <a:rPr lang="en-US" sz="2400" b="1" dirty="0"/>
              <a:t>(</a:t>
            </a:r>
            <a:r>
              <a:rPr lang="en-US" sz="2400" b="1" dirty="0" err="1"/>
              <a:t>contoh</a:t>
            </a:r>
            <a:r>
              <a:rPr lang="en-US" sz="2400" b="1" dirty="0"/>
              <a:t>)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143000"/>
                <a:ext cx="8839200" cy="5562600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id-ID" sz="2400" dirty="0" smtClean="0"/>
                  <a:t>7. Penghitungan </a:t>
                </a:r>
                <a:r>
                  <a:rPr lang="en-US" sz="2400" i="1" dirty="0"/>
                  <a:t>h</a:t>
                </a:r>
                <a:r>
                  <a:rPr lang="id-ID" sz="2400" i="1" dirty="0"/>
                  <a:t>it </a:t>
                </a:r>
                <a:r>
                  <a:rPr lang="en-US" sz="2400" i="1" dirty="0"/>
                  <a:t>r</a:t>
                </a:r>
                <a:r>
                  <a:rPr lang="id-ID" sz="2400" i="1" dirty="0"/>
                  <a:t>atio</a:t>
                </a:r>
                <a:r>
                  <a:rPr lang="id-ID" sz="2400" dirty="0" smtClean="0"/>
                  <a:t>:</a:t>
                </a:r>
                <a:endParaRPr lang="en-US" sz="2400" dirty="0" smtClean="0"/>
              </a:p>
              <a:p>
                <a:pPr marL="457200" lvl="0" indent="-457200">
                  <a:buFont typeface="+mj-lt"/>
                  <a:buAutoNum type="arabicPeriod" startAt="7"/>
                </a:pPr>
                <a:endParaRPr lang="en-US" sz="2400" dirty="0"/>
              </a:p>
              <a:p>
                <a:pPr marL="457200" lvl="0" indent="-457200">
                  <a:buFont typeface="+mj-lt"/>
                  <a:buAutoNum type="arabicPeriod" startAt="7"/>
                </a:pPr>
                <a:endParaRPr lang="en-US" sz="2400" dirty="0" smtClean="0"/>
              </a:p>
              <a:p>
                <a:pPr marL="457200" lvl="0" indent="-457200">
                  <a:buFont typeface="+mj-lt"/>
                  <a:buAutoNum type="arabicPeriod" startAt="7"/>
                </a:pPr>
                <a:endParaRPr lang="en-US" sz="2400" dirty="0"/>
              </a:p>
              <a:p>
                <a:pPr marL="457200" lvl="0" indent="-457200">
                  <a:buFont typeface="+mj-lt"/>
                  <a:buAutoNum type="arabicPeriod" startAt="7"/>
                </a:pPr>
                <a:endParaRPr lang="en-US" sz="2400" dirty="0" smtClean="0"/>
              </a:p>
              <a:p>
                <a:pPr marL="2795588" lvl="0" indent="0">
                  <a:buNone/>
                </a:pPr>
                <a:endParaRPr lang="en-US" sz="2400" dirty="0" smtClean="0"/>
              </a:p>
              <a:p>
                <a:pPr marL="2795588" lvl="0" indent="0">
                  <a:buNone/>
                </a:pPr>
                <a:endParaRPr lang="en-US" sz="2400" dirty="0"/>
              </a:p>
              <a:p>
                <a:pPr marL="458788" lv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h𝑖𝑡</m:t>
                      </m:r>
                      <m:r>
                        <a:rPr lang="en-US" sz="2400" b="0" i="1" smtClean="0">
                          <a:latin typeface="Cambria Math"/>
                        </a:rPr>
                        <m:t> </m:t>
                      </m:r>
                      <m:r>
                        <a:rPr lang="en-US" sz="2400" b="0" i="1" smtClean="0">
                          <a:latin typeface="Cambria Math"/>
                        </a:rPr>
                        <m:t>𝑟𝑎𝑡𝑖𝑜</m:t>
                      </m:r>
                      <m:r>
                        <a:rPr lang="en-US" sz="2400" b="0" i="1" smtClean="0">
                          <a:latin typeface="Cambria Math"/>
                        </a:rPr>
                        <m:t>=75:76 →</m:t>
                      </m:r>
                      <m:r>
                        <m:rPr>
                          <m:nor/>
                        </m:rP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98,68%</m:t>
                      </m:r>
                    </m:oMath>
                  </m:oMathPara>
                </a14:m>
                <a:endParaRPr lang="en-US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lvl="0" indent="0">
                  <a:buNone/>
                </a:pPr>
                <a:endParaRPr lang="en-US" sz="24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143000"/>
                <a:ext cx="8839200" cy="5562600"/>
              </a:xfrm>
              <a:blipFill rotWithShape="0">
                <a:blip r:embed="rId2"/>
                <a:stretch>
                  <a:fillRect l="-1034" t="-1645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027811"/>
              </p:ext>
            </p:extLst>
          </p:nvPr>
        </p:nvGraphicFramePr>
        <p:xfrm>
          <a:off x="762000" y="1752600"/>
          <a:ext cx="6694361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5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62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 err="1" smtClean="0"/>
                        <a:t>Observasi</a:t>
                      </a:r>
                      <a:endParaRPr lang="en-GB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 smtClean="0"/>
                        <a:t>B </a:t>
                      </a:r>
                      <a:r>
                        <a:rPr lang="en-GB" sz="2400" dirty="0" err="1" smtClean="0"/>
                        <a:t>atau</a:t>
                      </a:r>
                      <a:r>
                        <a:rPr lang="en-GB" sz="2400" dirty="0" smtClean="0"/>
                        <a:t> </a:t>
                      </a:r>
                      <a:r>
                        <a:rPr lang="en-GB" sz="2400" dirty="0" err="1" smtClean="0"/>
                        <a:t>lebih</a:t>
                      </a:r>
                      <a:endParaRPr lang="en-GB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 err="1" smtClean="0"/>
                        <a:t>kurang</a:t>
                      </a:r>
                      <a:r>
                        <a:rPr lang="en-GB" sz="2400" dirty="0" smtClean="0"/>
                        <a:t> </a:t>
                      </a:r>
                      <a:r>
                        <a:rPr lang="en-GB" sz="2400" dirty="0" err="1" smtClean="0"/>
                        <a:t>dari</a:t>
                      </a:r>
                      <a:r>
                        <a:rPr lang="en-GB" sz="2400" dirty="0" smtClean="0"/>
                        <a:t> B</a:t>
                      </a:r>
                      <a:endParaRPr lang="en-GB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 rowSpan="2">
                  <a:txBody>
                    <a:bodyPr/>
                    <a:lstStyle/>
                    <a:p>
                      <a:pPr algn="ctr"/>
                      <a:r>
                        <a:rPr lang="en-US" sz="2400" dirty="0" err="1" smtClean="0"/>
                        <a:t>Estimasi</a:t>
                      </a:r>
                      <a:endParaRPr lang="en-GB" sz="2400" dirty="0"/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 smtClean="0"/>
                        <a:t>B </a:t>
                      </a:r>
                      <a:r>
                        <a:rPr lang="en-GB" sz="2400" dirty="0" err="1" smtClean="0"/>
                        <a:t>atau</a:t>
                      </a:r>
                      <a:r>
                        <a:rPr lang="en-GB" sz="2400" dirty="0" smtClean="0"/>
                        <a:t> </a:t>
                      </a:r>
                      <a:r>
                        <a:rPr lang="en-GB" sz="2400" dirty="0" err="1" smtClean="0"/>
                        <a:t>lebih</a:t>
                      </a:r>
                      <a:endParaRPr lang="en-GB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36</a:t>
                      </a:r>
                      <a:endParaRPr lang="en-GB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1</a:t>
                      </a:r>
                      <a:endParaRPr lang="en-GB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 err="1" smtClean="0"/>
                        <a:t>kurang</a:t>
                      </a:r>
                      <a:r>
                        <a:rPr lang="en-GB" sz="2400" dirty="0" smtClean="0"/>
                        <a:t> </a:t>
                      </a:r>
                      <a:r>
                        <a:rPr lang="en-GB" sz="2400" dirty="0" err="1" smtClean="0"/>
                        <a:t>nilai</a:t>
                      </a:r>
                      <a:r>
                        <a:rPr lang="en-GB" sz="2400" dirty="0" smtClean="0"/>
                        <a:t> B</a:t>
                      </a:r>
                      <a:endParaRPr lang="en-GB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GB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39</a:t>
                      </a:r>
                      <a:endParaRPr lang="en-GB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6069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792162"/>
          </a:xfrm>
        </p:spPr>
        <p:txBody>
          <a:bodyPr>
            <a:normAutofit/>
          </a:bodyPr>
          <a:lstStyle/>
          <a:p>
            <a:r>
              <a:rPr lang="en-US" sz="3200" b="1" dirty="0" err="1"/>
              <a:t>koefisien</a:t>
            </a:r>
            <a:r>
              <a:rPr lang="en-US" sz="3200" b="1" dirty="0"/>
              <a:t> model </a:t>
            </a:r>
            <a:r>
              <a:rPr lang="en-US" sz="3200" b="1" dirty="0" err="1" smtClean="0"/>
              <a:t>diskriminan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143000"/>
                <a:ext cx="8839200" cy="5562600"/>
              </a:xfrm>
            </p:spPr>
            <p:txBody>
              <a:bodyPr>
                <a:normAutofit/>
              </a:bodyPr>
              <a:lstStyle/>
              <a:p>
                <a:pPr marL="457200" lvl="0" indent="-45720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+mj-lt"/>
                  <a:buAutoNum type="arabicPeriod" startAt="2"/>
                </a:pPr>
                <a:r>
                  <a:rPr lang="en-US" sz="2400" dirty="0" smtClean="0"/>
                  <a:t>Jika variabel </a:t>
                </a:r>
                <a:r>
                  <a:rPr lang="en-US" sz="2400" dirty="0" err="1"/>
                  <a:t>respon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𝑌</m:t>
                    </m:r>
                  </m:oMath>
                </a14:m>
                <a:r>
                  <a:rPr lang="en-US" sz="2400" dirty="0" smtClean="0"/>
                  <a:t>  </a:t>
                </a:r>
                <a:r>
                  <a:rPr lang="en-US" sz="2400" dirty="0" err="1" smtClean="0"/>
                  <a:t>berbentuk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kualitatif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kategori</a:t>
                </a:r>
                <a:r>
                  <a:rPr lang="en-US" sz="2400" dirty="0" smtClean="0"/>
                  <a:t>, </a:t>
                </a:r>
                <a:r>
                  <a:rPr lang="en-US" sz="2400" dirty="0" err="1" smtClean="0"/>
                  <a:t>maka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perhitungan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koefisien</a:t>
                </a:r>
                <a:r>
                  <a:rPr lang="en-US" sz="2400" dirty="0" smtClean="0"/>
                  <a:t> model </a:t>
                </a:r>
                <a:r>
                  <a:rPr lang="en-US" sz="2400" dirty="0" err="1" smtClean="0"/>
                  <a:t>diskriminan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berdasarkan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Manova</a:t>
                </a:r>
                <a:r>
                  <a:rPr lang="en-US" sz="2400" dirty="0" smtClean="0"/>
                  <a:t>:</a:t>
                </a:r>
              </a:p>
              <a:p>
                <a:pPr marL="0" lv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en-US" sz="2400" dirty="0" smtClean="0"/>
              </a:p>
              <a:p>
                <a:pPr marL="457200" lvl="0" indent="-457200">
                  <a:lnSpc>
                    <a:spcPct val="100000"/>
                  </a:lnSpc>
                  <a:spcBef>
                    <a:spcPts val="0"/>
                  </a:spcBef>
                  <a:buFont typeface="+mj-lt"/>
                  <a:buAutoNum type="arabicPeriod"/>
                </a:pPr>
                <a:endParaRPr lang="en-US" sz="2400" dirty="0" smtClean="0"/>
              </a:p>
              <a:p>
                <a:pPr marL="0" lv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2400" dirty="0" smtClean="0"/>
                  <a:t>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143000"/>
                <a:ext cx="8839200" cy="5562600"/>
              </a:xfrm>
              <a:blipFill rotWithShape="0">
                <a:blip r:embed="rId2"/>
                <a:stretch>
                  <a:fillRect l="-690" t="-9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Diagram 4"/>
              <p:cNvGraphicFramePr/>
              <p:nvPr>
                <p:extLst/>
              </p:nvPr>
            </p:nvGraphicFramePr>
            <p:xfrm>
              <a:off x="685800" y="2514600"/>
              <a:ext cx="8077200" cy="40640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5" name="Diagram 4"/>
              <p:cNvGraphicFramePr/>
              <p:nvPr>
                <p:extLst/>
              </p:nvPr>
            </p:nvGraphicFramePr>
            <p:xfrm>
              <a:off x="685800" y="2514600"/>
              <a:ext cx="8077200" cy="40640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82319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0" y="274638"/>
                <a:ext cx="8153400" cy="792162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sz="3200" b="1" dirty="0" smtClean="0"/>
                  <a:t>ANALISIS DISKRIMINAN </a:t>
                </a:r>
                <a:r>
                  <a:rPr lang="en-US" sz="3200" b="1" dirty="0" err="1"/>
                  <a:t>Variabel</a:t>
                </a:r>
                <a:r>
                  <a:rPr lang="en-US" sz="3200" b="1" dirty="0"/>
                  <a:t> </a:t>
                </a:r>
                <a:r>
                  <a:rPr lang="en-US" sz="3200" b="1" dirty="0" err="1" smtClean="0"/>
                  <a:t>respon</a:t>
                </a:r>
                <a:r>
                  <a:rPr lang="en-US" sz="3200" b="1" dirty="0" smtClean="0"/>
                  <a:t/>
                </a:r>
                <a:br>
                  <a:rPr lang="en-US" sz="3200" b="1" dirty="0" smtClean="0"/>
                </a:br>
                <a:r>
                  <a:rPr lang="en-US" sz="3200" b="1" dirty="0" smtClean="0"/>
                  <a:t> 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/>
                      </a:rPr>
                      <m:t>𝐾</m:t>
                    </m:r>
                  </m:oMath>
                </a14:m>
                <a:r>
                  <a:rPr lang="en-US" sz="3200" b="1" dirty="0"/>
                  <a:t> </a:t>
                </a:r>
                <a:r>
                  <a:rPr lang="en-US" sz="3200" b="1" dirty="0" err="1"/>
                  <a:t>kategori</a:t>
                </a:r>
                <a:r>
                  <a:rPr lang="en-US" sz="3200" b="1" dirty="0" smtClean="0"/>
                  <a:t> </a:t>
                </a:r>
                <a:r>
                  <a:rPr lang="en-US" sz="2400" b="1" dirty="0" smtClean="0"/>
                  <a:t>(</a:t>
                </a:r>
                <a:r>
                  <a:rPr lang="en-US" sz="2400" b="1" dirty="0"/>
                  <a:t>ALUR </a:t>
                </a:r>
                <a:r>
                  <a:rPr lang="en-US" sz="2400" b="1" dirty="0" smtClean="0"/>
                  <a:t>KERJA)</a:t>
                </a:r>
                <a:endParaRPr lang="en-US" sz="32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274638"/>
                <a:ext cx="8153400" cy="792162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Diagram 6"/>
              <p:cNvGraphicFramePr/>
              <p:nvPr>
                <p:extLst>
                  <p:ext uri="{D42A27DB-BD31-4B8C-83A1-F6EECF244321}">
                    <p14:modId xmlns:p14="http://schemas.microsoft.com/office/powerpoint/2010/main" val="2709540889"/>
                  </p:ext>
                </p:extLst>
              </p:nvPr>
            </p:nvGraphicFramePr>
            <p:xfrm>
              <a:off x="609600" y="1219200"/>
              <a:ext cx="8229600" cy="54102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4" r:lo="rId5" r:qs="rId6" r:cs="rId7"/>
              </a:graphicData>
            </a:graphic>
          </p:graphicFrame>
        </mc:Choice>
        <mc:Fallback xmlns="">
          <p:graphicFrame>
            <p:nvGraphicFramePr>
              <p:cNvPr id="7" name="Diagram 6"/>
              <p:cNvGraphicFramePr/>
              <p:nvPr>
                <p:extLst>
                  <p:ext uri="{D42A27DB-BD31-4B8C-83A1-F6EECF244321}">
                    <p14:modId xmlns:p14="http://schemas.microsoft.com/office/powerpoint/2010/main" val="2709540889"/>
                  </p:ext>
                </p:extLst>
              </p:nvPr>
            </p:nvGraphicFramePr>
            <p:xfrm>
              <a:off x="609600" y="1219200"/>
              <a:ext cx="8229600" cy="54102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9" r:lo="rId10" r:qs="rId11" r:cs="rId12"/>
              </a:graphicData>
            </a:graphic>
          </p:graphicFrame>
        </mc:Fallback>
      </mc:AlternateContent>
      <p:sp>
        <p:nvSpPr>
          <p:cNvPr id="8" name="Oval 7"/>
          <p:cNvSpPr/>
          <p:nvPr/>
        </p:nvSpPr>
        <p:spPr>
          <a:xfrm>
            <a:off x="411480" y="1747836"/>
            <a:ext cx="381000" cy="3476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b="1" dirty="0" smtClean="0">
                <a:solidFill>
                  <a:schemeClr val="tx1"/>
                </a:solidFill>
              </a:rPr>
              <a:t>1</a:t>
            </a:r>
            <a:endParaRPr lang="id-ID" b="1" dirty="0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2667000" y="1757360"/>
            <a:ext cx="381000" cy="3476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b="1" dirty="0" smtClean="0">
                <a:solidFill>
                  <a:schemeClr val="tx1"/>
                </a:solidFill>
              </a:rPr>
              <a:t>2</a:t>
            </a:r>
            <a:endParaRPr lang="id-ID" b="1" dirty="0"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4922520" y="175736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b="1" dirty="0" smtClean="0">
                <a:solidFill>
                  <a:schemeClr val="tx1"/>
                </a:solidFill>
              </a:rPr>
              <a:t>3</a:t>
            </a:r>
            <a:endParaRPr lang="id-ID" b="1" dirty="0">
              <a:solidFill>
                <a:schemeClr val="tx1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6987540" y="1750217"/>
            <a:ext cx="381000" cy="3452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b="1" dirty="0" smtClean="0">
                <a:solidFill>
                  <a:schemeClr val="tx1"/>
                </a:solidFill>
              </a:rPr>
              <a:t>4</a:t>
            </a:r>
            <a:endParaRPr lang="id-ID" b="1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7136130" y="3362325"/>
            <a:ext cx="407670" cy="3714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b="1" dirty="0" smtClean="0">
                <a:solidFill>
                  <a:schemeClr val="tx1"/>
                </a:solidFill>
              </a:rPr>
              <a:t>5</a:t>
            </a:r>
            <a:endParaRPr lang="id-ID" b="1" dirty="0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4800600" y="32766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b="1" dirty="0" smtClean="0">
                <a:solidFill>
                  <a:schemeClr val="tx1"/>
                </a:solidFill>
              </a:rPr>
              <a:t>6</a:t>
            </a:r>
            <a:endParaRPr lang="id-ID" b="1" dirty="0">
              <a:solidFill>
                <a:schemeClr val="tx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2695574" y="3309937"/>
            <a:ext cx="347663" cy="3905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b="1" dirty="0" smtClean="0">
                <a:solidFill>
                  <a:schemeClr val="tx1"/>
                </a:solidFill>
              </a:rPr>
              <a:t>7</a:t>
            </a:r>
            <a:endParaRPr lang="id-ID" b="1" dirty="0">
              <a:solidFill>
                <a:schemeClr val="tx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456246" y="3290887"/>
            <a:ext cx="347663" cy="3905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8</a:t>
            </a:r>
            <a:endParaRPr lang="id-ID" b="1" dirty="0">
              <a:solidFill>
                <a:schemeClr val="tx1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456246" y="4876801"/>
            <a:ext cx="347663" cy="3905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9</a:t>
            </a:r>
            <a:endParaRPr lang="id-ID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695574" y="4876801"/>
            <a:ext cx="504826" cy="390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10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353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828800" y="4343400"/>
            <a:ext cx="4800600" cy="1752600"/>
          </a:xfrm>
          <a:prstGeom prst="rect">
            <a:avLst/>
          </a:prstGeom>
          <a:solidFill>
            <a:srgbClr val="CC99FF"/>
          </a:solidFill>
          <a:ln>
            <a:solidFill>
              <a:srgbClr val="CC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371850" y="1981200"/>
            <a:ext cx="1809750" cy="1524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33337" y="533400"/>
                <a:ext cx="8610600" cy="792162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sz="3200" b="1" dirty="0" smtClean="0"/>
                  <a:t>ANALISIS DISKRIMINAN </a:t>
                </a:r>
                <a:r>
                  <a:rPr lang="en-US" sz="3200" b="1" dirty="0" err="1" smtClean="0"/>
                  <a:t>Variabel</a:t>
                </a:r>
                <a:r>
                  <a:rPr lang="en-US" sz="3200" b="1" dirty="0" smtClean="0"/>
                  <a:t> </a:t>
                </a:r>
                <a:r>
                  <a:rPr lang="en-US" sz="3200" b="1" dirty="0" err="1" smtClean="0"/>
                  <a:t>respon</a:t>
                </a:r>
                <a:r>
                  <a:rPr lang="en-US" sz="3200" b="1" dirty="0" smtClean="0"/>
                  <a:t> </a:t>
                </a:r>
                <a:r>
                  <a:rPr lang="en-US" sz="3200" b="0" i="1" dirty="0" smtClean="0">
                    <a:latin typeface="Cambria Math"/>
                  </a:rPr>
                  <a:t/>
                </a:r>
                <a:br>
                  <a:rPr lang="en-US" sz="3200" b="0" i="1" dirty="0" smtClean="0">
                    <a:latin typeface="Cambria Math"/>
                  </a:rPr>
                </a:br>
                <a14:m>
                  <m:oMath xmlns:m="http://schemas.openxmlformats.org/officeDocument/2006/math">
                    <m:r>
                      <a:rPr lang="en-US" sz="3200" b="0" i="1" dirty="0" smtClean="0">
                        <a:latin typeface="Cambria Math"/>
                      </a:rPr>
                      <m:t>𝐾</m:t>
                    </m:r>
                  </m:oMath>
                </a14:m>
                <a:r>
                  <a:rPr lang="en-US" sz="3200" b="1" dirty="0" smtClean="0"/>
                  <a:t> </a:t>
                </a:r>
                <a:r>
                  <a:rPr lang="en-US" sz="3200" b="1" dirty="0" err="1" smtClean="0"/>
                  <a:t>kategori</a:t>
                </a:r>
                <a:r>
                  <a:rPr lang="en-US" sz="3200" b="1" dirty="0" smtClean="0"/>
                  <a:t> </a:t>
                </a:r>
                <a:r>
                  <a:rPr lang="en-US" sz="2400" b="1" dirty="0" smtClean="0"/>
                  <a:t>(</a:t>
                </a:r>
                <a:r>
                  <a:rPr lang="en-US" sz="2400" b="1" dirty="0"/>
                  <a:t>ALUR </a:t>
                </a:r>
                <a:r>
                  <a:rPr lang="en-US" sz="2400" b="1" dirty="0" smtClean="0"/>
                  <a:t>KERJA)</a:t>
                </a:r>
                <a:endParaRPr lang="en-US" sz="32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3337" y="533400"/>
                <a:ext cx="8610600" cy="792162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2862" y="1447800"/>
                <a:ext cx="8839200" cy="5562600"/>
              </a:xfrm>
            </p:spPr>
            <p:txBody>
              <a:bodyPr>
                <a:normAutofit/>
              </a:bodyPr>
              <a:lstStyle/>
              <a:p>
                <a:pPr marL="400050" lvl="0" indent="-400050">
                  <a:buNone/>
                </a:pPr>
                <a:r>
                  <a:rPr lang="en-US" sz="2400" dirty="0" smtClean="0"/>
                  <a:t>1.  N</a:t>
                </a:r>
                <a:r>
                  <a:rPr lang="id-ID" sz="2400" dirty="0" smtClean="0"/>
                  <a:t>yatakan </a:t>
                </a:r>
                <a:r>
                  <a:rPr lang="id-ID" sz="2400" dirty="0"/>
                  <a:t>matriks data </a:t>
                </a:r>
                <a:r>
                  <a:rPr lang="en-US" sz="2400" dirty="0" err="1" smtClean="0"/>
                  <a:t>sebagai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𝑋</m:t>
                    </m:r>
                  </m:oMath>
                </a14:m>
                <a:r>
                  <a:rPr lang="en-US" sz="2400" dirty="0" smtClean="0"/>
                  <a:t> </a:t>
                </a:r>
                <a:r>
                  <a:rPr lang="en-US" sz="2400" dirty="0" err="1" smtClean="0"/>
                  <a:t>dengan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variabel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/>
                      </a:rPr>
                      <m:t>𝑌</m:t>
                    </m:r>
                  </m:oMath>
                </a14:m>
                <a:r>
                  <a:rPr lang="en-US" sz="2400" dirty="0" smtClean="0"/>
                  <a:t> </a:t>
                </a:r>
                <a:r>
                  <a:rPr lang="en-US" sz="2400" dirty="0" err="1" smtClean="0"/>
                  <a:t>terurut</a:t>
                </a:r>
                <a:r>
                  <a:rPr lang="en-US" sz="2400" dirty="0" smtClean="0"/>
                  <a:t>.</a:t>
                </a:r>
              </a:p>
              <a:p>
                <a:pPr marL="400050" lvl="1" indent="0"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/>
                        </a:rPr>
                        <m:t>𝐗</m:t>
                      </m:r>
                      <m:r>
                        <a:rPr lang="en-US" sz="24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>
                                        <a:latin typeface="Cambria Math"/>
                                      </a:rPr>
                                      <m:t>𝐗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>
                                        <a:latin typeface="Cambria Math"/>
                                      </a:rPr>
                                      <m:t>𝐗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400" i="1" smtClean="0">
                                    <a:latin typeface="Cambria Math"/>
                                    <a:ea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>
                                        <a:latin typeface="Cambria Math"/>
                                      </a:rPr>
                                      <m:t>𝐗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/>
                                      </a:rPr>
                                      <m:t>𝐾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400050" lvl="1" indent="0"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/>
                          </a:rPr>
                          <m:t>𝐗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id-ID" sz="2400" dirty="0"/>
                  <a:t>menyatakan matriks data pada kelompok ke-</a:t>
                </a:r>
                <a14:m>
                  <m:oMath xmlns:m="http://schemas.openxmlformats.org/officeDocument/2006/math">
                    <m:r>
                      <a:rPr lang="id-ID" sz="2400" i="1">
                        <a:latin typeface="Cambria Math"/>
                      </a:rPr>
                      <m:t>𝑘</m:t>
                    </m:r>
                  </m:oMath>
                </a14:m>
                <a:r>
                  <a:rPr lang="en-US" sz="2400" dirty="0" smtClean="0"/>
                  <a:t>, </a:t>
                </a:r>
                <a:endParaRPr lang="en-US" sz="2400" b="0" i="1" dirty="0" smtClean="0">
                  <a:latin typeface="Cambria Math"/>
                </a:endParaRPr>
              </a:p>
              <a:p>
                <a:pPr marL="400050" lvl="1" indent="0"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𝑘</m:t>
                    </m:r>
                    <m:r>
                      <a:rPr lang="en-US" sz="2400" b="0" i="1" smtClean="0">
                        <a:latin typeface="Cambria Math"/>
                      </a:rPr>
                      <m:t>=1,2,⋯,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𝐾</m:t>
                    </m:r>
                  </m:oMath>
                </a14:m>
                <a:r>
                  <a:rPr lang="id-ID" sz="2400" dirty="0" smtClean="0"/>
                  <a:t>.</a:t>
                </a:r>
                <a:endParaRPr lang="en-US" sz="2400" dirty="0"/>
              </a:p>
              <a:p>
                <a:pPr marL="400050" lvl="1" indent="0">
                  <a:spcBef>
                    <a:spcPts val="600"/>
                  </a:spcBef>
                  <a:buNone/>
                </a:pPr>
                <a:endParaRPr lang="en-US" i="1" dirty="0" smtClean="0">
                  <a:latin typeface="Cambria Math"/>
                </a:endParaRPr>
              </a:p>
              <a:p>
                <a:pPr marL="400050" lvl="1" indent="0"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/>
                            </a:rPr>
                            <m:t>𝐗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11</m:t>
                                    </m:r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12</m:t>
                                    </m:r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1</m:t>
                                    </m:r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𝑝𝑘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21</m:t>
                                    </m:r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22</m:t>
                                    </m:r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2</m:t>
                                    </m:r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𝑝𝑘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1</m:t>
                                    </m:r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2</m:t>
                                    </m:r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𝑝𝑘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 smtClean="0"/>
              </a:p>
              <a:p>
                <a:pPr marL="400050" lvl="1" indent="0">
                  <a:spcBef>
                    <a:spcPts val="600"/>
                  </a:spcBef>
                  <a:buNone/>
                </a:pPr>
                <a:endParaRPr lang="en-US" sz="1100" dirty="0"/>
              </a:p>
              <a:p>
                <a:pPr marL="400050" lvl="1" indent="0"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𝑖𝑗𝑘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id-ID" sz="2000" dirty="0"/>
                  <a:t>menyatakan </a:t>
                </a:r>
                <a:r>
                  <a:rPr lang="en-US" sz="2000" dirty="0" err="1" smtClean="0"/>
                  <a:t>objek</a:t>
                </a:r>
                <a:r>
                  <a:rPr lang="id-ID" sz="2000" dirty="0" smtClean="0"/>
                  <a:t> </a:t>
                </a:r>
                <a:r>
                  <a:rPr lang="id-ID" sz="2000" dirty="0"/>
                  <a:t>ke-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/>
                      </a:rPr>
                      <m:t>𝑖</m:t>
                    </m:r>
                  </m:oMath>
                </a14:m>
                <a:r>
                  <a:rPr lang="id-ID" sz="2000" dirty="0"/>
                  <a:t> variabel ke-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/>
                      </a:rPr>
                      <m:t>𝑗</m:t>
                    </m:r>
                  </m:oMath>
                </a14:m>
                <a:r>
                  <a:rPr lang="id-ID" sz="2000" dirty="0"/>
                  <a:t> pada kelompok ke-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/>
                      </a:rPr>
                      <m:t>𝑘</m:t>
                    </m:r>
                  </m:oMath>
                </a14:m>
                <a:r>
                  <a:rPr lang="id-ID" sz="2000" dirty="0" smtClean="0"/>
                  <a:t>.</a:t>
                </a:r>
                <a:endParaRPr lang="en-US" sz="20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862" y="1447800"/>
                <a:ext cx="8839200" cy="5562600"/>
              </a:xfrm>
              <a:blipFill rotWithShape="0">
                <a:blip r:embed="rId3"/>
                <a:stretch>
                  <a:fillRect l="-1034" t="-16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0535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2362200"/>
            <a:ext cx="5029200" cy="9144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228600" y="274638"/>
                <a:ext cx="8610600" cy="792162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sz="3200" b="1" dirty="0" smtClean="0"/>
                  <a:t>ANALISIS DISKRIMINAN </a:t>
                </a:r>
                <a:r>
                  <a:rPr lang="en-US" sz="3200" b="1" dirty="0" err="1" smtClean="0"/>
                  <a:t>Variabel</a:t>
                </a:r>
                <a:r>
                  <a:rPr lang="en-US" sz="3200" b="1" dirty="0" smtClean="0"/>
                  <a:t> </a:t>
                </a:r>
                <a:r>
                  <a:rPr lang="en-US" sz="3200" b="1" dirty="0" err="1" smtClean="0"/>
                  <a:t>respon</a:t>
                </a:r>
                <a:r>
                  <a:rPr lang="en-US" sz="3200" b="1" dirty="0" smtClean="0"/>
                  <a:t> </a:t>
                </a:r>
                <a14:m>
                  <m:oMath xmlns:m="http://schemas.openxmlformats.org/officeDocument/2006/math">
                    <m:r>
                      <a:rPr lang="en-US" sz="3200" b="0" i="1" dirty="0" smtClean="0">
                        <a:latin typeface="Cambria Math"/>
                      </a:rPr>
                      <m:t>𝐾</m:t>
                    </m:r>
                  </m:oMath>
                </a14:m>
                <a:r>
                  <a:rPr lang="en-US" sz="3200" b="1" dirty="0" smtClean="0"/>
                  <a:t> </a:t>
                </a:r>
                <a:r>
                  <a:rPr lang="en-US" sz="3200" b="1" dirty="0" err="1" smtClean="0"/>
                  <a:t>kategori</a:t>
                </a:r>
                <a:r>
                  <a:rPr lang="en-US" sz="3200" b="1" dirty="0" smtClean="0"/>
                  <a:t> </a:t>
                </a:r>
                <a:r>
                  <a:rPr lang="en-US" sz="2400" b="1" dirty="0" smtClean="0"/>
                  <a:t>(</a:t>
                </a:r>
                <a:r>
                  <a:rPr lang="en-US" sz="2400" b="1" dirty="0"/>
                  <a:t>ALUR </a:t>
                </a:r>
                <a:r>
                  <a:rPr lang="en-US" sz="2400" b="1" dirty="0" smtClean="0"/>
                  <a:t>KERJA)</a:t>
                </a:r>
                <a:endParaRPr lang="en-US" sz="32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28600" y="274638"/>
                <a:ext cx="8610600" cy="792162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1447800"/>
                <a:ext cx="8991600" cy="5029200"/>
              </a:xfrm>
            </p:spPr>
            <p:txBody>
              <a:bodyPr>
                <a:normAutofit/>
              </a:bodyPr>
              <a:lstStyle/>
              <a:p>
                <a:pPr marL="0" lvl="0" indent="0">
                  <a:lnSpc>
                    <a:spcPct val="100000"/>
                  </a:lnSpc>
                  <a:buNone/>
                </a:pPr>
                <a:r>
                  <a:rPr lang="en-US" sz="2400" dirty="0" smtClean="0"/>
                  <a:t>2. </a:t>
                </a:r>
                <a:r>
                  <a:rPr lang="en-US" sz="2400" dirty="0" err="1" smtClean="0"/>
                  <a:t>Hitung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Mariks</a:t>
                </a:r>
                <a:r>
                  <a:rPr lang="en-US" sz="2400" dirty="0" smtClean="0"/>
                  <a:t> </a:t>
                </a:r>
                <a:r>
                  <a:rPr lang="en-GB" sz="2400" i="1" dirty="0" smtClean="0"/>
                  <a:t>between</a:t>
                </a:r>
                <a:r>
                  <a:rPr lang="en-GB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/>
                      </a:rPr>
                      <m:t>𝐇</m:t>
                    </m:r>
                  </m:oMath>
                </a14:m>
                <a:r>
                  <a:rPr lang="en-US" sz="2400" dirty="0" smtClean="0"/>
                  <a:t>.</a:t>
                </a:r>
              </a:p>
              <a:p>
                <a:pPr marL="0" lvl="0" indent="0">
                  <a:lnSpc>
                    <a:spcPct val="100000"/>
                  </a:lnSpc>
                  <a:buNone/>
                </a:pPr>
                <a:endParaRPr lang="en-US" sz="2400" dirty="0" smtClean="0"/>
              </a:p>
              <a:p>
                <a:pPr marL="1833563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/>
                        </a:rPr>
                        <m:t>𝐇</m:t>
                      </m:r>
                      <m:r>
                        <a:rPr lang="en-US" sz="24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400" b="0" i="1" smtClean="0">
                              <a:latin typeface="Cambria Math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4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b="0" i="1" smtClean="0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acc>
                                </m:e>
                                <m:sub>
                                  <m:r>
                                    <a:rPr lang="en-US" sz="2400" b="0" i="1">
                                      <a:latin typeface="Cambria Math"/>
                                    </a:rPr>
                                    <m:t>..</m:t>
                                  </m:r>
                                  <m:r>
                                    <a:rPr lang="en-US" sz="2400" i="1"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i="1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acc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…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400" i="1">
                                                  <a:latin typeface="Cambria Math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..</m:t>
                                      </m:r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400" i="1">
                                                  <a:latin typeface="Cambria Math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…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b="0" i="1" dirty="0" smtClean="0">
                  <a:latin typeface="Cambria Math" panose="02040503050406030204" pitchFamily="18" charset="0"/>
                </a:endParaRPr>
              </a:p>
              <a:p>
                <a:pPr marL="1833563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endParaRPr lang="en-US" sz="2400" b="0" i="1" dirty="0" smtClean="0">
                  <a:latin typeface="Cambria Math" panose="02040503050406030204" pitchFamily="18" charset="0"/>
                </a:endParaRPr>
              </a:p>
              <a:p>
                <a:pPr marL="1833563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>
                          <a:latin typeface="Cambria Math"/>
                        </a:rPr>
                        <m:t>𝐇</m:t>
                      </m:r>
                      <m:r>
                        <a:rPr lang="en-US" sz="2400" b="1" i="1">
                          <a:latin typeface="Cambria Math"/>
                        </a:rPr>
                        <m:t> </m:t>
                      </m:r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400" i="1">
                              <a:latin typeface="Cambria Math"/>
                            </a:rPr>
                            <m:t>𝑘</m:t>
                          </m:r>
                          <m:r>
                            <a:rPr lang="en-US" sz="24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/>
                            </a:rPr>
                            <m:t>𝐾</m:t>
                          </m:r>
                        </m:sup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1" i="1">
                                  <a:latin typeface="Cambria Math"/>
                                </a:rPr>
                                <m:t>..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1" i="1">
                                  <a:latin typeface="Cambria Math"/>
                                </a:rPr>
                                <m:t>..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/>
                                </a:rPr>
                                <m:t>𝑡</m:t>
                              </m:r>
                            </m:sup>
                          </m:sSubSup>
                        </m:e>
                      </m:nary>
                      <m:r>
                        <a:rPr lang="en-US" sz="2400" b="0" i="1" smtClean="0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2400" b="0" i="1" smtClean="0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b="1" i="1">
                              <a:latin typeface="Cambria Math"/>
                            </a:rPr>
                            <m:t>…</m:t>
                          </m:r>
                        </m:sub>
                      </m:sSub>
                      <m:sSubSup>
                        <m:sSubSup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b="1" i="1">
                              <a:latin typeface="Cambria Math"/>
                            </a:rPr>
                            <m:t>…</m:t>
                          </m:r>
                        </m:sub>
                        <m:sup>
                          <m:r>
                            <a:rPr lang="en-US" sz="2400" i="1">
                              <a:latin typeface="Cambria Math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  <a:p>
                <a:pPr marL="400050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en-US" sz="2400" dirty="0" err="1" smtClean="0"/>
                  <a:t>dengan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2400" b="1" i="1">
                            <a:latin typeface="Cambria Math"/>
                          </a:rPr>
                          <m:t>..</m:t>
                        </m:r>
                        <m:r>
                          <a:rPr lang="en-US" sz="2400" i="1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sz="2400" b="1" i="1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400" b="0" i="1" smtClean="0">
                            <a:latin typeface="Cambria Math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US" sz="2400" b="0" i="1">
                                <a:latin typeface="Cambria Math"/>
                              </a:rPr>
                              <m:t>.</m:t>
                            </m:r>
                            <m:r>
                              <a:rPr lang="en-US" sz="2400" b="0" i="1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 sz="2400" b="0" i="1" smtClean="0">
                        <a:latin typeface="Cambria Math"/>
                      </a:rPr>
                      <m:t>,</m:t>
                    </m:r>
                    <m:r>
                      <a:rPr lang="en-US" sz="2400" b="1" i="1" smtClean="0">
                        <a:latin typeface="Cambria Math"/>
                      </a:rPr>
                      <m:t>  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2400" b="1" i="1">
                            <a:latin typeface="Cambria Math"/>
                          </a:rPr>
                          <m:t>…</m:t>
                        </m:r>
                      </m:sub>
                    </m:sSub>
                    <m:r>
                      <a:rPr lang="en-US" sz="2400" b="1" i="1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400" b="0" i="1" smtClean="0">
                            <a:latin typeface="Cambria Math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/>
                          </a:rPr>
                          <m:t>𝐾</m:t>
                        </m:r>
                      </m:sup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sz="2400" i="1">
                                <a:latin typeface="Cambria Math"/>
                              </a:rPr>
                              <m:t>𝑖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/>
                                  </a:rPr>
                                  <m:t>𝑘</m:t>
                                </m:r>
                              </m:sub>
                            </m:sSub>
                          </m:sup>
                          <m:e>
                            <m:sSub>
                              <m:sSub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400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sz="2400" i="1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lang="en-US" sz="2400" i="1">
                                    <a:latin typeface="Cambria Math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r>
                  <a:rPr lang="en-US" sz="2400" dirty="0" smtClean="0"/>
                  <a:t> dan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𝑖</m:t>
                        </m:r>
                        <m:r>
                          <a:rPr lang="en-US" sz="2400" i="1">
                            <a:latin typeface="Cambria Math"/>
                          </a:rPr>
                          <m:t>.</m:t>
                        </m:r>
                        <m:r>
                          <a:rPr lang="en-US" sz="2400" i="1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4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2400" i="1"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/>
                                    </a:rPr>
                                    <m:t>1</m:t>
                                  </m:r>
                                  <m:r>
                                    <a:rPr lang="en-US" sz="2400" i="1"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4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2400" i="1"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/>
                                    </a:rPr>
                                    <m:t>2</m:t>
                                  </m:r>
                                  <m:r>
                                    <a:rPr lang="en-US" sz="2400" i="1"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/>
                                  <a:ea typeface="Cambria Math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4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2400" i="1"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/>
                                    </a:rPr>
                                    <m:t>𝑝𝑘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4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447800"/>
                <a:ext cx="8991600" cy="5029200"/>
              </a:xfrm>
              <a:blipFill rotWithShape="0">
                <a:blip r:embed="rId3"/>
                <a:stretch>
                  <a:fillRect l="-1017" t="-1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6610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828800" y="1981200"/>
            <a:ext cx="5562600" cy="99060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52387" y="350838"/>
                <a:ext cx="8610600" cy="792162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sz="3200" b="1" dirty="0" smtClean="0"/>
                  <a:t>ANALISIS DISKRIMINAN </a:t>
                </a:r>
                <a:r>
                  <a:rPr lang="en-US" sz="3200" b="1" dirty="0" err="1" smtClean="0"/>
                  <a:t>Variabel</a:t>
                </a:r>
                <a:r>
                  <a:rPr lang="en-US" sz="3200" b="1" dirty="0" smtClean="0"/>
                  <a:t> </a:t>
                </a:r>
                <a:r>
                  <a:rPr lang="en-US" sz="3200" b="1" dirty="0" err="1" smtClean="0"/>
                  <a:t>respon</a:t>
                </a:r>
                <a:r>
                  <a:rPr lang="en-US" sz="3200" b="1" dirty="0" smtClean="0"/>
                  <a:t> </a:t>
                </a:r>
                <a:r>
                  <a:rPr lang="en-US" sz="3200" b="1" dirty="0">
                    <a:latin typeface="Cambria Math" panose="02040503050406030204" pitchFamily="18" charset="0"/>
                  </a:rPr>
                  <a:t/>
                </a:r>
                <a:br>
                  <a:rPr lang="en-US" sz="3200" b="1" dirty="0">
                    <a:latin typeface="Cambria Math" panose="02040503050406030204" pitchFamily="18" charset="0"/>
                  </a:rPr>
                </a:br>
                <a:r>
                  <a:rPr lang="en-US" sz="3200" b="1" dirty="0" smtClean="0"/>
                  <a:t> </a:t>
                </a:r>
                <a:r>
                  <a:rPr lang="en-US" sz="3200" b="1" dirty="0" err="1" smtClean="0"/>
                  <a:t>kategori</a:t>
                </a:r>
                <a:r>
                  <a:rPr lang="en-US" sz="3200" b="1" dirty="0" smtClean="0"/>
                  <a:t> </a:t>
                </a:r>
                <a:r>
                  <a:rPr lang="en-US" sz="2400" b="1" dirty="0" smtClean="0"/>
                  <a:t>(</a:t>
                </a:r>
                <a:r>
                  <a:rPr lang="en-US" sz="2400" b="1" dirty="0"/>
                  <a:t>ALUR </a:t>
                </a:r>
                <a:r>
                  <a:rPr lang="en-US" sz="2400" b="1" dirty="0" smtClean="0"/>
                  <a:t>KERJA)</a:t>
                </a:r>
                <a:endParaRPr lang="en-US" sz="32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2387" y="350838"/>
                <a:ext cx="8610600" cy="792162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" y="1143000"/>
                <a:ext cx="8991600" cy="5562600"/>
              </a:xfrm>
            </p:spPr>
            <p:txBody>
              <a:bodyPr>
                <a:normAutofit/>
              </a:bodyPr>
              <a:lstStyle/>
              <a:p>
                <a:pPr marL="0" lvl="0" indent="0">
                  <a:lnSpc>
                    <a:spcPct val="100000"/>
                  </a:lnSpc>
                  <a:buNone/>
                </a:pPr>
                <a:r>
                  <a:rPr lang="en-US" sz="2400" dirty="0" smtClean="0"/>
                  <a:t>3. </a:t>
                </a:r>
                <a:r>
                  <a:rPr lang="en-US" sz="2400" dirty="0" err="1" smtClean="0"/>
                  <a:t>Hitung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mariks</a:t>
                </a:r>
                <a:r>
                  <a:rPr lang="en-US" sz="2400" dirty="0" smtClean="0"/>
                  <a:t> </a:t>
                </a:r>
                <a:r>
                  <a:rPr lang="en-GB" sz="2400" i="1" dirty="0" smtClean="0"/>
                  <a:t>within</a:t>
                </a:r>
                <a:r>
                  <a:rPr lang="en-GB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/>
                      </a:rPr>
                      <m:t>𝐄</m:t>
                    </m:r>
                  </m:oMath>
                </a14:m>
                <a:r>
                  <a:rPr lang="en-US" sz="2400" dirty="0" smtClean="0"/>
                  <a:t>.</a:t>
                </a:r>
              </a:p>
              <a:p>
                <a:pPr marL="0" lvl="0" indent="0">
                  <a:lnSpc>
                    <a:spcPct val="100000"/>
                  </a:lnSpc>
                  <a:buNone/>
                </a:pPr>
                <a:endParaRPr lang="en-US" sz="2400" dirty="0" smtClean="0"/>
              </a:p>
              <a:p>
                <a:pPr marL="1833563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/>
                        </a:rPr>
                        <m:t>𝐄</m:t>
                      </m:r>
                      <m:r>
                        <a:rPr lang="en-US" sz="24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400" b="0" i="1" smtClean="0">
                              <a:latin typeface="Cambria Math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/>
                            </a:rPr>
                            <m:t>𝐾</m:t>
                          </m:r>
                        </m:sup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b="0" i="1" smtClean="0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/>
                                        </a:rPr>
                                        <m:t>𝑖</m:t>
                                      </m:r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.</m:t>
                                      </m:r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400" i="1">
                                                  <a:latin typeface="Cambria Math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..</m:t>
                                      </m:r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400" i="1">
                                                  <a:latin typeface="Cambria Math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2400" i="1">
                                              <a:latin typeface="Cambria Math"/>
                                            </a:rPr>
                                            <m:t>.</m:t>
                                          </m:r>
                                          <m:r>
                                            <a:rPr lang="en-US" sz="2400" i="1">
                                              <a:latin typeface="Cambria Math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400" i="1">
                                                      <a:latin typeface="Cambria Math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acc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/>
                                            </a:rPr>
                                            <m:t>..</m:t>
                                          </m:r>
                                          <m:r>
                                            <a:rPr lang="en-US" sz="2400" i="1">
                                              <a:latin typeface="Cambria Math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400" i="1">
                                      <a:latin typeface="Cambria Math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sz="2400" i="1" dirty="0" smtClean="0">
                  <a:latin typeface="Cambria Math"/>
                </a:endParaRPr>
              </a:p>
              <a:p>
                <a:pPr marL="1833563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endParaRPr lang="en-US" sz="2400" i="1" dirty="0" smtClean="0">
                  <a:latin typeface="Cambria Math"/>
                </a:endParaRPr>
              </a:p>
              <a:p>
                <a:pPr marL="1771650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𝐄</m:t>
                      </m:r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400" i="1">
                              <a:latin typeface="Cambria Math"/>
                            </a:rPr>
                            <m:t>𝑘</m:t>
                          </m:r>
                          <m:r>
                            <a:rPr lang="en-US" sz="24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/>
                            </a:rPr>
                            <m:t>𝐾</m:t>
                          </m:r>
                        </m:sup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  <m:e>
                              <m:sSub>
                                <m:sSub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en-US" sz="2400" b="0" i="1">
                                      <a:latin typeface="Cambria Math"/>
                                    </a:rPr>
                                    <m:t>.</m:t>
                                  </m:r>
                                  <m:r>
                                    <a:rPr lang="en-US" sz="2400" i="1"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en-US" sz="2400" b="0" i="1">
                                      <a:latin typeface="Cambria Math"/>
                                    </a:rPr>
                                    <m:t>.</m:t>
                                  </m:r>
                                  <m:r>
                                    <a:rPr lang="en-US" sz="2400" i="1"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/>
                                    </a:rPr>
                                    <m:t>𝑡</m:t>
                                  </m:r>
                                </m:sup>
                              </m:sSubSup>
                            </m:e>
                          </m:nary>
                        </m:e>
                      </m:nary>
                      <m:r>
                        <a:rPr lang="en-US" sz="2400" b="0" i="1" smtClean="0">
                          <a:latin typeface="Cambria Math"/>
                        </a:rPr>
                        <m:t>−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400" i="1">
                              <a:latin typeface="Cambria Math"/>
                            </a:rPr>
                            <m:t>𝑘</m:t>
                          </m:r>
                          <m:r>
                            <a:rPr lang="en-US" sz="24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/>
                            </a:rPr>
                            <m:t>𝐾</m:t>
                          </m:r>
                        </m:sup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1" i="1">
                                  <a:latin typeface="Cambria Math"/>
                                </a:rPr>
                                <m:t>..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1" i="1">
                                  <a:latin typeface="Cambria Math"/>
                                </a:rPr>
                                <m:t>..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/>
                                </a:rPr>
                                <m:t>𝑡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marL="400050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en-US" sz="2400" dirty="0" err="1" smtClean="0"/>
                  <a:t>dengan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2400" b="1" i="1">
                            <a:latin typeface="Cambria Math"/>
                          </a:rPr>
                          <m:t>..</m:t>
                        </m:r>
                        <m:r>
                          <a:rPr lang="en-US" sz="2400" i="1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sz="2400" b="1" i="1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400" b="0" i="1" smtClean="0">
                            <a:latin typeface="Cambria Math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US" sz="2400" b="0" i="1">
                                <a:latin typeface="Cambria Math"/>
                              </a:rPr>
                              <m:t>.</m:t>
                            </m:r>
                            <m:r>
                              <a:rPr lang="en-US" sz="2400" b="0" i="1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400" dirty="0" smtClean="0"/>
                  <a:t> dan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𝑖</m:t>
                        </m:r>
                        <m:r>
                          <a:rPr lang="en-US" sz="2400" i="1">
                            <a:latin typeface="Cambria Math"/>
                          </a:rPr>
                          <m:t>.</m:t>
                        </m:r>
                        <m:r>
                          <a:rPr lang="en-US" sz="2400" i="1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4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2400" i="1"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/>
                                    </a:rPr>
                                    <m:t>1</m:t>
                                  </m:r>
                                  <m:r>
                                    <a:rPr lang="en-US" sz="2400" i="1"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4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2400" i="1"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/>
                                    </a:rPr>
                                    <m:t>2</m:t>
                                  </m:r>
                                  <m:r>
                                    <a:rPr lang="en-US" sz="2400" i="1"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/>
                                  <a:ea typeface="Cambria Math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4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2400" i="1"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/>
                                    </a:rPr>
                                    <m:t>𝑝𝑘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400" dirty="0" smtClean="0"/>
              </a:p>
              <a:p>
                <a:pPr marL="0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en-US" sz="2400" dirty="0" smtClean="0"/>
                  <a:t>4.  </a:t>
                </a:r>
                <a:r>
                  <a:rPr lang="en-US" sz="2400" dirty="0" err="1" smtClean="0"/>
                  <a:t>Hitung</a:t>
                </a:r>
                <a:r>
                  <a:rPr lang="en-US" sz="2400" dirty="0" smtClean="0"/>
                  <a:t> invers </a:t>
                </a:r>
                <a:r>
                  <a:rPr lang="en-US" sz="2400" dirty="0" err="1" smtClean="0"/>
                  <a:t>mariks</a:t>
                </a:r>
                <a:r>
                  <a:rPr lang="en-US" sz="2400" dirty="0" smtClean="0"/>
                  <a:t> </a:t>
                </a:r>
                <a:r>
                  <a:rPr lang="en-GB" sz="2400" i="1" dirty="0"/>
                  <a:t>within</a:t>
                </a:r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>
                            <a:latin typeface="Cambria Math"/>
                          </a:rPr>
                          <m:t>𝐄</m:t>
                        </m:r>
                      </m:e>
                      <m:sup>
                        <m:r>
                          <a:rPr lang="en-US" sz="2400" b="0" i="0" smtClean="0"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dirty="0"/>
                  <a:t>.</a:t>
                </a:r>
                <a:endParaRPr lang="en-US" sz="2400" dirty="0" smtClean="0"/>
              </a:p>
              <a:p>
                <a:pPr marL="0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en-US" sz="2400" dirty="0" smtClean="0"/>
                  <a:t>5.  </a:t>
                </a:r>
                <a:r>
                  <a:rPr lang="en-US" sz="2400" dirty="0" err="1" smtClean="0"/>
                  <a:t>Hitung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mariks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>
                            <a:latin typeface="Cambria Math"/>
                          </a:rPr>
                          <m:t>𝐄</m:t>
                        </m:r>
                      </m:e>
                      <m:sup>
                        <m:r>
                          <a:rPr lang="en-US" sz="2400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sz="2400" b="1" i="0" smtClean="0">
                        <a:latin typeface="Cambria Math"/>
                      </a:rPr>
                      <m:t>𝐇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400050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endParaRPr lang="en-US" sz="24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1143000"/>
                <a:ext cx="8991600" cy="5562600"/>
              </a:xfrm>
              <a:blipFill rotWithShape="0">
                <a:blip r:embed="rId3"/>
                <a:stretch>
                  <a:fillRect l="-1085" t="-9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9147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581400" y="5410200"/>
            <a:ext cx="1447800" cy="6858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904999" y="2286000"/>
            <a:ext cx="2624137" cy="5334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223837" y="609600"/>
                <a:ext cx="8610600" cy="792162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sz="3200" b="1" dirty="0" smtClean="0"/>
                  <a:t>ANALISIS DISKRIMINAN </a:t>
                </a:r>
                <a:r>
                  <a:rPr lang="en-US" sz="3200" b="1" dirty="0" err="1" smtClean="0"/>
                  <a:t>Variabel</a:t>
                </a:r>
                <a:r>
                  <a:rPr lang="en-US" sz="3200" b="1" dirty="0" smtClean="0"/>
                  <a:t> </a:t>
                </a:r>
                <a:r>
                  <a:rPr lang="en-US" sz="3200" b="1" dirty="0" err="1" smtClean="0"/>
                  <a:t>respon</a:t>
                </a:r>
                <a:r>
                  <a:rPr lang="en-US" sz="3200" b="1" dirty="0" smtClean="0"/>
                  <a:t/>
                </a:r>
                <a:br>
                  <a:rPr lang="en-US" sz="3200" b="1" dirty="0" smtClean="0"/>
                </a:br>
                <a14:m>
                  <m:oMath xmlns:m="http://schemas.openxmlformats.org/officeDocument/2006/math">
                    <m:r>
                      <a:rPr lang="en-US" sz="3200" b="0" i="1" dirty="0" smtClean="0">
                        <a:latin typeface="Cambria Math"/>
                      </a:rPr>
                      <m:t>𝐾</m:t>
                    </m:r>
                  </m:oMath>
                </a14:m>
                <a:r>
                  <a:rPr lang="en-US" sz="3200" b="1" dirty="0" smtClean="0"/>
                  <a:t> </a:t>
                </a:r>
                <a:r>
                  <a:rPr lang="en-US" sz="3200" b="1" dirty="0" err="1" smtClean="0"/>
                  <a:t>kategori</a:t>
                </a:r>
                <a:r>
                  <a:rPr lang="en-US" sz="3200" b="1" dirty="0" smtClean="0"/>
                  <a:t> </a:t>
                </a:r>
                <a:r>
                  <a:rPr lang="en-US" sz="2400" b="1" dirty="0" smtClean="0"/>
                  <a:t>(</a:t>
                </a:r>
                <a:r>
                  <a:rPr lang="en-US" sz="2400" b="1" dirty="0"/>
                  <a:t>ALUR </a:t>
                </a:r>
                <a:r>
                  <a:rPr lang="en-US" sz="2400" b="1" dirty="0" smtClean="0"/>
                  <a:t>KERJA)</a:t>
                </a:r>
                <a:endParaRPr lang="en-US" sz="32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23837" y="609600"/>
                <a:ext cx="8610600" cy="792162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3337" y="1828800"/>
                <a:ext cx="8991600" cy="5562600"/>
              </a:xfrm>
            </p:spPr>
            <p:txBody>
              <a:bodyPr>
                <a:normAutofit/>
              </a:bodyPr>
              <a:lstStyle/>
              <a:p>
                <a:pPr marL="57150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en-US" sz="2400" dirty="0" smtClean="0"/>
                  <a:t>6.   </a:t>
                </a:r>
                <a:r>
                  <a:rPr lang="en-US" sz="2400" dirty="0" err="1" smtClean="0"/>
                  <a:t>Hitung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nilai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dan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vektor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eigen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dari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>
                            <a:latin typeface="Cambria Math"/>
                          </a:rPr>
                          <m:t>𝐄</m:t>
                        </m:r>
                      </m:e>
                      <m:sup>
                        <m:r>
                          <a:rPr lang="en-US" sz="2400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sz="2400" b="1" i="0" smtClean="0">
                        <a:latin typeface="Cambria Math"/>
                      </a:rPr>
                      <m:t>𝐇</m:t>
                    </m:r>
                  </m:oMath>
                </a14:m>
                <a:r>
                  <a:rPr lang="en-US" sz="2400" dirty="0" smtClean="0"/>
                  <a:t>, </a:t>
                </a:r>
              </a:p>
              <a:p>
                <a:pPr marL="57150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en-US" sz="2400" dirty="0"/>
                  <a:t> </a:t>
                </a:r>
                <a:r>
                  <a:rPr lang="en-US" sz="2400" dirty="0" smtClean="0"/>
                  <a:t>     </a:t>
                </a:r>
                <a:r>
                  <a:rPr lang="en-US" sz="2400" dirty="0" err="1" smtClean="0"/>
                  <a:t>dengan</a:t>
                </a:r>
                <a:r>
                  <a:rPr lang="en-US" sz="2400" dirty="0" smtClean="0"/>
                  <a:t>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>
                                <a:latin typeface="Cambria Math"/>
                              </a:rPr>
                              <m:t>𝐄</m:t>
                            </m:r>
                          </m:e>
                          <m:sup>
                            <m:r>
                              <a:rPr lang="en-US" sz="2400">
                                <a:latin typeface="Cambria Math"/>
                              </a:rPr>
                              <m:t>−1</m:t>
                            </m:r>
                          </m:sup>
                        </m:sSup>
                        <m:r>
                          <a:rPr lang="en-US" sz="2400" b="1">
                            <a:latin typeface="Cambria Math"/>
                          </a:rPr>
                          <m:t>𝐇</m:t>
                        </m:r>
                        <m:r>
                          <a:rPr lang="en-US" sz="2400" b="1" i="0" smtClean="0">
                            <a:latin typeface="Cambria Math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𝜆</m:t>
                        </m:r>
                        <m:r>
                          <a:rPr lang="en-US" sz="2400" b="1" i="0" smtClean="0">
                            <a:latin typeface="Cambria Math"/>
                          </a:rPr>
                          <m:t>𝐈</m:t>
                        </m:r>
                      </m:e>
                    </m:d>
                    <m:acc>
                      <m:accPr>
                        <m:chr m:val="⃗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/>
                          </a:rPr>
                          <m:t>𝑎</m:t>
                        </m:r>
                      </m:e>
                    </m:acc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/>
                          </a:rPr>
                          <m:t>0</m:t>
                        </m:r>
                      </m:e>
                    </m:acc>
                  </m:oMath>
                </a14:m>
                <a:r>
                  <a:rPr lang="en-US" sz="2400" dirty="0" smtClean="0"/>
                  <a:t>.</a:t>
                </a:r>
              </a:p>
              <a:p>
                <a:pPr marL="465138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endParaRPr lang="en-US" sz="1400" dirty="0" smtClean="0"/>
              </a:p>
              <a:p>
                <a:pPr marL="465138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en-US" sz="2400" dirty="0" err="1" smtClean="0"/>
                  <a:t>Diperoleh</a:t>
                </a:r>
                <a:r>
                  <a:rPr lang="en-US" sz="2400" dirty="0" smtClean="0"/>
                  <a:t> </a:t>
                </a:r>
                <a:r>
                  <a:rPr lang="en-US" sz="2400" dirty="0"/>
                  <a:t>vektor </a:t>
                </a:r>
                <a:r>
                  <a:rPr lang="en-US" sz="2400" dirty="0" err="1"/>
                  <a:t>eigen</a:t>
                </a:r>
                <a:r>
                  <a:rPr lang="en-US" sz="2400" dirty="0"/>
                  <a:t> yang berasosiasi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,</m:t>
                    </m:r>
                    <m:r>
                      <a:rPr lang="en-US" sz="2400" i="1">
                        <a:latin typeface="Cambria Math"/>
                        <a:ea typeface="Cambria Math"/>
                      </a:rPr>
                      <m:t>⋯,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2400" dirty="0" smtClean="0"/>
                  <a:t> dan </a:t>
                </a:r>
                <a:r>
                  <a:rPr lang="en-US" sz="2400" dirty="0" err="1" smtClean="0"/>
                  <a:t>masing-masing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berkorespondensi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dengan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nilai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eigen</a:t>
                </a:r>
                <a:r>
                  <a:rPr lang="en-US" sz="2400" dirty="0" smtClean="0"/>
                  <a:t>   </a:t>
                </a:r>
                <a:r>
                  <a:rPr lang="en-US" sz="2400" dirty="0" err="1" smtClean="0"/>
                  <a:t>tidak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nol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𝜆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𝜆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,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⋯,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𝜆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2400" dirty="0" smtClean="0"/>
                  <a:t>, dan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&gt;</m:t>
                    </m:r>
                    <m:r>
                      <a:rPr lang="en-US" sz="2400" i="1">
                        <a:latin typeface="Cambria Math"/>
                        <a:ea typeface="Cambria Math"/>
                      </a:rPr>
                      <m:t>⋯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&gt;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endParaRPr lang="en-US" sz="2400" dirty="0" smtClean="0"/>
              </a:p>
              <a:p>
                <a:pPr marL="465138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en-US" sz="2400" dirty="0" err="1" smtClean="0"/>
                  <a:t>Misalkan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ℓ</m:t>
                    </m:r>
                    <m:r>
                      <a:rPr lang="en-US" sz="2400" b="0" i="1" smtClean="0">
                        <a:latin typeface="Cambria Math"/>
                      </a:rPr>
                      <m:t>=1,2,⋯,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𝐿</m:t>
                    </m:r>
                  </m:oMath>
                </a14:m>
                <a:r>
                  <a:rPr lang="en-US" sz="2400" dirty="0" smtClean="0"/>
                  <a:t>, </a:t>
                </a:r>
                <a:r>
                  <a:rPr lang="en-US" sz="2400" dirty="0" err="1" smtClean="0"/>
                  <a:t>sehingga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didapatkan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sebanyak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𝐿</m:t>
                    </m:r>
                  </m:oMath>
                </a14:m>
                <a:r>
                  <a:rPr lang="en-US" sz="2400" dirty="0" smtClean="0"/>
                  <a:t> model </a:t>
                </a:r>
                <a:r>
                  <a:rPr lang="en-US" sz="2400" dirty="0" err="1" smtClean="0"/>
                  <a:t>diskriminan</a:t>
                </a:r>
                <a:endParaRPr lang="en-US" sz="2400" dirty="0" smtClean="0"/>
              </a:p>
              <a:p>
                <a:pPr marL="465138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endParaRPr lang="en-US" sz="2400" dirty="0"/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d-ID" sz="2400" i="1">
                              <a:latin typeface="Cambria Math"/>
                            </a:rPr>
                            <m:t>𝑍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ℓ</m:t>
                          </m:r>
                        </m:sub>
                      </m:sSub>
                      <m:r>
                        <a:rPr lang="id-ID" sz="2400" i="1">
                          <a:latin typeface="Cambria Math"/>
                        </a:rPr>
                        <m:t>=</m:t>
                      </m:r>
                      <m:r>
                        <a:rPr lang="id-ID" sz="2400" b="1" i="1">
                          <a:latin typeface="Cambria Math"/>
                        </a:rPr>
                        <m:t>𝐗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id-ID" sz="2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sz="2400" b="1" i="1" smtClean="0">
                              <a:latin typeface="Cambria Math"/>
                            </a:rPr>
                            <m:t>ℓ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lvl="1" indent="-457200">
                  <a:lnSpc>
                    <a:spcPct val="100000"/>
                  </a:lnSpc>
                  <a:spcBef>
                    <a:spcPts val="600"/>
                  </a:spcBef>
                  <a:buFont typeface="+mj-lt"/>
                  <a:buAutoNum type="arabicPeriod" startAt="6"/>
                </a:pPr>
                <a:endParaRPr lang="en-US" sz="2400" dirty="0"/>
              </a:p>
              <a:p>
                <a:pPr marL="400050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endParaRPr lang="en-US" sz="24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337" y="1828800"/>
                <a:ext cx="8991600" cy="5562600"/>
              </a:xfrm>
              <a:blipFill rotWithShape="0">
                <a:blip r:embed="rId3"/>
                <a:stretch>
                  <a:fillRect l="-407" t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7433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581400" y="2971800"/>
            <a:ext cx="1600200" cy="9906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176212" y="533400"/>
                <a:ext cx="8610600" cy="792162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sz="3200" b="1" dirty="0" smtClean="0"/>
                  <a:t>ANALISIS DISKRIMINAN </a:t>
                </a:r>
                <a:r>
                  <a:rPr lang="en-US" sz="3200" b="1" dirty="0" err="1" smtClean="0"/>
                  <a:t>Variabel</a:t>
                </a:r>
                <a:r>
                  <a:rPr lang="en-US" sz="3200" b="1" dirty="0" smtClean="0"/>
                  <a:t> </a:t>
                </a:r>
                <a:r>
                  <a:rPr lang="en-US" sz="3200" b="1" dirty="0" err="1" smtClean="0"/>
                  <a:t>respon</a:t>
                </a:r>
                <a:r>
                  <a:rPr lang="en-US" sz="3200" b="1" dirty="0" smtClean="0"/>
                  <a:t/>
                </a:r>
                <a:br>
                  <a:rPr lang="en-US" sz="3200" b="1" dirty="0" smtClean="0"/>
                </a:br>
                <a14:m>
                  <m:oMath xmlns:m="http://schemas.openxmlformats.org/officeDocument/2006/math">
                    <m:r>
                      <a:rPr lang="en-US" sz="3200" b="0" i="1" dirty="0" smtClean="0">
                        <a:latin typeface="Cambria Math"/>
                      </a:rPr>
                      <m:t>𝐾</m:t>
                    </m:r>
                  </m:oMath>
                </a14:m>
                <a:r>
                  <a:rPr lang="en-US" sz="3200" b="1" dirty="0" smtClean="0"/>
                  <a:t> </a:t>
                </a:r>
                <a:r>
                  <a:rPr lang="en-US" sz="3200" b="1" dirty="0" err="1" smtClean="0"/>
                  <a:t>kategori</a:t>
                </a:r>
                <a:r>
                  <a:rPr lang="en-US" sz="3200" b="1" dirty="0" smtClean="0"/>
                  <a:t> </a:t>
                </a:r>
                <a:r>
                  <a:rPr lang="en-US" sz="2400" b="1" dirty="0" smtClean="0"/>
                  <a:t>(</a:t>
                </a:r>
                <a:r>
                  <a:rPr lang="en-US" sz="2400" b="1" dirty="0"/>
                  <a:t>ALUR </a:t>
                </a:r>
                <a:r>
                  <a:rPr lang="en-US" sz="2400" b="1" dirty="0" smtClean="0"/>
                  <a:t>KERJA)</a:t>
                </a:r>
                <a:endParaRPr lang="en-US" sz="32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76212" y="533400"/>
                <a:ext cx="8610600" cy="792162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600200"/>
                <a:ext cx="8991600" cy="5562600"/>
              </a:xfrm>
            </p:spPr>
            <p:txBody>
              <a:bodyPr>
                <a:normAutofit/>
              </a:bodyPr>
              <a:lstStyle/>
              <a:p>
                <a:pPr marL="457200" lvl="0" indent="-342900">
                  <a:buNone/>
                </a:pPr>
                <a:r>
                  <a:rPr lang="en-US" sz="2400" dirty="0" smtClean="0"/>
                  <a:t>7.  </a:t>
                </a:r>
                <a:r>
                  <a:rPr lang="en-US" sz="2400" dirty="0" err="1" smtClean="0"/>
                  <a:t>Hitung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proporsi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nilai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eigen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untuk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menetukan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informasi</a:t>
                </a:r>
                <a:r>
                  <a:rPr lang="en-US" sz="2400" dirty="0" smtClean="0"/>
                  <a:t> yang </a:t>
                </a:r>
                <a:r>
                  <a:rPr lang="en-US" sz="2400" dirty="0" err="1" smtClean="0"/>
                  <a:t>termuat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pada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setiap</a:t>
                </a:r>
                <a:r>
                  <a:rPr lang="en-US" sz="2400" dirty="0" smtClean="0"/>
                  <a:t> model </a:t>
                </a:r>
                <a:r>
                  <a:rPr lang="en-US" sz="2400" dirty="0" err="1" smtClean="0"/>
                  <a:t>diskriminan</a:t>
                </a:r>
                <a:r>
                  <a:rPr lang="id-ID" sz="2400" dirty="0" smtClean="0"/>
                  <a:t>.</a:t>
                </a:r>
                <a:endParaRPr lang="en-US" sz="2400" dirty="0" smtClean="0"/>
              </a:p>
              <a:p>
                <a:pPr marL="465138" lvl="0" indent="0">
                  <a:buNone/>
                </a:pPr>
                <a:r>
                  <a:rPr lang="en-US" sz="2400" dirty="0" err="1" smtClean="0"/>
                  <a:t>Informasi</a:t>
                </a:r>
                <a:r>
                  <a:rPr lang="en-US" sz="2400" dirty="0" smtClean="0"/>
                  <a:t> </a:t>
                </a:r>
                <a:r>
                  <a:rPr lang="en-US" sz="2400" dirty="0"/>
                  <a:t>yang </a:t>
                </a:r>
                <a:r>
                  <a:rPr lang="en-US" sz="2400" dirty="0" err="1"/>
                  <a:t>termuat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pada</a:t>
                </a:r>
                <a:r>
                  <a:rPr lang="en-US" sz="2400" dirty="0"/>
                  <a:t> </a:t>
                </a:r>
                <a:r>
                  <a:rPr lang="en-US" sz="2400" dirty="0" smtClean="0"/>
                  <a:t>model </a:t>
                </a:r>
                <a:r>
                  <a:rPr lang="en-US" sz="2400" dirty="0" err="1" smtClean="0"/>
                  <a:t>diskriminan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ke</a:t>
                </a:r>
                <a:r>
                  <a:rPr lang="en-US" sz="2400" dirty="0" smtClean="0"/>
                  <a:t>-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ℓ</m:t>
                        </m:r>
                      </m:e>
                    </m:acc>
                  </m:oMath>
                </a14:m>
                <a:r>
                  <a:rPr lang="en-US" sz="2400" dirty="0" smtClean="0"/>
                  <a:t> </a:t>
                </a:r>
                <a:r>
                  <a:rPr lang="en-US" sz="2400" dirty="0" err="1" smtClean="0"/>
                  <a:t>adalah</a:t>
                </a:r>
                <a:r>
                  <a:rPr lang="en-US" sz="2400" dirty="0" smtClean="0"/>
                  <a:t> </a:t>
                </a:r>
              </a:p>
              <a:p>
                <a:pPr marL="465138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/>
                                </a:rPr>
                                <m:t>𝝀</m:t>
                              </m:r>
                            </m:e>
                            <m:sub>
                              <m:acc>
                                <m:accPr>
                                  <m:chr m:val="̃"/>
                                  <m:ctrlP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latin typeface="Cambria Math"/>
                                    </a:rPr>
                                    <m:t>ℓ</m:t>
                                  </m:r>
                                </m:e>
                              </m:acc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b="1" i="1" smtClean="0">
                                  <a:latin typeface="Cambria Math"/>
                                </a:rPr>
                                <m:t>ℓ=</m:t>
                              </m:r>
                              <m:r>
                                <a:rPr lang="en-US" sz="2400" b="1" i="1" smtClean="0">
                                  <a:latin typeface="Cambria Math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2400" b="1" i="1" smtClean="0">
                                  <a:latin typeface="Cambria Math"/>
                                </a:rPr>
                                <m:t>𝑳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latin typeface="Cambria Math"/>
                                    </a:rPr>
                                    <m:t>𝝀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latin typeface="Cambria Math"/>
                                    </a:rPr>
                                    <m:t>ℓ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sz="2400" b="1" dirty="0" smtClean="0"/>
              </a:p>
              <a:p>
                <a:pPr marL="465138" lvl="0" indent="0">
                  <a:buNone/>
                </a:pPr>
                <a:endParaRPr lang="en-US" sz="1400" dirty="0" smtClean="0"/>
              </a:p>
              <a:p>
                <a:pPr marL="0" lvl="0" indent="0">
                  <a:buNone/>
                </a:pPr>
                <a:r>
                  <a:rPr lang="en-US" sz="2400" dirty="0"/>
                  <a:t>8.  </a:t>
                </a:r>
                <a:r>
                  <a:rPr lang="en-US" sz="2400" dirty="0" smtClean="0"/>
                  <a:t>H</a:t>
                </a:r>
                <a:r>
                  <a:rPr lang="id-ID" sz="2400" dirty="0" smtClean="0"/>
                  <a:t>itung </a:t>
                </a:r>
                <a:r>
                  <a:rPr lang="id-ID" sz="2400" dirty="0"/>
                  <a:t>skor diskriminan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400" i="1">
                            <a:latin typeface="Cambria Math"/>
                          </a:rPr>
                          <m:t>𝑍</m:t>
                        </m:r>
                      </m:e>
                    </m:d>
                  </m:oMath>
                </a14:m>
                <a:endParaRPr lang="en-US" sz="2400" dirty="0"/>
              </a:p>
              <a:p>
                <a:pPr marL="400050" lvl="1" indent="0">
                  <a:buNone/>
                </a:pPr>
                <a:r>
                  <a:rPr lang="en-US" sz="2400" dirty="0"/>
                  <a:t>S</a:t>
                </a:r>
                <a:r>
                  <a:rPr lang="id-ID" sz="2400" dirty="0"/>
                  <a:t>kor diskriminan untuk setiap </a:t>
                </a:r>
                <a:r>
                  <a:rPr lang="en-US" sz="2400" dirty="0" err="1"/>
                  <a:t>objek</a:t>
                </a:r>
                <a:r>
                  <a:rPr lang="id-ID" sz="2400" dirty="0"/>
                  <a:t> </a:t>
                </a:r>
                <a:r>
                  <a:rPr lang="en-US" sz="2400" dirty="0" err="1"/>
                  <a:t>didapatkan</a:t>
                </a:r>
                <a:r>
                  <a:rPr lang="en-US" sz="2400" dirty="0"/>
                  <a:t> </a:t>
                </a:r>
                <a:r>
                  <a:rPr lang="id-ID" sz="2400" dirty="0"/>
                  <a:t>dengan </a:t>
                </a:r>
                <a:r>
                  <a:rPr lang="en-US" sz="2400" dirty="0" err="1"/>
                  <a:t>cara</a:t>
                </a:r>
                <a:r>
                  <a:rPr lang="en-US" sz="2400" dirty="0"/>
                  <a:t> </a:t>
                </a:r>
                <a:r>
                  <a:rPr lang="id-ID" sz="2400" dirty="0"/>
                  <a:t>memasukkan nilai-nilai variabel bebas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ke</a:t>
                </a:r>
                <a:r>
                  <a:rPr lang="en-US" sz="2400" dirty="0"/>
                  <a:t> model </a:t>
                </a:r>
                <a:r>
                  <a:rPr lang="en-US" sz="2400" dirty="0" err="1"/>
                  <a:t>diskriminan</a:t>
                </a:r>
                <a:r>
                  <a:rPr lang="id-ID" sz="2400" dirty="0"/>
                  <a:t>.</a:t>
                </a:r>
                <a:endParaRPr lang="en-US" sz="2400" dirty="0"/>
              </a:p>
              <a:p>
                <a:pPr marL="465138" lvl="0" indent="0">
                  <a:buNone/>
                </a:pPr>
                <a:endParaRPr lang="en-US" sz="2400" dirty="0"/>
              </a:p>
              <a:p>
                <a:pPr lvl="1" indent="-457200">
                  <a:lnSpc>
                    <a:spcPct val="100000"/>
                  </a:lnSpc>
                  <a:spcBef>
                    <a:spcPts val="600"/>
                  </a:spcBef>
                  <a:buFont typeface="+mj-lt"/>
                  <a:buAutoNum type="arabicPeriod" startAt="6"/>
                </a:pPr>
                <a:endParaRPr lang="en-US" sz="2400" dirty="0"/>
              </a:p>
              <a:p>
                <a:pPr marL="400050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endParaRPr lang="en-US" sz="2400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600200"/>
                <a:ext cx="8991600" cy="5562600"/>
              </a:xfrm>
              <a:blipFill>
                <a:blip r:embed="rId3"/>
                <a:stretch>
                  <a:fillRect l="-1017" t="-14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5585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14600" y="2971800"/>
            <a:ext cx="3505200" cy="12192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138112" y="609600"/>
                <a:ext cx="8610600" cy="792162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sz="3200" b="1" dirty="0"/>
                  <a:t>ANALISIS DISKRIMINAN </a:t>
                </a:r>
                <a:r>
                  <a:rPr lang="en-US" sz="3200" b="1" dirty="0" err="1"/>
                  <a:t>Variabel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respon</a:t>
                </a:r>
                <a:r>
                  <a:rPr lang="en-US" sz="3200" b="1" dirty="0"/>
                  <a:t> 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/>
                      </a:rPr>
                      <m:t>𝐾</m:t>
                    </m:r>
                  </m:oMath>
                </a14:m>
                <a:r>
                  <a:rPr lang="en-US" sz="3200" b="1" dirty="0"/>
                  <a:t> </a:t>
                </a:r>
                <a:r>
                  <a:rPr lang="en-US" sz="3200" b="1" dirty="0" smtClean="0"/>
                  <a:t>kategori </a:t>
                </a:r>
                <a:r>
                  <a:rPr lang="en-US" sz="2400" b="1" dirty="0" smtClean="0"/>
                  <a:t>(</a:t>
                </a:r>
                <a:r>
                  <a:rPr lang="en-US" sz="2400" b="1" dirty="0"/>
                  <a:t>ALUR </a:t>
                </a:r>
                <a:r>
                  <a:rPr lang="en-US" sz="2400" b="1" dirty="0" smtClean="0"/>
                  <a:t>KERJA)</a:t>
                </a:r>
                <a:endParaRPr lang="en-US" sz="32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38112" y="609600"/>
                <a:ext cx="8610600" cy="792162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3812" y="1676400"/>
                <a:ext cx="8839200" cy="5562600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lang="en-US" sz="2400" dirty="0" smtClean="0"/>
                  <a:t>9.  </a:t>
                </a:r>
                <a:r>
                  <a:rPr lang="en-US" sz="2400" dirty="0" smtClean="0"/>
                  <a:t>H</a:t>
                </a:r>
                <a:r>
                  <a:rPr lang="id-ID" sz="2400" dirty="0" smtClean="0"/>
                  <a:t>itung </a:t>
                </a:r>
                <a:r>
                  <a:rPr lang="id-ID" sz="2400" i="1" dirty="0"/>
                  <a:t>cutting score</a:t>
                </a:r>
                <a:r>
                  <a:rPr lang="en-US" sz="2400" dirty="0"/>
                  <a:t>.</a:t>
                </a:r>
              </a:p>
              <a:p>
                <a:pPr marL="400050" lvl="1" indent="0">
                  <a:buNone/>
                </a:pPr>
                <a:r>
                  <a:rPr lang="id-ID" sz="2400" i="1" dirty="0"/>
                  <a:t>Cutting score</a:t>
                </a:r>
                <a:r>
                  <a:rPr lang="id-ID" sz="2400" dirty="0"/>
                  <a:t> (</a:t>
                </a:r>
                <a14:m>
                  <m:oMath xmlns:m="http://schemas.openxmlformats.org/officeDocument/2006/math">
                    <m:r>
                      <a:rPr lang="id-ID" sz="2400" i="1">
                        <a:latin typeface="Cambria Math"/>
                      </a:rPr>
                      <m:t>𝑚</m:t>
                    </m:r>
                  </m:oMath>
                </a14:m>
                <a:r>
                  <a:rPr lang="id-ID" sz="2400" dirty="0"/>
                  <a:t>) </a:t>
                </a:r>
                <a:r>
                  <a:rPr lang="en-US" sz="2400" dirty="0" err="1"/>
                  <a:t>antara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kelompok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ke</a:t>
                </a:r>
                <a:r>
                  <a:rPr lang="en-US" sz="2400" dirty="0"/>
                  <a:t>-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𝑘</m:t>
                    </m:r>
                  </m:oMath>
                </a14:m>
                <a:r>
                  <a:rPr lang="en-US" sz="2400" dirty="0"/>
                  <a:t> dan ke-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𝑘</m:t>
                    </m:r>
                    <m:r>
                      <a:rPr lang="en-US" sz="2400" i="1" dirty="0">
                        <a:latin typeface="Cambria Math"/>
                      </a:rPr>
                      <m:t>+1</m:t>
                    </m:r>
                  </m:oMath>
                </a14:m>
                <a:r>
                  <a:rPr lang="en-US" sz="2400" dirty="0"/>
                  <a:t> </a:t>
                </a:r>
                <a:r>
                  <a:rPr lang="id-ID" sz="2400" dirty="0"/>
                  <a:t>dapat dihitung dengan rumus sebagai berikut:</a:t>
                </a:r>
                <a:endParaRPr lang="en-US" sz="2400" dirty="0"/>
              </a:p>
              <a:p>
                <a:pPr marL="400050" lvl="1" indent="0">
                  <a:buNone/>
                </a:pPr>
                <a:endParaRPr lang="en-US" sz="2400" i="1" dirty="0">
                  <a:latin typeface="Cambria Math"/>
                </a:endParaRPr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/>
                        </a:rPr>
                        <m:t>𝒎</m:t>
                      </m:r>
                      <m:r>
                        <a:rPr lang="en-US" sz="2400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latin typeface="Cambria Math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sz="2400" b="1" i="1" smtClean="0">
                                  <a:latin typeface="Cambria Math"/>
                                </a:rPr>
                                <m:t>𝒌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 smtClean="0">
                                      <a:latin typeface="Cambria Math"/>
                                    </a:rPr>
                                    <m:t>𝒁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1" i="1" smtClean="0">
                                  <a:latin typeface="Cambria Math"/>
                                </a:rPr>
                                <m:t>𝒌</m:t>
                              </m:r>
                              <m:r>
                                <a:rPr lang="en-US" sz="2400" b="1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2400" b="1" i="1" smtClean="0"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400" b="1" i="1" smtClean="0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latin typeface="Cambria Math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sz="2400" b="1" i="1" smtClean="0">
                                  <a:latin typeface="Cambria Math"/>
                                </a:rPr>
                                <m:t>𝒌</m:t>
                              </m:r>
                              <m:r>
                                <a:rPr lang="en-US" sz="2400" b="1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2400" b="1" i="1" smtClean="0"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 smtClean="0">
                                      <a:latin typeface="Cambria Math"/>
                                    </a:rPr>
                                    <m:t>𝒁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1" i="1" smtClean="0">
                                  <a:latin typeface="Cambria Math"/>
                                </a:rPr>
                                <m:t>𝒌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latin typeface="Cambria Math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sz="2400" b="1" i="1" smtClean="0">
                                  <a:latin typeface="Cambria Math"/>
                                </a:rPr>
                                <m:t>𝒌</m:t>
                              </m:r>
                            </m:sub>
                          </m:sSub>
                          <m:r>
                            <a:rPr lang="en-US" sz="2400" b="1" i="1" smtClean="0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latin typeface="Cambria Math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sz="2400" b="1" i="1" smtClean="0">
                                  <a:latin typeface="Cambria Math"/>
                                </a:rPr>
                                <m:t>𝒌</m:t>
                              </m:r>
                              <m:r>
                                <a:rPr lang="en-US" sz="2400" b="1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2400" b="1" i="1" smtClean="0"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b="1" dirty="0" smtClean="0"/>
              </a:p>
              <a:p>
                <a:pPr marL="400050" lvl="1" indent="0">
                  <a:buNone/>
                </a:pPr>
                <a:endParaRPr lang="en-US" sz="2400" dirty="0"/>
              </a:p>
              <a:p>
                <a:pPr marL="400050" lvl="1" indent="0">
                  <a:buNone/>
                </a:pPr>
                <a:r>
                  <a:rPr lang="en-US" sz="2400" dirty="0" err="1"/>
                  <a:t>dengan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𝑍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adalah</a:t>
                </a:r>
                <a:r>
                  <a:rPr lang="en-US" sz="2400" dirty="0"/>
                  <a:t> rata-rata </a:t>
                </a:r>
                <a:r>
                  <a:rPr lang="id-ID" sz="2400" dirty="0"/>
                  <a:t>skor diskriminan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id-ID" sz="2400" i="1">
                        <a:latin typeface="Cambria Math"/>
                      </a:rPr>
                      <m:t>𝑍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untuk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kelompok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ke</a:t>
                </a:r>
                <a:r>
                  <a:rPr lang="en-US" sz="2400" dirty="0"/>
                  <a:t>-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𝑘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400050" lvl="1" indent="0">
                  <a:buNone/>
                </a:pPr>
                <a:r>
                  <a:rPr lang="id-ID" sz="2400" dirty="0"/>
                  <a:t>Suatu </a:t>
                </a:r>
                <a:r>
                  <a:rPr lang="en-US" sz="2400" dirty="0" err="1"/>
                  <a:t>objek</a:t>
                </a:r>
                <a:r>
                  <a:rPr lang="id-ID" sz="2400" dirty="0"/>
                  <a:t> dengan karakteristik </a:t>
                </a:r>
                <a14:m>
                  <m:oMath xmlns:m="http://schemas.openxmlformats.org/officeDocument/2006/math">
                    <m:r>
                      <a:rPr lang="id-ID" sz="2400" i="1">
                        <a:latin typeface="Cambria Math"/>
                      </a:rPr>
                      <m:t>𝑥</m:t>
                    </m:r>
                  </m:oMath>
                </a14:m>
                <a:r>
                  <a:rPr lang="id-ID" sz="2400" dirty="0"/>
                  <a:t> akan diklasifikasikan sebagai anggota </a:t>
                </a:r>
                <a:r>
                  <a:rPr lang="en-US" sz="2400" dirty="0" err="1"/>
                  <a:t>kategori</a:t>
                </a:r>
                <a:r>
                  <a:rPr lang="en-US" sz="2400" dirty="0"/>
                  <a:t> ke-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𝑘</m:t>
                    </m:r>
                  </m:oMath>
                </a14:m>
                <a:r>
                  <a:rPr lang="id-ID" sz="2400" dirty="0"/>
                  <a:t> jika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𝑍</m:t>
                    </m:r>
                    <m:r>
                      <a:rPr lang="en-US" sz="2400" i="1">
                        <a:latin typeface="Cambria Math"/>
                      </a:rPr>
                      <m:t>≥</m:t>
                    </m:r>
                    <m:r>
                      <a:rPr lang="en-US" sz="2400" i="1">
                        <a:latin typeface="Cambria Math"/>
                      </a:rPr>
                      <m:t>𝑚</m:t>
                    </m:r>
                  </m:oMath>
                </a14:m>
                <a:r>
                  <a:rPr lang="id-ID" sz="2400" dirty="0"/>
                  <a:t>, selain itu </a:t>
                </a:r>
                <a:r>
                  <a:rPr lang="en-US" sz="2400" dirty="0" err="1"/>
                  <a:t>anggota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kategori</a:t>
                </a:r>
                <a:r>
                  <a:rPr lang="en-US" sz="2400" dirty="0"/>
                  <a:t> ke-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𝑘</m:t>
                    </m:r>
                    <m:r>
                      <a:rPr lang="en-US" sz="2400" i="1" dirty="0">
                        <a:latin typeface="Cambria Math"/>
                      </a:rPr>
                      <m:t>+1</m:t>
                    </m:r>
                  </m:oMath>
                </a14:m>
                <a:r>
                  <a:rPr lang="id-ID" sz="2400" dirty="0" smtClean="0"/>
                  <a:t>.</a:t>
                </a:r>
                <a:endParaRPr lang="en-US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812" y="1676400"/>
                <a:ext cx="8839200" cy="5562600"/>
              </a:xfrm>
              <a:blipFill>
                <a:blip r:embed="rId3"/>
                <a:stretch>
                  <a:fillRect l="-1103" t="-14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1618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200025" y="865188"/>
                <a:ext cx="8610600" cy="792162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sz="3200" b="1" dirty="0"/>
                  <a:t>ANALISIS DISKRIMINAN </a:t>
                </a:r>
                <a:r>
                  <a:rPr lang="en-US" sz="3200" b="1" dirty="0" err="1"/>
                  <a:t>Variabel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respon</a:t>
                </a:r>
                <a:r>
                  <a:rPr lang="en-US" sz="3200" b="1" dirty="0"/>
                  <a:t> </a:t>
                </a:r>
                <a:r>
                  <a:rPr lang="en-US" sz="3200" b="1" dirty="0" smtClean="0"/>
                  <a:t/>
                </a:r>
                <a:br>
                  <a:rPr lang="en-US" sz="3200" b="1" dirty="0" smtClean="0"/>
                </a:br>
                <a14:m>
                  <m:oMath xmlns:m="http://schemas.openxmlformats.org/officeDocument/2006/math">
                    <m:r>
                      <a:rPr lang="en-US" sz="3200" i="1" dirty="0">
                        <a:latin typeface="Cambria Math"/>
                      </a:rPr>
                      <m:t>𝐾</m:t>
                    </m:r>
                  </m:oMath>
                </a14:m>
                <a:r>
                  <a:rPr lang="en-US" sz="3200" b="1" dirty="0"/>
                  <a:t> </a:t>
                </a:r>
                <a:r>
                  <a:rPr lang="en-US" sz="3200" b="1" dirty="0" smtClean="0"/>
                  <a:t>kategori </a:t>
                </a:r>
                <a:r>
                  <a:rPr lang="en-US" sz="2400" b="1" dirty="0" smtClean="0"/>
                  <a:t>(</a:t>
                </a:r>
                <a:r>
                  <a:rPr lang="en-US" sz="2400" b="1" dirty="0"/>
                  <a:t>ALUR </a:t>
                </a:r>
                <a:r>
                  <a:rPr lang="en-US" sz="2400" b="1" dirty="0" smtClean="0"/>
                  <a:t>KERJA)</a:t>
                </a:r>
                <a:endParaRPr lang="en-US" sz="32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00025" y="865188"/>
                <a:ext cx="8610600" cy="792162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837" y="1905000"/>
            <a:ext cx="8153400" cy="1828800"/>
          </a:xfrm>
        </p:spPr>
        <p:txBody>
          <a:bodyPr>
            <a:noAutofit/>
          </a:bodyPr>
          <a:lstStyle/>
          <a:p>
            <a:pPr marL="400050" lvl="0" indent="-400050">
              <a:buNone/>
            </a:pPr>
            <a:r>
              <a:rPr lang="en-US" sz="2400" dirty="0" smtClean="0"/>
              <a:t>10. </a:t>
            </a:r>
            <a:r>
              <a:rPr lang="en-US" sz="2400" dirty="0" err="1" smtClean="0"/>
              <a:t>Hitung</a:t>
            </a:r>
            <a:r>
              <a:rPr lang="id-ID" sz="2400" dirty="0" smtClean="0"/>
              <a:t> </a:t>
            </a:r>
            <a:r>
              <a:rPr lang="en-US" sz="2400" i="1" dirty="0"/>
              <a:t>h</a:t>
            </a:r>
            <a:r>
              <a:rPr lang="id-ID" sz="2400" i="1" dirty="0"/>
              <a:t>it </a:t>
            </a:r>
            <a:r>
              <a:rPr lang="en-US" sz="2400" i="1" dirty="0"/>
              <a:t>r</a:t>
            </a:r>
            <a:r>
              <a:rPr lang="id-ID" sz="2400" i="1" dirty="0" smtClean="0"/>
              <a:t>atio</a:t>
            </a:r>
            <a:endParaRPr lang="en-US" sz="2400" dirty="0" smtClean="0"/>
          </a:p>
          <a:p>
            <a:pPr marL="400050" lvl="1" indent="-400050">
              <a:buNone/>
            </a:pPr>
            <a:r>
              <a:rPr lang="en-US" sz="2400" dirty="0" smtClean="0"/>
              <a:t>      Hit ratio, </a:t>
            </a:r>
            <a:r>
              <a:rPr lang="en-US" sz="2400" dirty="0" err="1" smtClean="0"/>
              <a:t>yaitu</a:t>
            </a:r>
            <a:r>
              <a:rPr lang="en-US" sz="2400" dirty="0" smtClean="0"/>
              <a:t> </a:t>
            </a:r>
            <a:r>
              <a:rPr lang="en-US" sz="2400" dirty="0" err="1" smtClean="0"/>
              <a:t>rasio</a:t>
            </a:r>
            <a:r>
              <a:rPr lang="en-US" sz="2400" dirty="0" smtClean="0"/>
              <a:t> </a:t>
            </a:r>
            <a:r>
              <a:rPr lang="en-US" sz="2400" dirty="0" err="1" smtClean="0"/>
              <a:t>antara</a:t>
            </a:r>
            <a:r>
              <a:rPr lang="en-US" sz="2400" dirty="0" smtClean="0"/>
              <a:t> </a:t>
            </a:r>
            <a:r>
              <a:rPr lang="en-US" sz="2400" dirty="0" err="1" smtClean="0"/>
              <a:t>objek</a:t>
            </a:r>
            <a:r>
              <a:rPr lang="en-US" sz="2400" dirty="0" smtClean="0"/>
              <a:t> yang </a:t>
            </a:r>
            <a:r>
              <a:rPr lang="en-US" sz="2400" dirty="0" err="1" smtClean="0"/>
              <a:t>tepat</a:t>
            </a:r>
            <a:r>
              <a:rPr lang="en-US" sz="2400" dirty="0" smtClean="0"/>
              <a:t> </a:t>
            </a:r>
            <a:r>
              <a:rPr lang="en-US" sz="2400" dirty="0" err="1" smtClean="0"/>
              <a:t>pengklasifikasiannya</a:t>
            </a:r>
            <a:r>
              <a:rPr lang="en-US" sz="2400" dirty="0" smtClean="0"/>
              <a:t> </a:t>
            </a:r>
            <a:r>
              <a:rPr lang="en-US" sz="2400" dirty="0" err="1" smtClean="0"/>
              <a:t>dengan</a:t>
            </a:r>
            <a:r>
              <a:rPr lang="en-US" sz="2400" dirty="0" smtClean="0"/>
              <a:t> total </a:t>
            </a:r>
            <a:r>
              <a:rPr lang="en-US" sz="2400" dirty="0" err="1" smtClean="0"/>
              <a:t>seluruh</a:t>
            </a:r>
            <a:r>
              <a:rPr lang="en-US" sz="2400" dirty="0" smtClean="0"/>
              <a:t> </a:t>
            </a:r>
            <a:r>
              <a:rPr lang="en-US" sz="2400" dirty="0" err="1" smtClean="0"/>
              <a:t>observasi</a:t>
            </a:r>
            <a:r>
              <a:rPr lang="en-US" sz="2400" dirty="0" smtClean="0"/>
              <a:t>, </a:t>
            </a:r>
            <a:r>
              <a:rPr lang="en-US" sz="2400" dirty="0" err="1" smtClean="0"/>
              <a:t>dan</a:t>
            </a:r>
            <a:r>
              <a:rPr lang="en-US" sz="2400" dirty="0" smtClean="0"/>
              <a:t> </a:t>
            </a:r>
            <a:r>
              <a:rPr lang="en-US" sz="2400" dirty="0" err="1" smtClean="0"/>
              <a:t>digunakan</a:t>
            </a:r>
            <a:r>
              <a:rPr lang="en-US" sz="2400" dirty="0" smtClean="0"/>
              <a:t> </a:t>
            </a:r>
            <a:r>
              <a:rPr lang="en-US" sz="2400" dirty="0" err="1" smtClean="0"/>
              <a:t>untuk</a:t>
            </a:r>
            <a:r>
              <a:rPr lang="en-US" sz="2400" dirty="0" smtClean="0"/>
              <a:t> </a:t>
            </a:r>
            <a:r>
              <a:rPr lang="id-ID" sz="2400" dirty="0"/>
              <a:t>validasi model</a:t>
            </a:r>
            <a:r>
              <a:rPr lang="en-US" sz="2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7520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228600" y="304800"/>
                <a:ext cx="8839200" cy="810768"/>
              </a:xfrm>
            </p:spPr>
            <p:txBody>
              <a:bodyPr>
                <a:noAutofit/>
              </a:bodyPr>
              <a:lstStyle/>
              <a:p>
                <a:r>
                  <a:rPr lang="en-US" sz="3200" b="1" dirty="0"/>
                  <a:t>ANALISIS DISKRIMINAN </a:t>
                </a:r>
                <a:r>
                  <a:rPr lang="en-US" sz="3200" b="1" dirty="0" err="1"/>
                  <a:t>Variabel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respon</a:t>
                </a:r>
                <a:r>
                  <a:rPr lang="en-US" sz="3200" b="1" dirty="0"/>
                  <a:t> 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/>
                      </a:rPr>
                      <m:t>𝐾</m:t>
                    </m:r>
                  </m:oMath>
                </a14:m>
                <a:r>
                  <a:rPr lang="en-US" sz="3200" b="1" dirty="0"/>
                  <a:t> </a:t>
                </a:r>
                <a:r>
                  <a:rPr lang="en-US" sz="3200" b="1" dirty="0" smtClean="0"/>
                  <a:t>kategori </a:t>
                </a:r>
                <a:r>
                  <a:rPr lang="en-US" sz="1800" b="1" dirty="0" smtClean="0"/>
                  <a:t>(</a:t>
                </a:r>
                <a:r>
                  <a:rPr lang="en-US" sz="1800" b="1" dirty="0" err="1" smtClean="0"/>
                  <a:t>Contoh</a:t>
                </a:r>
                <a:r>
                  <a:rPr lang="en-US" sz="1800" b="1" dirty="0" smtClean="0"/>
                  <a:t>)</a:t>
                </a:r>
                <a:endParaRPr lang="en-US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28600" y="304800"/>
                <a:ext cx="8839200" cy="810768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143000"/>
                <a:ext cx="8534400" cy="5029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 smtClean="0"/>
                  <a:t>Akan </a:t>
                </a:r>
                <a:r>
                  <a:rPr lang="en-US" dirty="0" err="1" smtClean="0"/>
                  <a:t>dicari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variabel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penilaian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dominan</a:t>
                </a:r>
                <a:r>
                  <a:rPr lang="en-US" dirty="0" smtClean="0"/>
                  <a:t>, yang </a:t>
                </a:r>
                <a:r>
                  <a:rPr lang="en-US" dirty="0" err="1" smtClean="0"/>
                  <a:t>membedakan</a:t>
                </a:r>
                <a:r>
                  <a:rPr lang="en-US" dirty="0" smtClean="0"/>
                  <a:t> </a:t>
                </a:r>
                <a:r>
                  <a:rPr lang="en-US" b="1" dirty="0" err="1" smtClean="0"/>
                  <a:t>Nilai</a:t>
                </a:r>
                <a:r>
                  <a:rPr lang="en-US" b="1" dirty="0" smtClean="0"/>
                  <a:t> A, AB, B, BC, </a:t>
                </a:r>
                <a:r>
                  <a:rPr lang="en-US" dirty="0" err="1" smtClean="0"/>
                  <a:t>dan</a:t>
                </a:r>
                <a:r>
                  <a:rPr lang="en-US" dirty="0" smtClean="0"/>
                  <a:t> </a:t>
                </a:r>
                <a:r>
                  <a:rPr lang="en-US" b="1" dirty="0" smtClean="0"/>
                  <a:t>C </a:t>
                </a:r>
                <a:r>
                  <a:rPr lang="en-US" dirty="0" err="1" smtClean="0"/>
                  <a:t>dengan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banyak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sampel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masing-masing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adalah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=8</m:t>
                    </m:r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9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19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27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 smtClean="0"/>
                  <a:t>dan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=8</m:t>
                    </m:r>
                  </m:oMath>
                </a14:m>
                <a:r>
                  <a:rPr lang="en-US" dirty="0" smtClean="0"/>
                  <a:t>, </a:t>
                </a:r>
                <a:r>
                  <a:rPr lang="en-US" dirty="0" err="1" smtClean="0"/>
                  <a:t>dari</a:t>
                </a:r>
                <a:r>
                  <a:rPr lang="en-US" dirty="0" smtClean="0"/>
                  <a:t> data </a:t>
                </a:r>
                <a:r>
                  <a:rPr lang="en-US" dirty="0" err="1" smtClean="0"/>
                  <a:t>penilaian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matakuliah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Biostatistika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tanpa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menyertakan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nilai</a:t>
                </a:r>
                <a:r>
                  <a:rPr lang="en-US" dirty="0" smtClean="0"/>
                  <a:t> bonus, </a:t>
                </a:r>
                <a:r>
                  <a:rPr lang="en-US" dirty="0" err="1" smtClean="0"/>
                  <a:t>sebagai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berikut</a:t>
                </a:r>
                <a:r>
                  <a:rPr lang="en-US" dirty="0" smtClean="0"/>
                  <a:t>: </a:t>
                </a:r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r>
                  <a:rPr lang="en-US" b="1" dirty="0"/>
                  <a:t>	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143000"/>
                <a:ext cx="8534400" cy="5029200"/>
              </a:xfrm>
              <a:blipFill rotWithShape="0">
                <a:blip r:embed="rId3"/>
                <a:stretch>
                  <a:fillRect l="-714" t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357524"/>
              </p:ext>
            </p:extLst>
          </p:nvPr>
        </p:nvGraphicFramePr>
        <p:xfrm>
          <a:off x="533400" y="2743200"/>
          <a:ext cx="7637235" cy="31699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31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48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32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48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32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52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92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49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971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NIM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KUIS 1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UTS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KUIS 2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UAS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Praktikum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Presensi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Indeks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106XXXXX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74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58.3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49.5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80.1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69.2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62.4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BC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106XXXXX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51.5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70.0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57.5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85.4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84.6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64.7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BC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106XXXXX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20.0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62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82.4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80.8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56.0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106XXXXX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77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21.0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83.9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46.2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62.8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BC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106XXXXX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55.0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86.6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92.3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54.9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106XXXXX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45.0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69.5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91.7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57.7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74.0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106XXXXX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41.7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48.5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87.2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96.2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57.5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BC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106XXXXX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</a:t>
                      </a: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86</a:t>
                      </a:r>
                    </a:p>
                  </a:txBody>
                  <a:tcPr marL="0" marR="0" marT="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96.7</a:t>
                      </a:r>
                    </a:p>
                  </a:txBody>
                  <a:tcPr marL="0" marR="0" marT="0" marB="0" anchor="b"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87.5</a:t>
                      </a:r>
                    </a:p>
                  </a:txBody>
                  <a:tcPr marL="0" marR="0" marT="0" marB="0" anchor="b"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84.6</a:t>
                      </a:r>
                    </a:p>
                  </a:txBody>
                  <a:tcPr marL="0" marR="0" marT="0" marB="0" anchor="b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84.3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b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106XXXXX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</a:t>
                      </a: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76</a:t>
                      </a:r>
                    </a:p>
                  </a:txBody>
                  <a:tcPr marL="0" marR="0" marT="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70.0</a:t>
                      </a:r>
                    </a:p>
                  </a:txBody>
                  <a:tcPr marL="0" marR="0" marT="0" marB="0" anchor="b"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73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79.4</a:t>
                      </a:r>
                    </a:p>
                  </a:txBody>
                  <a:tcPr marL="0" marR="0" marT="0" marB="0" anchor="b"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88.5</a:t>
                      </a:r>
                    </a:p>
                  </a:txBody>
                  <a:tcPr marL="0" marR="0" marT="0" marB="0" anchor="b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77.2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</a:t>
                      </a:r>
                    </a:p>
                  </a:txBody>
                  <a:tcPr marL="0" marR="0" marT="0" marB="0" anchor="b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76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106XXXXX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</a:t>
                      </a:r>
                    </a:p>
                  </a:txBody>
                  <a:tcPr marL="0" marR="0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</a:t>
                      </a:r>
                    </a:p>
                  </a:txBody>
                  <a:tcPr marL="0" marR="0" marT="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41.7</a:t>
                      </a:r>
                    </a:p>
                  </a:txBody>
                  <a:tcPr marL="0" marR="0" marT="0" marB="0" anchor="b"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69.5</a:t>
                      </a:r>
                    </a:p>
                  </a:txBody>
                  <a:tcPr marL="0" marR="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86.7</a:t>
                      </a:r>
                    </a:p>
                  </a:txBody>
                  <a:tcPr marL="0" marR="0" marT="0" marB="0" anchor="b"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69.2</a:t>
                      </a:r>
                    </a:p>
                  </a:txBody>
                  <a:tcPr marL="0" marR="0" marT="0" marB="0" anchor="b"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64.2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BC</a:t>
                      </a:r>
                    </a:p>
                  </a:txBody>
                  <a:tcPr marL="0" marR="0" marT="0" marB="0" anchor="b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9126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143000"/>
                <a:ext cx="8839200" cy="5562600"/>
              </a:xfrm>
            </p:spPr>
            <p:txBody>
              <a:bodyPr>
                <a:normAutofit/>
              </a:bodyPr>
              <a:lstStyle/>
              <a:p>
                <a:pPr marL="457200" lvl="0" indent="-457200">
                  <a:buFont typeface="+mj-lt"/>
                  <a:buAutoNum type="arabicPeriod"/>
                </a:pPr>
                <a:r>
                  <a:rPr lang="en-US" sz="2400" dirty="0" smtClean="0"/>
                  <a:t>N</a:t>
                </a:r>
                <a:r>
                  <a:rPr lang="id-ID" sz="2400" dirty="0" smtClean="0"/>
                  <a:t>yatakan </a:t>
                </a:r>
                <a:r>
                  <a:rPr lang="id-ID" sz="2400" dirty="0"/>
                  <a:t>matriks data </a:t>
                </a:r>
                <a:r>
                  <a:rPr lang="en-US" sz="2400" dirty="0" err="1" smtClean="0"/>
                  <a:t>sebagai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/>
                      </a:rPr>
                      <m:t>𝐗</m:t>
                    </m:r>
                  </m:oMath>
                </a14:m>
                <a:r>
                  <a:rPr lang="en-US" sz="2400" dirty="0" smtClean="0"/>
                  <a:t> </a:t>
                </a:r>
                <a:r>
                  <a:rPr lang="en-US" sz="2400" dirty="0" err="1" smtClean="0"/>
                  <a:t>dengan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variabel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𝑌</m:t>
                    </m:r>
                  </m:oMath>
                </a14:m>
                <a:r>
                  <a:rPr lang="en-US" sz="2400" dirty="0" smtClean="0"/>
                  <a:t> </a:t>
                </a:r>
                <a:r>
                  <a:rPr lang="en-US" sz="2400" b="1" dirty="0" err="1" smtClean="0"/>
                  <a:t>terurut</a:t>
                </a:r>
                <a:r>
                  <a:rPr lang="en-US" sz="2400" dirty="0" smtClean="0"/>
                  <a:t>.</a:t>
                </a:r>
              </a:p>
              <a:p>
                <a:pPr marL="457200" lvl="0" indent="-457200">
                  <a:buFont typeface="+mj-lt"/>
                  <a:buAutoNum type="arabicPeriod"/>
                </a:pPr>
                <a:endParaRPr lang="en-US" sz="24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143000"/>
                <a:ext cx="8839200" cy="5562600"/>
              </a:xfrm>
              <a:blipFill rotWithShape="0">
                <a:blip r:embed="rId2"/>
                <a:stretch>
                  <a:fillRect l="-690" t="-16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479957"/>
              </p:ext>
            </p:extLst>
          </p:nvPr>
        </p:nvGraphicFramePr>
        <p:xfrm>
          <a:off x="304800" y="2057400"/>
          <a:ext cx="8382000" cy="449579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08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2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1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94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879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3227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6243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24126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1157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1322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0084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820401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KUIS </a:t>
                      </a:r>
                      <a:r>
                        <a:rPr lang="en-GB" sz="1600" b="1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600" b="1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16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)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UTS</a:t>
                      </a:r>
                    </a:p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600" b="1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16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)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KUIS </a:t>
                      </a:r>
                      <a:r>
                        <a:rPr lang="en-GB" sz="1600" b="1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600" b="1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16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)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UAS</a:t>
                      </a:r>
                    </a:p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600" b="1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16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)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 err="1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Praktikum</a:t>
                      </a:r>
                      <a:endParaRPr lang="en-GB" sz="1600" b="1" u="none" strike="noStrike" dirty="0" smtClean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600" b="1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16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)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u="none" strike="noStrike" dirty="0" err="1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Presensi</a:t>
                      </a:r>
                      <a:endParaRPr lang="en-GB" sz="1600" b="1" u="none" strike="noStrike" dirty="0" smtClean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600" b="1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16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6</a:t>
                      </a:r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)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Indeks</a:t>
                      </a:r>
                      <a:endParaRPr lang="en-US" sz="1600" b="1" i="0" u="none" strike="noStrike" dirty="0" smtClean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600" b="1" i="1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Y</a:t>
                      </a:r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)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52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96.7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87.5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84.6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52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74.5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100.0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76.5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87.8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100.0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52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85.0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72.5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93.9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100.0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52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81.7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73.5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86.9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96.2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52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86.7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72.5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89.9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92.3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52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91.7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92.9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96.2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52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60.0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91.3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84.6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252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85.0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88.3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92.3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252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68.3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75.5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84.4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96.2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</a:t>
                      </a: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252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252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58.3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90.6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65.4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252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58.3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49.5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80.1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69.2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BC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252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Arial" panose="020B0604020202020204" pitchFamily="34" charset="0"/>
                        </a:rPr>
                        <a:t>…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252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74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33.3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52.5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93.9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80.8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228600" y="152400"/>
                <a:ext cx="8763000" cy="1143000"/>
              </a:xfrm>
            </p:spPr>
            <p:txBody>
              <a:bodyPr>
                <a:noAutofit/>
              </a:bodyPr>
              <a:lstStyle/>
              <a:p>
                <a:r>
                  <a:rPr lang="en-US" sz="3200" b="1" dirty="0"/>
                  <a:t>ANALISIS DISKRIMINAN </a:t>
                </a:r>
                <a:r>
                  <a:rPr lang="en-US" sz="3200" b="1" dirty="0" err="1"/>
                  <a:t>Variabel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respon</a:t>
                </a:r>
                <a:r>
                  <a:rPr lang="en-US" sz="3200" b="1" dirty="0"/>
                  <a:t> 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/>
                      </a:rPr>
                      <m:t>𝐾</m:t>
                    </m:r>
                  </m:oMath>
                </a14:m>
                <a:r>
                  <a:rPr lang="en-US" sz="3200" b="1" dirty="0"/>
                  <a:t> kategori </a:t>
                </a:r>
                <a:r>
                  <a:rPr lang="en-US" sz="1800" b="1" dirty="0"/>
                  <a:t>(</a:t>
                </a:r>
                <a:r>
                  <a:rPr lang="en-US" sz="1800" b="1" dirty="0" err="1" smtClean="0"/>
                  <a:t>Contoh</a:t>
                </a:r>
                <a:r>
                  <a:rPr lang="en-US" sz="1800" b="1" dirty="0" smtClean="0"/>
                  <a:t>)</a:t>
                </a:r>
                <a:endParaRPr lang="en-US" sz="3200" dirty="0"/>
              </a:p>
            </p:txBody>
          </p:sp>
        </mc:Choice>
        <mc:Fallback xmlns="">
          <p:sp>
            <p:nvSpPr>
              <p:cNvPr id="6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28600" y="152400"/>
                <a:ext cx="8763000" cy="1143000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7352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85800" y="4800600"/>
            <a:ext cx="7696200" cy="1905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685800" y="1752600"/>
            <a:ext cx="7086600" cy="2133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228600" y="274638"/>
                <a:ext cx="8610600" cy="792162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sz="3200" b="1" dirty="0"/>
                  <a:t>ANALISIS DISKRIMINAN </a:t>
                </a:r>
                <a:r>
                  <a:rPr lang="en-US" sz="3200" b="1" dirty="0" err="1"/>
                  <a:t>Variabel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respon</a:t>
                </a:r>
                <a:r>
                  <a:rPr lang="en-US" sz="3200" b="1" dirty="0"/>
                  <a:t> 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/>
                      </a:rPr>
                      <m:t>𝐾</m:t>
                    </m:r>
                  </m:oMath>
                </a14:m>
                <a:r>
                  <a:rPr lang="en-US" sz="3200" b="1" dirty="0"/>
                  <a:t> kategori </a:t>
                </a:r>
                <a:r>
                  <a:rPr lang="en-US" sz="1800" b="1" dirty="0"/>
                  <a:t>(</a:t>
                </a:r>
                <a:r>
                  <a:rPr lang="en-US" sz="1800" b="1" dirty="0" err="1"/>
                  <a:t>Contoh</a:t>
                </a:r>
                <a:r>
                  <a:rPr lang="en-US" sz="1800" b="1" dirty="0"/>
                  <a:t>)</a:t>
                </a:r>
                <a:endParaRPr lang="en-US" sz="32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28600" y="274638"/>
                <a:ext cx="8610600" cy="792162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143000"/>
                <a:ext cx="8839200" cy="5562600"/>
              </a:xfrm>
            </p:spPr>
            <p:txBody>
              <a:bodyPr>
                <a:normAutofit fontScale="92500"/>
              </a:bodyPr>
              <a:lstStyle/>
              <a:p>
                <a:pPr marL="0" lvl="0" indent="0">
                  <a:lnSpc>
                    <a:spcPct val="100000"/>
                  </a:lnSpc>
                  <a:buNone/>
                </a:pPr>
                <a:r>
                  <a:rPr lang="en-US" sz="2400" dirty="0" smtClean="0"/>
                  <a:t>2. </a:t>
                </a:r>
                <a:r>
                  <a:rPr lang="en-US" sz="2400" dirty="0" err="1" smtClean="0"/>
                  <a:t>Hitung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mariks</a:t>
                </a:r>
                <a:r>
                  <a:rPr lang="en-US" sz="2400" dirty="0" smtClean="0"/>
                  <a:t> </a:t>
                </a:r>
                <a:r>
                  <a:rPr lang="en-GB" sz="2400" i="1" dirty="0"/>
                  <a:t>between</a:t>
                </a:r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1">
                        <a:latin typeface="Cambria Math"/>
                      </a:rPr>
                      <m:t>𝐇</m:t>
                    </m:r>
                  </m:oMath>
                </a14:m>
                <a:r>
                  <a:rPr lang="en-US" sz="2400" dirty="0" smtClean="0"/>
                  <a:t>.</a:t>
                </a:r>
              </a:p>
              <a:p>
                <a:pPr marL="0" lvl="0" indent="0">
                  <a:lnSpc>
                    <a:spcPct val="100000"/>
                  </a:lnSpc>
                  <a:buNone/>
                </a:pPr>
                <a:endParaRPr lang="en-US" sz="2200" dirty="0"/>
              </a:p>
              <a:p>
                <a:pPr marL="512763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>
                          <a:latin typeface="Cambria Math"/>
                        </a:rPr>
                        <m:t>𝐇</m:t>
                      </m:r>
                      <m:r>
                        <a:rPr lang="en-US" sz="20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6584.42 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6113.54 </m:t>
                                </m:r>
                              </m:e>
                              <m:e>
                                <m:r>
                                  <a:rPr lang="id-ID" i="1">
                                    <a:latin typeface="Cambria Math"/>
                                  </a:rPr>
                                  <m:t>8533.07 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5115.17 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1039.62 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2227.28 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6113.54 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7045.65 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9628.45 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5515.73 </m:t>
                                </m:r>
                              </m:e>
                              <m:e>
                                <m:r>
                                  <a:rPr lang="id-ID" i="1">
                                    <a:latin typeface="Cambria Math"/>
                                  </a:rPr>
                                  <m:t>802.11 </m:t>
                                </m:r>
                              </m:e>
                              <m:e>
                                <m:r>
                                  <a:rPr lang="id-ID" i="1">
                                    <a:latin typeface="Cambria Math"/>
                                  </a:rPr>
                                  <m:t>2335.07 </m:t>
                                </m:r>
                              </m:e>
                            </m:mr>
                            <m:mr>
                              <m:e>
                                <m:r>
                                  <a:rPr lang="id-ID" i="1">
                                    <a:latin typeface="Cambria Math"/>
                                  </a:rPr>
                                  <m:t>8533.07 </m:t>
                                </m:r>
                              </m:e>
                              <m:e>
                                <m:r>
                                  <a:rPr lang="id-ID" i="1">
                                    <a:latin typeface="Cambria Math"/>
                                  </a:rPr>
                                  <m:t>9628.45 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13403.09 </m:t>
                                </m:r>
                              </m:e>
                              <m:e>
                                <m:r>
                                  <a:rPr lang="id-ID" i="1">
                                    <a:latin typeface="Cambria Math"/>
                                  </a:rPr>
                                  <m:t>7447.88 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1040.43 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3344.32 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5115.17 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5515.73 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7447.88 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4516.87 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765.78 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1780.88 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1039.62 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802.11 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1040.43 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765.78 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239.18 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271.14 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2227.28 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2335.07 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3344.32 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1780.88 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271.14 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892.12 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,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dirty="0" smtClean="0"/>
              </a:p>
              <a:p>
                <a:pPr marL="512763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endParaRPr lang="en-US" dirty="0" smtClean="0"/>
              </a:p>
              <a:p>
                <a:pPr marL="0" lvl="0" indent="0">
                  <a:lnSpc>
                    <a:spcPct val="100000"/>
                  </a:lnSpc>
                  <a:buNone/>
                </a:pPr>
                <a:r>
                  <a:rPr lang="en-US" sz="2400" dirty="0" smtClean="0"/>
                  <a:t>3. </a:t>
                </a:r>
                <a:r>
                  <a:rPr lang="en-US" sz="2400" dirty="0" err="1" smtClean="0"/>
                  <a:t>Hitung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mariks</a:t>
                </a:r>
                <a:r>
                  <a:rPr lang="en-US" sz="2400" dirty="0" smtClean="0"/>
                  <a:t> </a:t>
                </a:r>
                <a:r>
                  <a:rPr lang="en-GB" sz="2400" i="1" dirty="0" smtClean="0"/>
                  <a:t>within</a:t>
                </a:r>
                <a:r>
                  <a:rPr lang="en-GB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/>
                      </a:rPr>
                      <m:t>𝐄</m:t>
                    </m:r>
                  </m:oMath>
                </a14:m>
                <a:r>
                  <a:rPr lang="en-US" sz="2400" dirty="0" smtClean="0"/>
                  <a:t>.</a:t>
                </a:r>
              </a:p>
              <a:p>
                <a:pPr marL="0" lvl="0" indent="0">
                  <a:lnSpc>
                    <a:spcPct val="100000"/>
                  </a:lnSpc>
                  <a:buNone/>
                </a:pPr>
                <a:endParaRPr lang="en-US" sz="2400" dirty="0"/>
              </a:p>
              <a:p>
                <a:pPr marL="512763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0" smtClean="0">
                          <a:latin typeface="Cambria Math"/>
                        </a:rPr>
                        <m:t>𝐄</m:t>
                      </m:r>
                      <m:r>
                        <a:rPr lang="en-US" sz="20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22651.94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−864.71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1822.02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289.15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−458.42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939.02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−864.71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3765.01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−907.1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−1680.64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−43.92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−1940.27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1822.02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−907.1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16005.76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−1871.38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−1036.26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2729.61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289.15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−1680.64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−1871.38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2883.72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−176.18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−739.93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−458.42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−43.92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−1036.26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−176.18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1337.1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291.08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939.02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−1940.27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2729.61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−739.93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291.08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9492.42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i="1">
                          <a:latin typeface="Cambria Math"/>
                        </a:rPr>
                        <m:t>, </m:t>
                      </m:r>
                    </m:oMath>
                  </m:oMathPara>
                </a14:m>
                <a:endParaRPr lang="en-US" dirty="0"/>
              </a:p>
              <a:p>
                <a:pPr marL="512763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143000"/>
                <a:ext cx="8839200" cy="5562600"/>
              </a:xfrm>
              <a:blipFill rotWithShape="0">
                <a:blip r:embed="rId3"/>
                <a:stretch>
                  <a:fillRect l="-897" t="-7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7930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762000" y="4724400"/>
            <a:ext cx="5715000" cy="198120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62000" y="2133600"/>
            <a:ext cx="7010400" cy="1905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152400" y="533400"/>
                <a:ext cx="8610600" cy="792162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sz="3200" b="1" dirty="0"/>
                  <a:t>ANALISIS DISKRIMINAN </a:t>
                </a:r>
                <a:r>
                  <a:rPr lang="en-US" sz="3200" b="1" dirty="0" err="1"/>
                  <a:t>Variabel</a:t>
                </a:r>
                <a:r>
                  <a:rPr lang="en-US" sz="3200" b="1" dirty="0"/>
                  <a:t> </a:t>
                </a:r>
                <a:r>
                  <a:rPr lang="en-US" sz="3200" b="1" dirty="0" err="1" smtClean="0"/>
                  <a:t>respon</a:t>
                </a:r>
                <a:r>
                  <a:rPr lang="en-US" sz="3200" b="1" dirty="0" smtClean="0"/>
                  <a:t/>
                </a:r>
                <a:br>
                  <a:rPr lang="en-US" sz="3200" b="1" dirty="0" smtClean="0"/>
                </a:br>
                <a14:m>
                  <m:oMath xmlns:m="http://schemas.openxmlformats.org/officeDocument/2006/math">
                    <m:r>
                      <a:rPr lang="en-US" sz="3200" i="1" dirty="0">
                        <a:latin typeface="Cambria Math"/>
                      </a:rPr>
                      <m:t>𝐾</m:t>
                    </m:r>
                  </m:oMath>
                </a14:m>
                <a:r>
                  <a:rPr lang="en-US" sz="3200" b="1" dirty="0"/>
                  <a:t> kategori </a:t>
                </a:r>
                <a:r>
                  <a:rPr lang="en-US" sz="1800" b="1" dirty="0"/>
                  <a:t>(</a:t>
                </a:r>
                <a:r>
                  <a:rPr lang="en-US" sz="1800" b="1" dirty="0" err="1"/>
                  <a:t>Contoh</a:t>
                </a:r>
                <a:r>
                  <a:rPr lang="en-US" sz="1800" b="1" dirty="0"/>
                  <a:t>)</a:t>
                </a:r>
                <a:endParaRPr lang="en-US" sz="32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52400" y="533400"/>
                <a:ext cx="8610600" cy="792162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477962"/>
                <a:ext cx="8839200" cy="5562600"/>
              </a:xfrm>
            </p:spPr>
            <p:txBody>
              <a:bodyPr>
                <a:normAutofit/>
              </a:bodyPr>
              <a:lstStyle/>
              <a:p>
                <a:pPr marL="0" lvl="0" indent="0">
                  <a:lnSpc>
                    <a:spcPct val="100000"/>
                  </a:lnSpc>
                  <a:buNone/>
                </a:pPr>
                <a:r>
                  <a:rPr lang="en-US" sz="2400" dirty="0" smtClean="0"/>
                  <a:t>4.  </a:t>
                </a:r>
                <a:r>
                  <a:rPr lang="en-US" sz="2400" dirty="0" err="1" smtClean="0"/>
                  <a:t>Hitung</a:t>
                </a:r>
                <a:r>
                  <a:rPr lang="en-US" sz="2400" dirty="0" smtClean="0"/>
                  <a:t> invers </a:t>
                </a:r>
                <a:r>
                  <a:rPr lang="en-US" sz="2400" dirty="0" err="1" smtClean="0"/>
                  <a:t>mariks</a:t>
                </a:r>
                <a:r>
                  <a:rPr lang="en-US" sz="2400" dirty="0" smtClean="0"/>
                  <a:t> </a:t>
                </a:r>
                <a:r>
                  <a:rPr lang="en-GB" sz="2400" i="1" dirty="0"/>
                  <a:t>within</a:t>
                </a:r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>
                            <a:latin typeface="Cambria Math"/>
                          </a:rPr>
                          <m:t>𝐄</m:t>
                        </m:r>
                      </m:e>
                      <m:sup>
                        <m:r>
                          <a:rPr lang="en-US" sz="2400" b="0" i="1" smtClean="0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b="0" dirty="0" smtClean="0"/>
              </a:p>
              <a:p>
                <a:pPr marL="0" lvl="0" indent="0">
                  <a:lnSpc>
                    <a:spcPct val="100000"/>
                  </a:lnSpc>
                  <a:buNone/>
                </a:pPr>
                <a:endParaRPr lang="en-US" sz="1400" dirty="0"/>
              </a:p>
              <a:p>
                <a:pPr marL="512763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smtClean="0">
                              <a:latin typeface="Cambria Math"/>
                            </a:rPr>
                            <m:t>𝐄</m:t>
                          </m:r>
                        </m:e>
                        <m:sup>
                          <m:r>
                            <a:rPr lang="en-US" sz="2000" b="0" i="0" smtClean="0">
                              <a:latin typeface="Cambria Math"/>
                            </a:rPr>
                            <m:t>−1</m:t>
                          </m:r>
                        </m:sup>
                      </m:sSup>
                      <m:r>
                        <a:rPr lang="en-US" sz="20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4.51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0.71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−0.38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−0.27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1.30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−0.25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0.71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50.01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5.64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36.10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8.60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11.08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−0.38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5.64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8.29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9.00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7.83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−0.73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−0.27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36.10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9.00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64.90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14.57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9.43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1.30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8.60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7.83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14.57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83.95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−2.06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−0.25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11.08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−0.73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9.43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−2.06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13.83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−5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/>
                        </a:rPr>
                        <m:t>     </m:t>
                      </m:r>
                      <m:r>
                        <a:rPr lang="en-US" i="1">
                          <a:latin typeface="Cambria Math"/>
                        </a:rPr>
                        <m:t>, </m:t>
                      </m:r>
                    </m:oMath>
                  </m:oMathPara>
                </a14:m>
                <a:endParaRPr lang="en-US" dirty="0" smtClean="0"/>
              </a:p>
              <a:p>
                <a:pPr marL="512763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endParaRPr lang="en-US" sz="300" dirty="0" smtClean="0"/>
              </a:p>
              <a:p>
                <a:pPr marL="0" lvl="0" indent="0">
                  <a:lnSpc>
                    <a:spcPct val="100000"/>
                  </a:lnSpc>
                  <a:buNone/>
                </a:pPr>
                <a:r>
                  <a:rPr lang="en-US" sz="2400" dirty="0" smtClean="0"/>
                  <a:t>5. </a:t>
                </a:r>
                <a:r>
                  <a:rPr lang="en-US" sz="2400" dirty="0" err="1" smtClean="0"/>
                  <a:t>Hitung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mariks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>
                            <a:latin typeface="Cambria Math"/>
                          </a:rPr>
                          <m:t>𝐄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sz="2400" b="1" i="0" smtClean="0">
                        <a:latin typeface="Cambria Math"/>
                      </a:rPr>
                      <m:t>𝐇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00" dirty="0" smtClean="0"/>
              </a:p>
              <a:p>
                <a:pPr marL="228600" lvl="0" indent="-228600">
                  <a:lnSpc>
                    <a:spcPct val="100000"/>
                  </a:lnSpc>
                  <a:buAutoNum type="arabicPeriod" startAt="5"/>
                </a:pPr>
                <a:endParaRPr lang="en-US" sz="100" dirty="0"/>
              </a:p>
              <a:p>
                <a:pPr marL="512763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smtClean="0">
                              <a:latin typeface="Cambria Math"/>
                            </a:rPr>
                            <m:t>𝐄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−1</m:t>
                          </m:r>
                        </m:sup>
                      </m:sSup>
                      <m:r>
                        <a:rPr lang="en-US" sz="2000" b="1">
                          <a:latin typeface="Cambria Math"/>
                        </a:rPr>
                        <m:t>𝐇</m:t>
                      </m:r>
                      <m:r>
                        <a:rPr lang="en-US" sz="20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0.3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0.28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0.39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0.24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0.05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0.1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5.77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6.43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8.78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5.11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0.79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2.14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1.55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1.72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2.35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1.36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0.21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0.58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6.64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7.31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9.96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5.86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0.94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2.42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2.85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2.87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3.88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2.39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0.47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0.96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1.37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1.52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2.09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1.2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0.18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0.51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000" i="1">
                          <a:latin typeface="Cambria Math"/>
                        </a:rPr>
                        <m:t>, </m:t>
                      </m:r>
                    </m:oMath>
                  </m:oMathPara>
                </a14:m>
                <a:endParaRPr lang="en-US" dirty="0"/>
              </a:p>
              <a:p>
                <a:pPr marL="457200" lvl="0" indent="-457200">
                  <a:lnSpc>
                    <a:spcPct val="150000"/>
                  </a:lnSpc>
                  <a:buFont typeface="+mj-lt"/>
                  <a:buAutoNum type="arabicPeriod" startAt="3"/>
                </a:pPr>
                <a:endParaRPr lang="en-US" sz="2000" dirty="0">
                  <a:ea typeface="Cambria Math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477962"/>
                <a:ext cx="8839200" cy="5562600"/>
              </a:xfrm>
              <a:blipFill rotWithShape="0">
                <a:blip r:embed="rId3"/>
                <a:stretch>
                  <a:fillRect l="-1034" t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6437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228600" y="274638"/>
                <a:ext cx="8610600" cy="792162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sz="3200" b="1" dirty="0"/>
                  <a:t>ANALISIS DISKRIMINAN </a:t>
                </a:r>
                <a:r>
                  <a:rPr lang="en-US" sz="3200" b="1" dirty="0" err="1"/>
                  <a:t>Variabel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respon</a:t>
                </a:r>
                <a:r>
                  <a:rPr lang="en-US" sz="3200" b="1" dirty="0"/>
                  <a:t> 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/>
                      </a:rPr>
                      <m:t>𝐾</m:t>
                    </m:r>
                  </m:oMath>
                </a14:m>
                <a:r>
                  <a:rPr lang="en-US" sz="3200" b="1" dirty="0"/>
                  <a:t> kategori </a:t>
                </a:r>
                <a:r>
                  <a:rPr lang="en-US" sz="1800" b="1" dirty="0"/>
                  <a:t>(</a:t>
                </a:r>
                <a:r>
                  <a:rPr lang="en-US" sz="1800" b="1" dirty="0" err="1"/>
                  <a:t>Contoh</a:t>
                </a:r>
                <a:r>
                  <a:rPr lang="en-US" sz="1800" b="1" dirty="0"/>
                  <a:t>)</a:t>
                </a:r>
                <a:endParaRPr lang="en-US" sz="32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28600" y="274638"/>
                <a:ext cx="8610600" cy="792162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1371600" y="4267200"/>
            <a:ext cx="5181600" cy="2133600"/>
          </a:xfrm>
          <a:prstGeom prst="rect">
            <a:avLst/>
          </a:prstGeom>
          <a:solidFill>
            <a:srgbClr val="CC99FF"/>
          </a:solidFill>
          <a:ln>
            <a:solidFill>
              <a:srgbClr val="CC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143000"/>
                <a:ext cx="8839200" cy="5562600"/>
              </a:xfrm>
            </p:spPr>
            <p:txBody>
              <a:bodyPr>
                <a:normAutofit/>
              </a:bodyPr>
              <a:lstStyle/>
              <a:p>
                <a:pPr marL="0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en-US" sz="2400" dirty="0" smtClean="0"/>
                  <a:t>6.  </a:t>
                </a:r>
                <a:r>
                  <a:rPr lang="en-US" sz="2400" dirty="0" err="1" smtClean="0"/>
                  <a:t>Hitung</a:t>
                </a:r>
                <a:r>
                  <a:rPr lang="en-US" sz="2400" dirty="0" smtClean="0"/>
                  <a:t> </a:t>
                </a:r>
                <a:r>
                  <a:rPr lang="en-US" sz="2400" dirty="0" err="1"/>
                  <a:t>nilai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vektor</a:t>
                </a:r>
                <a:r>
                  <a:rPr lang="en-US" sz="2400" dirty="0"/>
                  <a:t> </a:t>
                </a:r>
                <a:r>
                  <a:rPr lang="en-US" sz="2400" dirty="0" err="1"/>
                  <a:t>eigen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dari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>
                            <a:latin typeface="Cambria Math"/>
                          </a:rPr>
                          <m:t>𝐄</m:t>
                        </m:r>
                      </m:e>
                      <m:sup>
                        <m:r>
                          <a:rPr lang="en-US" sz="2400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sz="2400" b="1">
                        <a:latin typeface="Cambria Math"/>
                      </a:rPr>
                      <m:t>𝐇</m:t>
                    </m:r>
                  </m:oMath>
                </a14:m>
                <a:r>
                  <a:rPr lang="en-US" sz="2400" dirty="0"/>
                  <a:t>, </a:t>
                </a:r>
                <a:endParaRPr lang="en-US" sz="2400" dirty="0" smtClean="0"/>
              </a:p>
              <a:p>
                <a:pPr marL="465138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𝜆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</a:rPr>
                        <m:t>=15.73</m:t>
                      </m:r>
                      <m:r>
                        <a:rPr lang="en-US" sz="2400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𝜆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</a:rPr>
                        <m:t>=0.14</m:t>
                      </m:r>
                      <m:r>
                        <a:rPr lang="en-US" sz="2400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=0.</m:t>
                      </m:r>
                      <m:r>
                        <a:rPr lang="en-US" sz="2400" b="0" i="1" smtClean="0">
                          <a:latin typeface="Cambria Math"/>
                        </a:rPr>
                        <m:t>34</m:t>
                      </m:r>
                      <m:r>
                        <a:rPr lang="en-US" sz="2400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−1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=0.</m:t>
                      </m:r>
                      <m:r>
                        <a:rPr lang="en-US" sz="2400" b="0" i="1" smtClean="0">
                          <a:latin typeface="Cambria Math"/>
                        </a:rPr>
                        <m:t>78</m:t>
                      </m:r>
                      <m:r>
                        <a:rPr lang="en-US" sz="2400" i="1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,</m:t>
                      </m:r>
                    </m:oMath>
                  </m:oMathPara>
                </a14:m>
                <a:endParaRPr lang="en-US" sz="2400" i="1" dirty="0" smtClean="0">
                  <a:latin typeface="Cambria Math"/>
                </a:endParaRPr>
              </a:p>
              <a:p>
                <a:pPr marL="465138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5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=0.</m:t>
                      </m:r>
                      <m:r>
                        <a:rPr lang="en-US" sz="2400" b="0" i="1" smtClean="0">
                          <a:latin typeface="Cambria Math"/>
                        </a:rPr>
                        <m:t>10</m:t>
                      </m:r>
                      <m:r>
                        <a:rPr lang="en-US" sz="2400" i="1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−1</m:t>
                          </m:r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6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=0.</m:t>
                      </m:r>
                      <m:r>
                        <a:rPr lang="en-US" sz="2400" b="0" i="1" smtClean="0">
                          <a:latin typeface="Cambria Math"/>
                        </a:rPr>
                        <m:t>21</m:t>
                      </m:r>
                      <m:r>
                        <a:rPr lang="en-US" sz="2400" i="1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−1</m:t>
                          </m:r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US" sz="2400" dirty="0" smtClean="0"/>
              </a:p>
              <a:p>
                <a:pPr marL="465138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en-US" sz="2400" dirty="0" err="1" smtClean="0"/>
                  <a:t>Didapatkan</a:t>
                </a:r>
                <a:r>
                  <a:rPr lang="en-US" sz="2400" dirty="0" smtClean="0"/>
                  <a:t> </a:t>
                </a:r>
                <a:r>
                  <a:rPr lang="en-US" sz="2400" dirty="0"/>
                  <a:t>vektor </a:t>
                </a:r>
                <a:r>
                  <a:rPr lang="en-US" sz="2400" dirty="0" err="1"/>
                  <a:t>eigen</a:t>
                </a:r>
                <a:r>
                  <a:rPr lang="en-US" sz="2400" dirty="0"/>
                  <a:t> yang </a:t>
                </a:r>
                <a:r>
                  <a:rPr lang="en-US" sz="2400" dirty="0" err="1" smtClean="0"/>
                  <a:t>berasosiasi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,</m:t>
                    </m:r>
                    <m:r>
                      <a:rPr lang="en-US" sz="2400" i="1">
                        <a:latin typeface="Cambria Math"/>
                        <a:ea typeface="Cambria Math"/>
                      </a:rPr>
                      <m:t>⋯,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2400" dirty="0"/>
                  <a:t> yang </a:t>
                </a:r>
                <a:r>
                  <a:rPr lang="en-US" sz="2400" dirty="0" err="1"/>
                  <a:t>masing-masing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berkorespondensi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dengan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nilai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eigen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tidak</a:t>
                </a:r>
                <a:r>
                  <a:rPr lang="en-US" sz="2400" dirty="0"/>
                  <a:t> </a:t>
                </a:r>
                <a:r>
                  <a:rPr lang="en-US" sz="2400" dirty="0" smtClean="0"/>
                  <a:t>nol.</a:t>
                </a:r>
              </a:p>
              <a:p>
                <a:pPr marL="465138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en-US" sz="2400" dirty="0" err="1" smtClean="0"/>
                  <a:t>Misal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/>
                      </a:rPr>
                      <m:t>𝐀</m:t>
                    </m:r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6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/>
                                        </a:rPr>
                                        <m:t>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/>
                                    </a:rPr>
                                    <m:t>6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400" dirty="0" smtClean="0"/>
              </a:p>
              <a:p>
                <a:pPr marL="465138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endParaRPr lang="en-US" sz="2000" dirty="0"/>
              </a:p>
              <a:p>
                <a:pPr marL="1200150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0" smtClean="0">
                          <a:latin typeface="Cambria Math"/>
                        </a:rPr>
                        <m:t>𝐀</m:t>
                      </m:r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b="0" i="1">
                                    <a:latin typeface="Cambria Math"/>
                                  </a:rPr>
                                  <m:t>0.3</m:t>
                                </m:r>
                              </m:e>
                              <m:e>
                                <m:r>
                                  <a:rPr lang="en-US" sz="2000" b="0" i="1">
                                    <a:latin typeface="Cambria Math"/>
                                  </a:rPr>
                                  <m:t>0.28</m:t>
                                </m:r>
                              </m:e>
                              <m:e>
                                <m:r>
                                  <a:rPr lang="en-US" sz="2000" b="0" i="1">
                                    <a:latin typeface="Cambria Math"/>
                                  </a:rPr>
                                  <m:t>0.39</m:t>
                                </m:r>
                              </m:e>
                              <m:e>
                                <m:r>
                                  <a:rPr lang="en-US" sz="2000" b="0" i="1">
                                    <a:latin typeface="Cambria Math"/>
                                  </a:rPr>
                                  <m:t>0.24</m:t>
                                </m:r>
                              </m:e>
                              <m:e>
                                <m:r>
                                  <a:rPr lang="en-US" sz="2000" b="0" i="1">
                                    <a:latin typeface="Cambria Math"/>
                                  </a:rPr>
                                  <m:t>0.05</m:t>
                                </m:r>
                              </m:e>
                              <m:e>
                                <m:r>
                                  <a:rPr lang="en-US" sz="2000" b="0" i="1">
                                    <a:latin typeface="Cambria Math"/>
                                  </a:rPr>
                                  <m:t>0.1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>
                                    <a:latin typeface="Cambria Math"/>
                                  </a:rPr>
                                  <m:t>5.77</m:t>
                                </m:r>
                              </m:e>
                              <m:e>
                                <m:r>
                                  <a:rPr lang="en-US" sz="2000" b="0" i="1">
                                    <a:latin typeface="Cambria Math"/>
                                  </a:rPr>
                                  <m:t>6.43</m:t>
                                </m:r>
                              </m:e>
                              <m:e>
                                <m:r>
                                  <a:rPr lang="en-US" sz="2000" b="0" i="1">
                                    <a:latin typeface="Cambria Math"/>
                                  </a:rPr>
                                  <m:t>8.78</m:t>
                                </m:r>
                              </m:e>
                              <m:e>
                                <m:r>
                                  <a:rPr lang="en-US" sz="2000" b="0" i="1">
                                    <a:latin typeface="Cambria Math"/>
                                  </a:rPr>
                                  <m:t>5.11</m:t>
                                </m:r>
                              </m:e>
                              <m:e>
                                <m:r>
                                  <a:rPr lang="en-US" sz="2000" b="0" i="1">
                                    <a:latin typeface="Cambria Math"/>
                                  </a:rPr>
                                  <m:t>0.79</m:t>
                                </m:r>
                              </m:e>
                              <m:e>
                                <m:r>
                                  <a:rPr lang="en-US" sz="2000" b="0" i="1">
                                    <a:latin typeface="Cambria Math"/>
                                  </a:rPr>
                                  <m:t>2.14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>
                                    <a:latin typeface="Cambria Math"/>
                                  </a:rPr>
                                  <m:t>1.55</m:t>
                                </m:r>
                              </m:e>
                              <m:e>
                                <m:r>
                                  <a:rPr lang="en-US" sz="2000" b="0" i="1">
                                    <a:latin typeface="Cambria Math"/>
                                  </a:rPr>
                                  <m:t>1.72</m:t>
                                </m:r>
                              </m:e>
                              <m:e>
                                <m:r>
                                  <a:rPr lang="en-US" sz="2000" b="0" i="1">
                                    <a:latin typeface="Cambria Math"/>
                                  </a:rPr>
                                  <m:t>2.35</m:t>
                                </m:r>
                              </m:e>
                              <m:e>
                                <m:r>
                                  <a:rPr lang="en-US" sz="2000" b="0" i="1">
                                    <a:latin typeface="Cambria Math"/>
                                  </a:rPr>
                                  <m:t>1.36</m:t>
                                </m:r>
                              </m:e>
                              <m:e>
                                <m:r>
                                  <a:rPr lang="en-US" sz="2000" b="0" i="1">
                                    <a:latin typeface="Cambria Math"/>
                                  </a:rPr>
                                  <m:t>0.21</m:t>
                                </m:r>
                              </m:e>
                              <m:e>
                                <m:r>
                                  <a:rPr lang="en-US" sz="2000" b="0" i="1">
                                    <a:latin typeface="Cambria Math"/>
                                  </a:rPr>
                                  <m:t>0.58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>
                                    <a:latin typeface="Cambria Math"/>
                                  </a:rPr>
                                  <m:t>6.64</m:t>
                                </m:r>
                              </m:e>
                              <m:e>
                                <m:r>
                                  <a:rPr lang="en-US" sz="2000" b="0" i="1">
                                    <a:latin typeface="Cambria Math"/>
                                  </a:rPr>
                                  <m:t>7.31</m:t>
                                </m:r>
                              </m:e>
                              <m:e>
                                <m:r>
                                  <a:rPr lang="en-US" sz="2000" b="0" i="1">
                                    <a:latin typeface="Cambria Math"/>
                                  </a:rPr>
                                  <m:t>9.96</m:t>
                                </m:r>
                              </m:e>
                              <m:e>
                                <m:r>
                                  <a:rPr lang="en-US" sz="2000" b="0" i="1">
                                    <a:latin typeface="Cambria Math"/>
                                  </a:rPr>
                                  <m:t>5.86</m:t>
                                </m:r>
                              </m:e>
                              <m:e>
                                <m:r>
                                  <a:rPr lang="en-US" sz="2000" b="0" i="1">
                                    <a:latin typeface="Cambria Math"/>
                                  </a:rPr>
                                  <m:t>0.94</m:t>
                                </m:r>
                              </m:e>
                              <m:e>
                                <m:r>
                                  <a:rPr lang="en-US" sz="2000" b="0" i="1">
                                    <a:latin typeface="Cambria Math"/>
                                  </a:rPr>
                                  <m:t>2.42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>
                                    <a:latin typeface="Cambria Math"/>
                                  </a:rPr>
                                  <m:t>2.85</m:t>
                                </m:r>
                              </m:e>
                              <m:e>
                                <m:r>
                                  <a:rPr lang="en-US" sz="2000" b="0" i="1">
                                    <a:latin typeface="Cambria Math"/>
                                  </a:rPr>
                                  <m:t>2.87</m:t>
                                </m:r>
                              </m:e>
                              <m:e>
                                <m:r>
                                  <a:rPr lang="en-US" sz="2000" b="0" i="1">
                                    <a:latin typeface="Cambria Math"/>
                                  </a:rPr>
                                  <m:t>3.88</m:t>
                                </m:r>
                              </m:e>
                              <m:e>
                                <m:r>
                                  <a:rPr lang="en-US" sz="2000" b="0" i="1">
                                    <a:latin typeface="Cambria Math"/>
                                  </a:rPr>
                                  <m:t>2.39</m:t>
                                </m:r>
                              </m:e>
                              <m:e>
                                <m:r>
                                  <a:rPr lang="en-US" sz="2000" b="0" i="1">
                                    <a:latin typeface="Cambria Math"/>
                                  </a:rPr>
                                  <m:t>0.47</m:t>
                                </m:r>
                              </m:e>
                              <m:e>
                                <m:r>
                                  <a:rPr lang="en-US" sz="2000" b="0" i="1">
                                    <a:latin typeface="Cambria Math"/>
                                  </a:rPr>
                                  <m:t>0.96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>
                                    <a:latin typeface="Cambria Math"/>
                                  </a:rPr>
                                  <m:t>1.37</m:t>
                                </m:r>
                              </m:e>
                              <m:e>
                                <m:r>
                                  <a:rPr lang="en-US" sz="2000" b="0" i="1">
                                    <a:latin typeface="Cambria Math"/>
                                  </a:rPr>
                                  <m:t>1.52</m:t>
                                </m:r>
                              </m:e>
                              <m:e>
                                <m:r>
                                  <a:rPr lang="en-US" sz="2000" b="0" i="1">
                                    <a:latin typeface="Cambria Math"/>
                                  </a:rPr>
                                  <m:t>2.09</m:t>
                                </m:r>
                              </m:e>
                              <m:e>
                                <m:r>
                                  <a:rPr lang="en-US" sz="2000" b="0" i="1">
                                    <a:latin typeface="Cambria Math"/>
                                  </a:rPr>
                                  <m:t>1.2</m:t>
                                </m:r>
                              </m:e>
                              <m:e>
                                <m:r>
                                  <a:rPr lang="en-US" sz="2000" b="0" i="1">
                                    <a:latin typeface="Cambria Math"/>
                                  </a:rPr>
                                  <m:t>0.18</m:t>
                                </m:r>
                              </m:e>
                              <m:e>
                                <m:r>
                                  <a:rPr lang="en-US" sz="2000" b="0" i="1">
                                    <a:latin typeface="Cambria Math"/>
                                  </a:rPr>
                                  <m:t>0.51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000" i="1">
                          <a:latin typeface="Cambria Math"/>
                        </a:rPr>
                        <m:t>,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143000"/>
                <a:ext cx="8839200" cy="5562600"/>
              </a:xfrm>
              <a:blipFill rotWithShape="0">
                <a:blip r:embed="rId3"/>
                <a:stretch>
                  <a:fillRect l="-1034" t="-9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0505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438400" y="6172200"/>
            <a:ext cx="4572000" cy="5334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685800" y="4876800"/>
            <a:ext cx="7391400" cy="457200"/>
          </a:xfrm>
          <a:prstGeom prst="rect">
            <a:avLst/>
          </a:prstGeom>
          <a:solidFill>
            <a:srgbClr val="CC99FF"/>
          </a:solidFill>
          <a:ln>
            <a:solidFill>
              <a:srgbClr val="CC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0" y="670719"/>
                <a:ext cx="8610600" cy="792162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sz="3200" b="1" dirty="0"/>
                  <a:t>ANALISIS DISKRIMINAN </a:t>
                </a:r>
                <a:r>
                  <a:rPr lang="en-US" sz="3200" b="1" dirty="0" err="1"/>
                  <a:t>Variabel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respon</a:t>
                </a:r>
                <a:r>
                  <a:rPr lang="en-US" sz="3200" b="1" dirty="0"/>
                  <a:t> </a:t>
                </a:r>
                <a:r>
                  <a:rPr lang="en-US" sz="3200" i="1" dirty="0" smtClean="0">
                    <a:latin typeface="Cambria Math"/>
                  </a:rPr>
                  <a:t/>
                </a:r>
                <a:br>
                  <a:rPr lang="en-US" sz="3200" i="1" dirty="0" smtClean="0">
                    <a:latin typeface="Cambria Math"/>
                  </a:rPr>
                </a:br>
                <a14:m>
                  <m:oMath xmlns:m="http://schemas.openxmlformats.org/officeDocument/2006/math">
                    <m:r>
                      <a:rPr lang="en-US" sz="3200" i="1" dirty="0">
                        <a:latin typeface="Cambria Math"/>
                      </a:rPr>
                      <m:t>𝐾</m:t>
                    </m:r>
                  </m:oMath>
                </a14:m>
                <a:r>
                  <a:rPr lang="en-US" sz="3200" b="1" dirty="0"/>
                  <a:t> kategori </a:t>
                </a:r>
                <a:r>
                  <a:rPr lang="en-US" sz="1800" b="1" dirty="0"/>
                  <a:t>(</a:t>
                </a:r>
                <a:r>
                  <a:rPr lang="en-US" sz="1800" b="1" dirty="0" err="1"/>
                  <a:t>Contoh</a:t>
                </a:r>
                <a:r>
                  <a:rPr lang="en-US" sz="1800" b="1" dirty="0"/>
                  <a:t>)</a:t>
                </a:r>
                <a:endParaRPr lang="en-US" sz="32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670719"/>
                <a:ext cx="8610600" cy="792162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49902" y="1462881"/>
                <a:ext cx="8839200" cy="5562600"/>
              </a:xfrm>
            </p:spPr>
            <p:txBody>
              <a:bodyPr>
                <a:normAutofit/>
              </a:bodyPr>
              <a:lstStyle/>
              <a:p>
                <a:pPr marL="0" lvl="0" indent="0">
                  <a:lnSpc>
                    <a:spcPct val="100000"/>
                  </a:lnSpc>
                  <a:buNone/>
                </a:pPr>
                <a:r>
                  <a:rPr lang="en-US" sz="2400" dirty="0" smtClean="0"/>
                  <a:t>7. </a:t>
                </a:r>
                <a:r>
                  <a:rPr lang="en-US" sz="2400" dirty="0" err="1" smtClean="0"/>
                  <a:t>Hitung</a:t>
                </a:r>
                <a:r>
                  <a:rPr lang="en-US" sz="2400" dirty="0" smtClean="0"/>
                  <a:t> </a:t>
                </a:r>
                <a:r>
                  <a:rPr lang="en-US" sz="2400" dirty="0" err="1"/>
                  <a:t>proporsi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nilai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eigen</a:t>
                </a:r>
                <a:r>
                  <a:rPr lang="en-US" sz="2400" dirty="0" smtClean="0"/>
                  <a:t>.</a:t>
                </a:r>
                <a:endParaRPr lang="en-US" sz="2400" dirty="0"/>
              </a:p>
              <a:p>
                <a:pPr marL="512763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ℓ=1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/>
                                </a:rPr>
                                <m:t>6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ℓ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</a:rPr>
                            <m:t>15.73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/>
                            </a:rPr>
                            <m:t>15,91</m:t>
                          </m:r>
                        </m:den>
                      </m:f>
                      <m:r>
                        <a:rPr lang="en-US" sz="2000" b="0" i="1" smtClean="0">
                          <a:latin typeface="Cambria Math"/>
                        </a:rPr>
                        <m:t>=0.966.</m:t>
                      </m:r>
                      <m:r>
                        <a:rPr lang="en-US" sz="2000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dirty="0" smtClean="0"/>
              </a:p>
              <a:p>
                <a:pPr marL="512763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en-US" sz="2400" dirty="0" smtClean="0"/>
                  <a:t>Model </a:t>
                </a:r>
                <a:r>
                  <a:rPr lang="en-US" sz="2400" dirty="0" err="1" smtClean="0"/>
                  <a:t>diskriminan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pertama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memuat</a:t>
                </a:r>
                <a:r>
                  <a:rPr lang="en-US" sz="2400" dirty="0" smtClean="0"/>
                  <a:t> 96.6% </a:t>
                </a:r>
                <a:r>
                  <a:rPr lang="en-US" sz="2400" dirty="0" err="1" smtClean="0"/>
                  <a:t>informasi</a:t>
                </a:r>
                <a:r>
                  <a:rPr lang="en-US" sz="2400" dirty="0" smtClean="0"/>
                  <a:t>, </a:t>
                </a:r>
                <a:r>
                  <a:rPr lang="en-US" sz="2400" dirty="0" err="1" smtClean="0"/>
                  <a:t>sehingga</a:t>
                </a:r>
                <a:r>
                  <a:rPr lang="en-US" sz="2400" dirty="0" smtClean="0"/>
                  <a:t> model </a:t>
                </a:r>
                <a:r>
                  <a:rPr lang="en-US" sz="2400" dirty="0" err="1" smtClean="0"/>
                  <a:t>diskriminal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pertama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layak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digunakan</a:t>
                </a:r>
                <a:r>
                  <a:rPr lang="en-US" sz="2400" dirty="0" smtClean="0"/>
                  <a:t>.</a:t>
                </a:r>
              </a:p>
              <a:p>
                <a:pPr marL="512763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endParaRPr lang="en-US" sz="500" dirty="0" smtClean="0"/>
              </a:p>
              <a:p>
                <a:pPr marL="0" lvl="0" indent="0">
                  <a:lnSpc>
                    <a:spcPct val="100000"/>
                  </a:lnSpc>
                  <a:buNone/>
                </a:pPr>
                <a:r>
                  <a:rPr lang="en-US" sz="2400" dirty="0" smtClean="0"/>
                  <a:t>8.  </a:t>
                </a:r>
                <a:r>
                  <a:rPr lang="en-US" sz="2400" dirty="0" smtClean="0"/>
                  <a:t>H</a:t>
                </a:r>
                <a:r>
                  <a:rPr lang="id-ID" sz="2400" dirty="0" smtClean="0"/>
                  <a:t>itung </a:t>
                </a:r>
                <a:r>
                  <a:rPr lang="id-ID" sz="2400" dirty="0"/>
                  <a:t>skor diskriminan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400" i="1">
                            <a:latin typeface="Cambria Math"/>
                          </a:rPr>
                          <m:t>𝑍</m:t>
                        </m:r>
                      </m:e>
                    </m:d>
                  </m:oMath>
                </a14:m>
                <a:endParaRPr lang="en-US" sz="2400" dirty="0"/>
              </a:p>
              <a:p>
                <a:pPr marL="400050" lvl="1" indent="0">
                  <a:lnSpc>
                    <a:spcPct val="100000"/>
                  </a:lnSpc>
                  <a:buNone/>
                </a:pPr>
                <a:r>
                  <a:rPr lang="en-US" sz="2000" dirty="0"/>
                  <a:t>S</a:t>
                </a:r>
                <a:r>
                  <a:rPr lang="id-ID" sz="2000" dirty="0"/>
                  <a:t>kor diskriminan untuk setiap </a:t>
                </a:r>
                <a:r>
                  <a:rPr lang="en-US" sz="2000" dirty="0" err="1"/>
                  <a:t>objek</a:t>
                </a:r>
                <a:r>
                  <a:rPr lang="id-ID" sz="2000" dirty="0"/>
                  <a:t> </a:t>
                </a:r>
                <a:r>
                  <a:rPr lang="en-US" sz="2000" dirty="0" err="1"/>
                  <a:t>didapatkan</a:t>
                </a:r>
                <a:r>
                  <a:rPr lang="en-US" sz="2000" dirty="0"/>
                  <a:t> </a:t>
                </a:r>
                <a:r>
                  <a:rPr lang="id-ID" sz="2000" dirty="0"/>
                  <a:t>dengan </a:t>
                </a:r>
                <a:r>
                  <a:rPr lang="en-US" sz="2000" dirty="0" err="1"/>
                  <a:t>cara</a:t>
                </a:r>
                <a:r>
                  <a:rPr lang="en-US" sz="2000" dirty="0"/>
                  <a:t> </a:t>
                </a:r>
                <a:r>
                  <a:rPr lang="id-ID" sz="2000" dirty="0"/>
                  <a:t>memasukkan nilai-nilai variabel bebas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ke</a:t>
                </a:r>
                <a:r>
                  <a:rPr lang="en-US" sz="2000" dirty="0"/>
                  <a:t> model </a:t>
                </a:r>
                <a:r>
                  <a:rPr lang="en-US" sz="2000" dirty="0" err="1"/>
                  <a:t>diskriminan</a:t>
                </a:r>
                <a:r>
                  <a:rPr lang="id-ID" sz="2000" dirty="0" smtClean="0"/>
                  <a:t>.</a:t>
                </a:r>
                <a:r>
                  <a:rPr lang="en-US" sz="2000" dirty="0" smtClean="0"/>
                  <a:t> </a:t>
                </a:r>
                <a:endParaRPr lang="en-US" dirty="0"/>
              </a:p>
              <a:p>
                <a:pPr marL="400050" lvl="1" indent="0">
                  <a:lnSpc>
                    <a:spcPct val="100000"/>
                  </a:lnSpc>
                  <a:buNone/>
                </a:pPr>
                <a:endParaRPr lang="en-US" sz="900" b="1" i="1" dirty="0" smtClean="0">
                  <a:latin typeface="Cambria Math"/>
                </a:endParaRPr>
              </a:p>
              <a:p>
                <a:pPr marL="40005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𝒁</m:t>
                      </m:r>
                      <m:r>
                        <a:rPr lang="en-US" sz="2000" b="1" i="1">
                          <a:latin typeface="Cambria Math"/>
                        </a:rPr>
                        <m:t>=</m:t>
                      </m:r>
                      <m:r>
                        <a:rPr lang="en-US" sz="2000" b="1" i="1">
                          <a:latin typeface="Cambria Math"/>
                        </a:rPr>
                        <m:t>𝟎</m:t>
                      </m:r>
                      <m:r>
                        <a:rPr lang="en-US" sz="2000" b="1" i="1">
                          <a:latin typeface="Cambria Math"/>
                        </a:rPr>
                        <m:t>.</m:t>
                      </m:r>
                      <m:r>
                        <a:rPr lang="en-US" sz="2000" b="1" i="1">
                          <a:latin typeface="Cambria Math"/>
                        </a:rPr>
                        <m:t>𝟑</m:t>
                      </m:r>
                      <m:r>
                        <a:rPr lang="en-US" sz="2000" b="1" i="1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𝑿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𝟏</m:t>
                          </m:r>
                        </m:sub>
                      </m:sSub>
                      <m:r>
                        <a:rPr lang="en-US" sz="2000" b="1" i="1">
                          <a:latin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</a:rPr>
                        <m:t>𝟓</m:t>
                      </m:r>
                      <m:r>
                        <a:rPr lang="en-US" sz="2000" b="1" i="1" smtClean="0">
                          <a:latin typeface="Cambria Math"/>
                        </a:rPr>
                        <m:t>.</m:t>
                      </m:r>
                      <m:r>
                        <a:rPr lang="en-US" sz="2000" b="1" i="1" smtClean="0">
                          <a:latin typeface="Cambria Math"/>
                        </a:rPr>
                        <m:t>𝟕𝟕</m:t>
                      </m:r>
                      <m:r>
                        <a:rPr lang="en-US" sz="2000" b="1" i="1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𝑿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𝟐</m:t>
                          </m:r>
                        </m:sub>
                      </m:sSub>
                      <m:r>
                        <a:rPr lang="en-US" sz="2000" b="1" i="1">
                          <a:latin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</a:rPr>
                        <m:t>𝟏</m:t>
                      </m:r>
                      <m:r>
                        <a:rPr lang="en-US" sz="2000" b="1" i="1" smtClean="0">
                          <a:latin typeface="Cambria Math"/>
                        </a:rPr>
                        <m:t>.</m:t>
                      </m:r>
                      <m:r>
                        <a:rPr lang="en-US" sz="2000" b="1" i="1" smtClean="0">
                          <a:latin typeface="Cambria Math"/>
                        </a:rPr>
                        <m:t>𝟓𝟓</m:t>
                      </m:r>
                      <m:r>
                        <a:rPr lang="en-US" sz="2000" b="1" i="1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𝑿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𝟑</m:t>
                          </m:r>
                        </m:sub>
                      </m:sSub>
                      <m:r>
                        <a:rPr lang="en-US" sz="2000" b="1" i="1">
                          <a:latin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</a:rPr>
                        <m:t>𝟔</m:t>
                      </m:r>
                      <m:r>
                        <a:rPr lang="en-US" sz="2000" b="1" i="1" smtClean="0">
                          <a:latin typeface="Cambria Math"/>
                        </a:rPr>
                        <m:t>.</m:t>
                      </m:r>
                      <m:r>
                        <a:rPr lang="en-US" sz="2000" b="1" i="1" smtClean="0">
                          <a:latin typeface="Cambria Math"/>
                        </a:rPr>
                        <m:t>𝟔𝟒</m:t>
                      </m:r>
                      <m:r>
                        <a:rPr lang="en-US" sz="2000" b="1" i="1" smtClean="0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𝑿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𝟒</m:t>
                          </m:r>
                        </m:sub>
                      </m:sSub>
                      <m:r>
                        <a:rPr lang="en-US" sz="2000" b="1" i="1">
                          <a:latin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</a:rPr>
                        <m:t>𝟐</m:t>
                      </m:r>
                      <m:r>
                        <a:rPr lang="en-US" sz="2000" b="1" i="1" smtClean="0">
                          <a:latin typeface="Cambria Math"/>
                        </a:rPr>
                        <m:t>.</m:t>
                      </m:r>
                      <m:r>
                        <a:rPr lang="en-US" sz="2000" b="1" i="1" smtClean="0">
                          <a:latin typeface="Cambria Math"/>
                        </a:rPr>
                        <m:t>𝟖𝟓</m:t>
                      </m:r>
                      <m:r>
                        <a:rPr lang="en-US" sz="2000" b="1" i="1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𝑿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/>
                            </a:rPr>
                            <m:t>𝟓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</a:rPr>
                        <m:t>𝟏</m:t>
                      </m:r>
                      <m:r>
                        <a:rPr lang="en-US" sz="2000" b="1" i="1" smtClean="0">
                          <a:latin typeface="Cambria Math"/>
                        </a:rPr>
                        <m:t>.</m:t>
                      </m:r>
                      <m:r>
                        <a:rPr lang="en-US" sz="2000" b="1" i="1" smtClean="0">
                          <a:latin typeface="Cambria Math"/>
                        </a:rPr>
                        <m:t>𝟑𝟕</m:t>
                      </m:r>
                      <m:r>
                        <a:rPr lang="en-US" sz="2000" b="1" i="1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/>
                            </a:rPr>
                            <m:t>𝑿</m:t>
                          </m:r>
                        </m:e>
                        <m:sub>
                          <m:r>
                            <a:rPr lang="en-US" sz="2000" b="1" i="1">
                              <a:latin typeface="Cambria Math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lang="en-US" sz="2000" b="1" dirty="0"/>
              </a:p>
              <a:p>
                <a:pPr marL="400050" lvl="1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050" dirty="0" smtClean="0"/>
              </a:p>
              <a:p>
                <a:pPr marL="400050" lvl="1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dirty="0" err="1" smtClean="0"/>
                  <a:t>Maka</a:t>
                </a:r>
                <a:r>
                  <a:rPr lang="en-US" sz="2000" dirty="0" smtClean="0"/>
                  <a:t> </a:t>
                </a:r>
                <a:r>
                  <a:rPr lang="en-US" sz="2000" dirty="0" err="1"/>
                  <a:t>variabel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penilaian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dominan</a:t>
                </a:r>
                <a:r>
                  <a:rPr lang="en-US" sz="2000" dirty="0"/>
                  <a:t>, yang </a:t>
                </a:r>
                <a:r>
                  <a:rPr lang="en-US" sz="2000" dirty="0" err="1"/>
                  <a:t>membedakan</a:t>
                </a:r>
                <a:r>
                  <a:rPr lang="en-US" sz="2000" dirty="0"/>
                  <a:t> </a:t>
                </a:r>
                <a:r>
                  <a:rPr lang="en-US" sz="2000" b="1" dirty="0" err="1"/>
                  <a:t>nilai</a:t>
                </a:r>
                <a:r>
                  <a:rPr lang="en-US" sz="2000" b="1" dirty="0"/>
                  <a:t> </a:t>
                </a:r>
                <a:r>
                  <a:rPr lang="en-US" sz="2000" b="1" dirty="0" smtClean="0"/>
                  <a:t>A</a:t>
                </a:r>
                <a:r>
                  <a:rPr lang="en-US" sz="2000" b="1" dirty="0"/>
                  <a:t>, AB, B, BC, </a:t>
                </a:r>
                <a:r>
                  <a:rPr lang="en-US" sz="2000" dirty="0" err="1"/>
                  <a:t>dan</a:t>
                </a:r>
                <a:r>
                  <a:rPr lang="en-US" sz="2000" dirty="0"/>
                  <a:t> </a:t>
                </a:r>
                <a:r>
                  <a:rPr lang="en-US" sz="2000" b="1" dirty="0"/>
                  <a:t>C </a:t>
                </a:r>
                <a:r>
                  <a:rPr lang="en-US" sz="2000" dirty="0" err="1" smtClean="0"/>
                  <a:t>adalah</a:t>
                </a:r>
                <a:r>
                  <a:rPr lang="en-US" sz="2000" dirty="0"/>
                  <a:t>: </a:t>
                </a:r>
                <a:endParaRPr lang="en-US" sz="2000" dirty="0" smtClean="0"/>
              </a:p>
              <a:p>
                <a:pPr marL="400050" lvl="1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100" dirty="0"/>
              </a:p>
              <a:p>
                <a:pPr marL="400050" lvl="1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000" dirty="0"/>
                  <a:t> (UAS),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(UTS), </a:t>
                </a:r>
                <a:r>
                  <a:rPr lang="en-US" sz="2000" dirty="0" err="1" smtClean="0"/>
                  <a:t>dan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b="0" i="1" dirty="0" smtClean="0">
                            <a:latin typeface="Cambria Math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(</a:t>
                </a:r>
                <a:r>
                  <a:rPr lang="en-US" sz="2000" dirty="0"/>
                  <a:t>Praktikum</a:t>
                </a:r>
                <a:r>
                  <a:rPr lang="en-US" sz="2000" dirty="0" smtClean="0"/>
                  <a:t>)</a:t>
                </a:r>
                <a:endParaRPr lang="en-US" sz="2000" dirty="0"/>
              </a:p>
              <a:p>
                <a:pPr marL="400050" lvl="1" indent="0">
                  <a:lnSpc>
                    <a:spcPct val="100000"/>
                  </a:lnSpc>
                  <a:buNone/>
                </a:pPr>
                <a:endParaRPr lang="en-US" dirty="0"/>
              </a:p>
              <a:p>
                <a:pPr marL="457200" lvl="0" indent="-457200">
                  <a:lnSpc>
                    <a:spcPct val="150000"/>
                  </a:lnSpc>
                  <a:buFont typeface="+mj-lt"/>
                  <a:buAutoNum type="arabicPeriod" startAt="3"/>
                </a:pPr>
                <a:endParaRPr lang="en-US" sz="2000" dirty="0">
                  <a:ea typeface="Cambria Math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9902" y="1462881"/>
                <a:ext cx="8839200" cy="5562600"/>
              </a:xfrm>
              <a:blipFill>
                <a:blip r:embed="rId3"/>
                <a:stretch>
                  <a:fillRect l="-1103" t="-768" r="-1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925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43000" y="3048000"/>
            <a:ext cx="6172200" cy="2971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762" y="731838"/>
                <a:ext cx="8610600" cy="792162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sz="3200" b="1" dirty="0"/>
                  <a:t>ANALISIS DISKRIMINAN </a:t>
                </a:r>
                <a:r>
                  <a:rPr lang="en-US" sz="3200" b="1" dirty="0" err="1"/>
                  <a:t>Variabel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respon</a:t>
                </a:r>
                <a:r>
                  <a:rPr lang="en-US" sz="3200" b="1" dirty="0"/>
                  <a:t> </a:t>
                </a:r>
                <a:r>
                  <a:rPr lang="en-US" sz="3200" i="1" dirty="0" smtClean="0">
                    <a:latin typeface="Cambria Math"/>
                  </a:rPr>
                  <a:t/>
                </a:r>
                <a:br>
                  <a:rPr lang="en-US" sz="3200" i="1" dirty="0" smtClean="0">
                    <a:latin typeface="Cambria Math"/>
                  </a:rPr>
                </a:br>
                <a14:m>
                  <m:oMath xmlns:m="http://schemas.openxmlformats.org/officeDocument/2006/math">
                    <m:r>
                      <a:rPr lang="en-US" sz="3200" i="1" dirty="0">
                        <a:latin typeface="Cambria Math"/>
                      </a:rPr>
                      <m:t>𝐾</m:t>
                    </m:r>
                  </m:oMath>
                </a14:m>
                <a:r>
                  <a:rPr lang="en-US" sz="3200" b="1" dirty="0"/>
                  <a:t> kategori </a:t>
                </a:r>
                <a:r>
                  <a:rPr lang="en-US" sz="2400" b="1" dirty="0"/>
                  <a:t>(</a:t>
                </a:r>
                <a:r>
                  <a:rPr lang="en-US" sz="2400" b="1" dirty="0" err="1"/>
                  <a:t>contoh</a:t>
                </a:r>
                <a:r>
                  <a:rPr lang="en-US" sz="2400" b="1" dirty="0"/>
                  <a:t>)</a:t>
                </a:r>
                <a:endParaRPr lang="en-US" sz="32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762" y="731838"/>
                <a:ext cx="8610600" cy="792162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762" y="1981200"/>
                <a:ext cx="8839200" cy="4495800"/>
              </a:xfrm>
            </p:spPr>
            <p:txBody>
              <a:bodyPr>
                <a:normAutofit/>
              </a:bodyPr>
              <a:lstStyle/>
              <a:p>
                <a:pPr marL="0" lv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2400" dirty="0" smtClean="0"/>
                  <a:t>9.  </a:t>
                </a:r>
                <a:r>
                  <a:rPr lang="en-US" sz="2400" dirty="0" smtClean="0"/>
                  <a:t>H</a:t>
                </a:r>
                <a:r>
                  <a:rPr lang="id-ID" sz="2400" dirty="0" smtClean="0"/>
                  <a:t>itung </a:t>
                </a:r>
                <a:r>
                  <a:rPr lang="id-ID" sz="2400" i="1" dirty="0"/>
                  <a:t>cutting score</a:t>
                </a:r>
                <a:r>
                  <a:rPr lang="en-US" sz="2400" dirty="0" smtClean="0"/>
                  <a:t>.</a:t>
                </a:r>
              </a:p>
              <a:p>
                <a:pPr marL="400050" lvl="1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d-ID" sz="2200" i="1" dirty="0" smtClean="0"/>
                  <a:t>Cutting </a:t>
                </a:r>
                <a:r>
                  <a:rPr lang="id-ID" sz="2200" i="1" dirty="0"/>
                  <a:t>score</a:t>
                </a:r>
                <a:r>
                  <a:rPr lang="id-ID" sz="2200" dirty="0"/>
                  <a:t> (</a:t>
                </a:r>
                <a14:m>
                  <m:oMath xmlns:m="http://schemas.openxmlformats.org/officeDocument/2006/math">
                    <m:r>
                      <a:rPr lang="id-ID" sz="2200" i="1">
                        <a:latin typeface="Cambria Math"/>
                      </a:rPr>
                      <m:t>𝑚</m:t>
                    </m:r>
                  </m:oMath>
                </a14:m>
                <a:r>
                  <a:rPr lang="id-ID" sz="2200" dirty="0"/>
                  <a:t>) dapat dihitung </a:t>
                </a:r>
                <a:r>
                  <a:rPr lang="id-ID" sz="2200" dirty="0" smtClean="0"/>
                  <a:t>sebagai </a:t>
                </a:r>
                <a:r>
                  <a:rPr lang="id-ID" sz="2200" dirty="0"/>
                  <a:t>berikut</a:t>
                </a:r>
                <a:r>
                  <a:rPr lang="id-ID" sz="2200" dirty="0" smtClean="0"/>
                  <a:t>:</a:t>
                </a:r>
                <a:endParaRPr lang="en-US" sz="2200" dirty="0" smtClean="0"/>
              </a:p>
              <a:p>
                <a:pPr marL="400050" lvl="1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000" dirty="0"/>
              </a:p>
              <a:p>
                <a:pPr marL="400050" lvl="1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200" dirty="0"/>
              </a:p>
              <a:p>
                <a:pPr marL="400050" lvl="1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2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/>
                            </a:rPr>
                            <m:t>8</m:t>
                          </m:r>
                          <m:r>
                            <a:rPr lang="en-US" sz="2200" i="1">
                              <a:latin typeface="Cambria Math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/>
                              <a:ea typeface="Cambria Math"/>
                            </a:rPr>
                            <m:t>×(</m:t>
                          </m:r>
                          <m:r>
                            <a:rPr lang="en-US" sz="2200" b="0" i="1" smtClean="0">
                              <a:latin typeface="Cambria Math"/>
                            </a:rPr>
                            <m:t>146.24)</m:t>
                          </m:r>
                          <m:r>
                            <a:rPr lang="en-US" sz="2200" i="1">
                              <a:latin typeface="Cambria Math"/>
                            </a:rPr>
                            <m:t>+</m:t>
                          </m:r>
                          <m:r>
                            <a:rPr lang="en-US" sz="2200" b="0" i="1" smtClean="0">
                              <a:latin typeface="Cambria Math"/>
                            </a:rPr>
                            <m:t>9</m:t>
                          </m:r>
                          <m:r>
                            <a:rPr lang="en-US" sz="2200" b="0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en-US" sz="2200" i="1">
                              <a:latin typeface="Cambria Math"/>
                            </a:rPr>
                            <m:t>(</m:t>
                          </m:r>
                          <m:r>
                            <a:rPr lang="en-US" sz="2200" b="0" i="1" smtClean="0">
                              <a:latin typeface="Cambria Math"/>
                            </a:rPr>
                            <m:t>153.86)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/>
                            </a:rPr>
                            <m:t>8</m:t>
                          </m:r>
                          <m:r>
                            <a:rPr lang="en-US" sz="2200" i="1">
                              <a:latin typeface="Cambria Math"/>
                            </a:rPr>
                            <m:t>+</m:t>
                          </m:r>
                          <m:r>
                            <a:rPr lang="en-US" sz="2200" b="0" i="1" smtClean="0">
                              <a:latin typeface="Cambria Math"/>
                            </a:rPr>
                            <m:t>9</m:t>
                          </m:r>
                        </m:den>
                      </m:f>
                      <m:r>
                        <a:rPr lang="en-US" sz="2200" b="0" i="1" smtClean="0">
                          <a:latin typeface="Cambria Math"/>
                        </a:rPr>
                        <m:t>=150</m:t>
                      </m:r>
                      <m:r>
                        <a:rPr lang="en-US" sz="2200" i="1">
                          <a:latin typeface="Cambria Math"/>
                        </a:rPr>
                        <m:t>.</m:t>
                      </m:r>
                      <m:r>
                        <a:rPr lang="en-US" sz="2200" b="0" i="1" smtClean="0">
                          <a:latin typeface="Cambria Math"/>
                        </a:rPr>
                        <m:t>2</m:t>
                      </m:r>
                      <m:r>
                        <a:rPr lang="en-US" sz="2200" i="1"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US" sz="2200" dirty="0" smtClean="0"/>
              </a:p>
              <a:p>
                <a:pPr marL="400050" lvl="1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2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/>
                            </a:rPr>
                            <m:t>9</m:t>
                          </m:r>
                          <m:r>
                            <a:rPr lang="en-US" sz="2200" i="1">
                              <a:latin typeface="Cambria Math"/>
                            </a:rPr>
                            <m:t> </m:t>
                          </m:r>
                          <m:r>
                            <a:rPr lang="en-US" sz="2200" i="1">
                              <a:latin typeface="Cambria Math"/>
                              <a:ea typeface="Cambria Math"/>
                            </a:rPr>
                            <m:t>×(</m:t>
                          </m:r>
                          <m:r>
                            <a:rPr lang="en-US" sz="2200" i="1" smtClean="0">
                              <a:latin typeface="Cambria Math"/>
                            </a:rPr>
                            <m:t>1</m:t>
                          </m:r>
                          <m:r>
                            <a:rPr lang="en-US" sz="2200" b="0" i="1" smtClean="0">
                              <a:latin typeface="Cambria Math"/>
                            </a:rPr>
                            <m:t>37</m:t>
                          </m:r>
                          <m:r>
                            <a:rPr lang="en-US" sz="2200" i="1">
                              <a:latin typeface="Cambria Math"/>
                            </a:rPr>
                            <m:t>.</m:t>
                          </m:r>
                          <m:r>
                            <a:rPr lang="en-US" sz="2200" b="0" i="1" smtClean="0">
                              <a:latin typeface="Cambria Math"/>
                            </a:rPr>
                            <m:t>31</m:t>
                          </m:r>
                          <m:r>
                            <a:rPr lang="en-US" sz="2200" i="1">
                              <a:latin typeface="Cambria Math"/>
                            </a:rPr>
                            <m:t>)+</m:t>
                          </m:r>
                          <m:r>
                            <a:rPr lang="en-US" sz="2200" b="0" i="1" smtClean="0">
                              <a:latin typeface="Cambria Math"/>
                            </a:rPr>
                            <m:t>1</m:t>
                          </m:r>
                          <m:r>
                            <a:rPr lang="en-US" sz="2200" i="1">
                              <a:latin typeface="Cambria Math"/>
                            </a:rPr>
                            <m:t>9</m:t>
                          </m:r>
                          <m:r>
                            <a:rPr lang="en-US" sz="2200" i="1"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en-US" sz="2200" i="1">
                              <a:latin typeface="Cambria Math"/>
                            </a:rPr>
                            <m:t>(146.24)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/>
                            </a:rPr>
                            <m:t>9</m:t>
                          </m:r>
                          <m:r>
                            <a:rPr lang="en-US" sz="2200" i="1">
                              <a:latin typeface="Cambria Math"/>
                            </a:rPr>
                            <m:t>+</m:t>
                          </m:r>
                          <m:r>
                            <a:rPr lang="en-US" sz="2200" b="0" i="1" smtClean="0">
                              <a:latin typeface="Cambria Math"/>
                            </a:rPr>
                            <m:t>1</m:t>
                          </m:r>
                          <m:r>
                            <a:rPr lang="en-US" sz="2200" i="1">
                              <a:latin typeface="Cambria Math"/>
                            </a:rPr>
                            <m:t>9</m:t>
                          </m:r>
                        </m:den>
                      </m:f>
                      <m:r>
                        <a:rPr lang="en-US" sz="2200" i="1">
                          <a:latin typeface="Cambria Math"/>
                        </a:rPr>
                        <m:t>=</m:t>
                      </m:r>
                      <m:r>
                        <a:rPr lang="en-US" sz="2200" b="0" i="1" smtClean="0">
                          <a:latin typeface="Cambria Math"/>
                        </a:rPr>
                        <m:t>143.37</m:t>
                      </m:r>
                    </m:oMath>
                  </m:oMathPara>
                </a14:m>
                <a:endParaRPr lang="en-US" sz="2200" dirty="0" smtClean="0"/>
              </a:p>
              <a:p>
                <a:pPr marL="400050" lvl="1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2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/>
                            </a:rPr>
                            <m:t>19</m:t>
                          </m:r>
                          <m:r>
                            <a:rPr lang="en-US" sz="2200" i="1">
                              <a:latin typeface="Cambria Math"/>
                            </a:rPr>
                            <m:t> </m:t>
                          </m:r>
                          <m:r>
                            <a:rPr lang="en-US" sz="2200" i="1">
                              <a:latin typeface="Cambria Math"/>
                              <a:ea typeface="Cambria Math"/>
                            </a:rPr>
                            <m:t>×(</m:t>
                          </m:r>
                          <m:r>
                            <a:rPr lang="en-US" sz="2200" i="1">
                              <a:latin typeface="Cambria Math"/>
                            </a:rPr>
                            <m:t>1</m:t>
                          </m:r>
                          <m:r>
                            <a:rPr lang="en-US" sz="2200" b="0" i="1" smtClean="0">
                              <a:latin typeface="Cambria Math"/>
                            </a:rPr>
                            <m:t>19.60</m:t>
                          </m:r>
                          <m:r>
                            <a:rPr lang="en-US" sz="2200" i="1">
                              <a:latin typeface="Cambria Math"/>
                            </a:rPr>
                            <m:t>)+</m:t>
                          </m:r>
                          <m:r>
                            <a:rPr lang="en-US" sz="2200" b="0" i="1" smtClean="0">
                              <a:latin typeface="Cambria Math"/>
                            </a:rPr>
                            <m:t>27</m:t>
                          </m:r>
                          <m:r>
                            <a:rPr lang="en-US" sz="2200" i="1"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en-US" sz="2200" i="1">
                              <a:latin typeface="Cambria Math"/>
                            </a:rPr>
                            <m:t>(137.31)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/>
                            </a:rPr>
                            <m:t>19</m:t>
                          </m:r>
                          <m:r>
                            <a:rPr lang="en-US" sz="2200" i="1">
                              <a:latin typeface="Cambria Math"/>
                            </a:rPr>
                            <m:t>+</m:t>
                          </m:r>
                          <m:r>
                            <a:rPr lang="en-US" sz="2200" b="0" i="1" smtClean="0">
                              <a:latin typeface="Cambria Math"/>
                            </a:rPr>
                            <m:t>27</m:t>
                          </m:r>
                        </m:den>
                      </m:f>
                      <m:r>
                        <a:rPr lang="en-US" sz="2200" i="1">
                          <a:latin typeface="Cambria Math"/>
                        </a:rPr>
                        <m:t>=</m:t>
                      </m:r>
                      <m:r>
                        <a:rPr lang="en-US" sz="2200" b="0" i="1" smtClean="0">
                          <a:latin typeface="Cambria Math"/>
                        </a:rPr>
                        <m:t>130.00</m:t>
                      </m:r>
                    </m:oMath>
                  </m:oMathPara>
                </a14:m>
                <a:endParaRPr lang="en-US" sz="2200" dirty="0" smtClean="0"/>
              </a:p>
              <a:p>
                <a:pPr marL="400050" lvl="1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2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/>
                            </a:rPr>
                            <m:t>27</m:t>
                          </m:r>
                          <m:r>
                            <a:rPr lang="en-US" sz="2200" i="1">
                              <a:latin typeface="Cambria Math"/>
                            </a:rPr>
                            <m:t> </m:t>
                          </m:r>
                          <m:r>
                            <a:rPr lang="en-US" sz="2200" i="1">
                              <a:latin typeface="Cambria Math"/>
                              <a:ea typeface="Cambria Math"/>
                            </a:rPr>
                            <m:t>×(</m:t>
                          </m:r>
                          <m:r>
                            <a:rPr lang="en-US" sz="2200" i="1">
                              <a:latin typeface="Cambria Math"/>
                            </a:rPr>
                            <m:t>1</m:t>
                          </m:r>
                          <m:r>
                            <a:rPr lang="en-US" sz="2200" b="0" i="1" smtClean="0">
                              <a:latin typeface="Cambria Math"/>
                            </a:rPr>
                            <m:t>04</m:t>
                          </m:r>
                          <m:r>
                            <a:rPr lang="en-US" sz="2200" i="1">
                              <a:latin typeface="Cambria Math"/>
                            </a:rPr>
                            <m:t>.</m:t>
                          </m:r>
                          <m:r>
                            <a:rPr lang="en-US" sz="2200" b="0" i="1" smtClean="0">
                              <a:latin typeface="Cambria Math"/>
                            </a:rPr>
                            <m:t>92</m:t>
                          </m:r>
                          <m:r>
                            <a:rPr lang="en-US" sz="2200" i="1">
                              <a:latin typeface="Cambria Math"/>
                            </a:rPr>
                            <m:t>)+</m:t>
                          </m:r>
                          <m:r>
                            <a:rPr lang="en-US" sz="2200" b="0" i="1" smtClean="0">
                              <a:latin typeface="Cambria Math"/>
                            </a:rPr>
                            <m:t>8</m:t>
                          </m:r>
                          <m:r>
                            <a:rPr lang="en-US" sz="2200" i="1"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en-US" sz="2200" i="1">
                              <a:latin typeface="Cambria Math"/>
                            </a:rPr>
                            <m:t>(119.60)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/>
                            </a:rPr>
                            <m:t>27</m:t>
                          </m:r>
                          <m:r>
                            <a:rPr lang="en-US" sz="2200" i="1">
                              <a:latin typeface="Cambria Math"/>
                            </a:rPr>
                            <m:t>+</m:t>
                          </m:r>
                          <m:r>
                            <a:rPr lang="en-US" sz="2200" b="0" i="1" smtClean="0">
                              <a:latin typeface="Cambria Math"/>
                            </a:rPr>
                            <m:t>8</m:t>
                          </m:r>
                        </m:den>
                      </m:f>
                      <m:r>
                        <a:rPr lang="en-US" sz="2200" i="1">
                          <a:latin typeface="Cambria Math"/>
                        </a:rPr>
                        <m:t>=</m:t>
                      </m:r>
                      <m:r>
                        <a:rPr lang="en-US" sz="2200" b="0" i="1" smtClean="0">
                          <a:latin typeface="Cambria Math"/>
                        </a:rPr>
                        <m:t>108</m:t>
                      </m:r>
                      <m:r>
                        <a:rPr lang="en-US" sz="2200" i="1">
                          <a:latin typeface="Cambria Math"/>
                        </a:rPr>
                        <m:t>.27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62" y="1981200"/>
                <a:ext cx="8839200" cy="4495800"/>
              </a:xfrm>
              <a:blipFill>
                <a:blip r:embed="rId3"/>
                <a:stretch>
                  <a:fillRect l="-1103" t="-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7759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0" y="479425"/>
                <a:ext cx="8610600" cy="792162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sz="3200" b="1" dirty="0"/>
                  <a:t>ANALISIS DISKRIMINAN </a:t>
                </a:r>
                <a:r>
                  <a:rPr lang="en-US" sz="3200" b="1" dirty="0" err="1"/>
                  <a:t>Variabel</a:t>
                </a:r>
                <a:r>
                  <a:rPr lang="en-US" sz="3200" b="1" dirty="0"/>
                  <a:t> </a:t>
                </a:r>
                <a:r>
                  <a:rPr lang="en-US" sz="3200" b="1" dirty="0" err="1"/>
                  <a:t>respon</a:t>
                </a:r>
                <a:r>
                  <a:rPr lang="en-US" sz="3200" b="1" dirty="0"/>
                  <a:t> </a:t>
                </a:r>
                <a:r>
                  <a:rPr lang="en-US" sz="3200" i="1" dirty="0" smtClean="0">
                    <a:latin typeface="Cambria Math"/>
                  </a:rPr>
                  <a:t/>
                </a:r>
                <a:br>
                  <a:rPr lang="en-US" sz="3200" i="1" dirty="0" smtClean="0">
                    <a:latin typeface="Cambria Math"/>
                  </a:rPr>
                </a:br>
                <a14:m>
                  <m:oMath xmlns:m="http://schemas.openxmlformats.org/officeDocument/2006/math">
                    <m:r>
                      <a:rPr lang="en-US" sz="3200" i="1" dirty="0">
                        <a:latin typeface="Cambria Math"/>
                      </a:rPr>
                      <m:t>𝐾</m:t>
                    </m:r>
                  </m:oMath>
                </a14:m>
                <a:r>
                  <a:rPr lang="en-US" sz="3200" b="1" dirty="0"/>
                  <a:t> kategori </a:t>
                </a:r>
                <a:r>
                  <a:rPr lang="en-US" sz="1800" b="1" dirty="0"/>
                  <a:t>(</a:t>
                </a:r>
                <a:r>
                  <a:rPr lang="en-US" sz="1800" b="1" dirty="0" err="1"/>
                  <a:t>Contoh</a:t>
                </a:r>
                <a:r>
                  <a:rPr lang="en-US" sz="1800" b="1" dirty="0"/>
                  <a:t>)</a:t>
                </a:r>
                <a:endParaRPr lang="en-US" sz="32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479425"/>
                <a:ext cx="8610600" cy="792162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80987" y="1600200"/>
                <a:ext cx="8839200" cy="5562600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sz="2400" dirty="0" smtClean="0"/>
                  <a:t>10. </a:t>
                </a:r>
                <a:r>
                  <a:rPr lang="id-ID" sz="2400" dirty="0" smtClean="0"/>
                  <a:t>Penghitungan </a:t>
                </a:r>
                <a:r>
                  <a:rPr lang="en-US" sz="2400" i="1" dirty="0"/>
                  <a:t>h</a:t>
                </a:r>
                <a:r>
                  <a:rPr lang="id-ID" sz="2400" i="1" dirty="0"/>
                  <a:t>it </a:t>
                </a:r>
                <a:r>
                  <a:rPr lang="en-US" sz="2400" i="1" dirty="0"/>
                  <a:t>r</a:t>
                </a:r>
                <a:r>
                  <a:rPr lang="id-ID" sz="2400" i="1" dirty="0"/>
                  <a:t>atio</a:t>
                </a:r>
                <a:r>
                  <a:rPr lang="id-ID" sz="2400" dirty="0" smtClean="0"/>
                  <a:t>:</a:t>
                </a:r>
                <a:endParaRPr lang="en-US" sz="2400" dirty="0" smtClean="0"/>
              </a:p>
              <a:p>
                <a:pPr marL="457200" lvl="0" indent="-457200">
                  <a:buFont typeface="+mj-lt"/>
                  <a:buAutoNum type="arabicPeriod" startAt="10"/>
                </a:pPr>
                <a:endParaRPr lang="en-US" sz="2400" dirty="0"/>
              </a:p>
              <a:p>
                <a:pPr marL="457200" lvl="0" indent="-457200">
                  <a:buFont typeface="+mj-lt"/>
                  <a:buAutoNum type="arabicPeriod" startAt="10"/>
                </a:pPr>
                <a:endParaRPr lang="en-US" sz="2400" dirty="0" smtClean="0"/>
              </a:p>
              <a:p>
                <a:pPr marL="457200" lvl="0" indent="-457200">
                  <a:buFont typeface="+mj-lt"/>
                  <a:buAutoNum type="arabicPeriod" startAt="10"/>
                </a:pPr>
                <a:endParaRPr lang="en-US" sz="2400" dirty="0"/>
              </a:p>
              <a:p>
                <a:pPr marL="457200" lvl="0" indent="-457200">
                  <a:buFont typeface="+mj-lt"/>
                  <a:buAutoNum type="arabicPeriod" startAt="10"/>
                </a:pPr>
                <a:endParaRPr lang="en-US" sz="2400" dirty="0" smtClean="0"/>
              </a:p>
              <a:p>
                <a:pPr marL="2795588" lvl="0" indent="0">
                  <a:buNone/>
                </a:pPr>
                <a:endParaRPr lang="en-US" sz="2400" dirty="0" smtClean="0"/>
              </a:p>
              <a:p>
                <a:pPr marL="2795588" lvl="0" indent="0">
                  <a:buNone/>
                </a:pPr>
                <a:endParaRPr lang="en-US" sz="2400" dirty="0"/>
              </a:p>
              <a:p>
                <a:pPr marL="458788" lvl="0" indent="0">
                  <a:buNone/>
                </a:pPr>
                <a:endParaRPr lang="en-US" sz="2400" b="0" i="1" dirty="0" smtClean="0">
                  <a:latin typeface="Cambria Math"/>
                </a:endParaRPr>
              </a:p>
              <a:p>
                <a:pPr marL="458788" lvl="0" indent="0">
                  <a:buNone/>
                </a:pPr>
                <a:endParaRPr lang="en-US" sz="2400" i="1" dirty="0">
                  <a:latin typeface="Cambria Math"/>
                </a:endParaRPr>
              </a:p>
              <a:p>
                <a:pPr marL="458788" lv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/>
                        </a:rPr>
                        <m:t>𝒉𝒊𝒕</m:t>
                      </m:r>
                      <m:r>
                        <a:rPr lang="en-US" sz="2400" b="1" i="1" smtClean="0">
                          <a:latin typeface="Cambria Math"/>
                        </a:rPr>
                        <m:t> </m:t>
                      </m:r>
                      <m:r>
                        <a:rPr lang="en-US" sz="2400" b="1" i="1" smtClean="0">
                          <a:latin typeface="Cambria Math"/>
                        </a:rPr>
                        <m:t>𝒓𝒂𝒕𝒊𝒐</m:t>
                      </m:r>
                      <m:r>
                        <a:rPr lang="en-US" sz="2400" b="1" i="1" smtClean="0">
                          <a:latin typeface="Cambria Math"/>
                        </a:rPr>
                        <m:t>=</m:t>
                      </m:r>
                      <m:r>
                        <a:rPr lang="en-US" sz="2400" b="1" i="1" smtClean="0">
                          <a:latin typeface="Cambria Math"/>
                        </a:rPr>
                        <m:t>𝟔𝟔</m:t>
                      </m:r>
                      <m:r>
                        <a:rPr lang="en-US" sz="2400" b="1" i="1" smtClean="0">
                          <a:latin typeface="Cambria Math"/>
                        </a:rPr>
                        <m:t>:</m:t>
                      </m:r>
                      <m:r>
                        <a:rPr lang="en-US" sz="2400" b="1" i="1" smtClean="0">
                          <a:latin typeface="Cambria Math"/>
                        </a:rPr>
                        <m:t>𝟕𝟏</m:t>
                      </m:r>
                      <m:r>
                        <a:rPr lang="en-US" sz="2400" b="1" i="1" smtClean="0">
                          <a:latin typeface="Cambria Math"/>
                        </a:rPr>
                        <m:t> →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</m:t>
                      </m:r>
                      <m:r>
                        <m:rPr>
                          <m:nor/>
                        </m:rPr>
                        <a:rPr lang="en-US" sz="2400" b="1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2400" b="1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96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sz="2400" b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lvl="0" indent="0">
                  <a:buNone/>
                </a:pPr>
                <a:endParaRPr lang="en-US" sz="24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0987" y="1600200"/>
                <a:ext cx="8839200" cy="5562600"/>
              </a:xfrm>
              <a:blipFill rotWithShape="0">
                <a:blip r:embed="rId3"/>
                <a:stretch>
                  <a:fillRect l="-1034" t="-16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113604"/>
              </p:ext>
            </p:extLst>
          </p:nvPr>
        </p:nvGraphicFramePr>
        <p:xfrm>
          <a:off x="914399" y="2362200"/>
          <a:ext cx="6922966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7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4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4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4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4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2400" dirty="0" err="1" smtClean="0"/>
                        <a:t>Observasi</a:t>
                      </a:r>
                      <a:endParaRPr lang="en-GB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 smtClean="0"/>
                        <a:t>A</a:t>
                      </a:r>
                      <a:endParaRPr lang="en-GB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 smtClean="0"/>
                        <a:t>AB</a:t>
                      </a:r>
                      <a:endParaRPr lang="en-GB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B</a:t>
                      </a:r>
                      <a:endParaRPr lang="en-GB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BC</a:t>
                      </a:r>
                      <a:endParaRPr lang="en-GB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C</a:t>
                      </a:r>
                      <a:endParaRPr lang="en-GB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 rowSpan="5">
                  <a:txBody>
                    <a:bodyPr/>
                    <a:lstStyle/>
                    <a:p>
                      <a:pPr algn="ctr"/>
                      <a:r>
                        <a:rPr lang="en-US" sz="2400" dirty="0" err="1" smtClean="0"/>
                        <a:t>Estimasi</a:t>
                      </a:r>
                      <a:endParaRPr lang="en-GB" sz="2400" dirty="0"/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 smtClean="0"/>
                        <a:t>A</a:t>
                      </a:r>
                      <a:endParaRPr lang="en-GB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 smtClean="0"/>
                        <a:t>AB</a:t>
                      </a:r>
                      <a:endParaRPr lang="en-GB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B</a:t>
                      </a:r>
                      <a:endParaRPr lang="en-GB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BC</a:t>
                      </a:r>
                      <a:endParaRPr lang="en-GB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C</a:t>
                      </a:r>
                      <a:endParaRPr lang="en-GB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5330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Wood Type">
      <a:majorFont>
        <a:latin typeface="Rockwell Condensed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6235</TotalTime>
  <Words>1578</Words>
  <Application>Microsoft Office PowerPoint</Application>
  <PresentationFormat>On-screen Show (4:3)</PresentationFormat>
  <Paragraphs>884</Paragraphs>
  <Slides>37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Arial</vt:lpstr>
      <vt:lpstr>Calibri</vt:lpstr>
      <vt:lpstr>Cambria Math</vt:lpstr>
      <vt:lpstr>Rockwell</vt:lpstr>
      <vt:lpstr>Rockwell Condensed</vt:lpstr>
      <vt:lpstr>Times New Roman</vt:lpstr>
      <vt:lpstr>Verdana</vt:lpstr>
      <vt:lpstr>Wingdings</vt:lpstr>
      <vt:lpstr>Wood Type</vt:lpstr>
      <vt:lpstr>ANALISIS DISKRIMINAN</vt:lpstr>
      <vt:lpstr>ANALISIS DISKRIMINAN</vt:lpstr>
      <vt:lpstr>ANALISIS DISKRIMINAN</vt:lpstr>
      <vt:lpstr>koefisien model diskriminan</vt:lpstr>
      <vt:lpstr>ANALISIS DISKRIMINAN (Pengujian Asumsi)</vt:lpstr>
      <vt:lpstr>ANALISIS DISKRIMINAN (ALUR KERJA)</vt:lpstr>
      <vt:lpstr>ANALISIS DISKRIMINAN (ALUR KERJA)</vt:lpstr>
      <vt:lpstr>ANALISIS DISKRIMINAN (ALUR KERJA)</vt:lpstr>
      <vt:lpstr>ANALISIS DISKRIMINAN (ALUR KERJA)</vt:lpstr>
      <vt:lpstr>ANALISIS DISKRIMINAN (ALUR KERJA)</vt:lpstr>
      <vt:lpstr>ANALISIS DISKRIMINAN (ALUR KERJA)</vt:lpstr>
      <vt:lpstr>ANALISIS DISKRIMINAN (Contoh)</vt:lpstr>
      <vt:lpstr>ANALISIS DISKRIMINAN (contoh)</vt:lpstr>
      <vt:lpstr>ANALISIS DISKRIMINAN (contoh)</vt:lpstr>
      <vt:lpstr>ANALISIS DISKRIMINAN (contoh)</vt:lpstr>
      <vt:lpstr>ANALISIS DISKRIMINAN (contoh)</vt:lpstr>
      <vt:lpstr>ANALISIS DISKRIMINAN (contoh)</vt:lpstr>
      <vt:lpstr>ANALISIS DISKRIMINAN (contoh)</vt:lpstr>
      <vt:lpstr>ANALISIS DISKRIMINAN (contoh)</vt:lpstr>
      <vt:lpstr>ANALISIS DISKRIMINAN (contoh)</vt:lpstr>
      <vt:lpstr>koefisien model diskriminan</vt:lpstr>
      <vt:lpstr>ANALISIS DISKRIMINAN Variabel respon  K kategori (ALUR KERJA)</vt:lpstr>
      <vt:lpstr>ANALISIS DISKRIMINAN Variabel respon  K kategori (ALUR KERJA)</vt:lpstr>
      <vt:lpstr>ANALISIS DISKRIMINAN Variabel respon K kategori (ALUR KERJA)</vt:lpstr>
      <vt:lpstr>ANALISIS DISKRIMINAN Variabel respon   kategori (ALUR KERJA)</vt:lpstr>
      <vt:lpstr>ANALISIS DISKRIMINAN Variabel respon K kategori (ALUR KERJA)</vt:lpstr>
      <vt:lpstr>ANALISIS DISKRIMINAN Variabel respon K kategori (ALUR KERJA)</vt:lpstr>
      <vt:lpstr>ANALISIS DISKRIMINAN Variabel respon K kategori (ALUR KERJA)</vt:lpstr>
      <vt:lpstr>ANALISIS DISKRIMINAN Variabel respon  K kategori (ALUR KERJA)</vt:lpstr>
      <vt:lpstr>ANALISIS DISKRIMINAN Variabel respon K kategori (Contoh)</vt:lpstr>
      <vt:lpstr>ANALISIS DISKRIMINAN Variabel respon K kategori (Contoh)</vt:lpstr>
      <vt:lpstr>ANALISIS DISKRIMINAN Variabel respon K kategori (Contoh)</vt:lpstr>
      <vt:lpstr>ANALISIS DISKRIMINAN Variabel respon K kategori (Contoh)</vt:lpstr>
      <vt:lpstr>ANALISIS DISKRIMINAN Variabel respon K kategori (Contoh)</vt:lpstr>
      <vt:lpstr>ANALISIS DISKRIMINAN Variabel respon  K kategori (Contoh)</vt:lpstr>
      <vt:lpstr>ANALISIS DISKRIMINAN Variabel respon  K kategori (contoh)</vt:lpstr>
      <vt:lpstr>ANALISIS DISKRIMINAN Variabel respon  K kategori (Contoh)</vt:lpstr>
    </vt:vector>
  </TitlesOfParts>
  <Company>taman kenari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Pengantar Analisis Peubah Ganda</dc:title>
  <dc:creator>irfan</dc:creator>
  <cp:lastModifiedBy>Vikry A.R.</cp:lastModifiedBy>
  <cp:revision>233</cp:revision>
  <dcterms:created xsi:type="dcterms:W3CDTF">2003-06-24T07:02:00Z</dcterms:created>
  <dcterms:modified xsi:type="dcterms:W3CDTF">2020-10-25T14:58:58Z</dcterms:modified>
</cp:coreProperties>
</file>